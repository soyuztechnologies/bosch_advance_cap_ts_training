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6" r:id="rId2"/>
    <p:sldId id="4122" r:id="rId3"/>
    <p:sldId id="277" r:id="rId4"/>
    <p:sldId id="4759" r:id="rId5"/>
    <p:sldId id="4788" r:id="rId6"/>
    <p:sldId id="4789" r:id="rId7"/>
    <p:sldId id="4762" r:id="rId8"/>
    <p:sldId id="4771" r:id="rId9"/>
    <p:sldId id="4785" r:id="rId10"/>
    <p:sldId id="4795" r:id="rId11"/>
    <p:sldId id="4796" r:id="rId12"/>
    <p:sldId id="4797" r:id="rId13"/>
    <p:sldId id="282" r:id="rId14"/>
    <p:sldId id="280" r:id="rId15"/>
    <p:sldId id="4711" r:id="rId16"/>
    <p:sldId id="4786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5250" autoAdjust="0"/>
  </p:normalViewPr>
  <p:slideViewPr>
    <p:cSldViewPr>
      <p:cViewPr varScale="1">
        <p:scale>
          <a:sx n="104" d="100"/>
          <a:sy n="104" d="100"/>
        </p:scale>
        <p:origin x="100" y="9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%20srv.zi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tester.htt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CatalogService.js" TargetMode="External"/><Relationship Id="rId2" Type="http://schemas.openxmlformats.org/officeDocument/2006/relationships/hyperlink" Target="https://github.com/soyuztechnologies/SAP_BTP_Training_CLD200/blob/master/Day%203/02srv/CatalogService.cd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hyperlink" Target="http://www.dribbble.com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tiff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7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142084" y="1196752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142084" y="2952474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142084" y="470819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3806770" y="1449765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CDS Views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3806770" y="3205484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Create First Service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3806770" y="4961207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Create &amp;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Test OData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Service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7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on: Service creation</a:t>
            </a:r>
            <a:endParaRPr lang="en-US" dirty="0"/>
          </a:p>
        </p:txBody>
      </p:sp>
      <p:pic>
        <p:nvPicPr>
          <p:cNvPr id="2050" name="Picture 2" descr="Page 12 | Clean Input Images - Free Download on Freepik">
            <a:extLst>
              <a:ext uri="{FF2B5EF4-FFF2-40B4-BE49-F238E27FC236}">
                <a16:creationId xmlns:a16="http://schemas.microsoft.com/office/drawing/2014/main" id="{BAA36297-F35D-C0B5-2012-493056F98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140" y="2996952"/>
            <a:ext cx="3374505" cy="337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5E34EB-DCB8-C785-1853-C655B5BF6A95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</a:t>
            </a:r>
          </a:p>
          <a:p>
            <a:r>
              <a:rPr lang="en-US" dirty="0">
                <a:solidFill>
                  <a:schemeClr val="bg1"/>
                </a:solidFill>
                <a:hlinkClick r:id="rId3"/>
              </a:rPr>
              <a:t>https://github.com/soyuztechnologies/SAP_BTP_Training_CLD200/blob/master/Day%203/02%20srv.zip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8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1937-8B4B-AB16-1953-F007EE5E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Services in BAS</a:t>
            </a:r>
          </a:p>
        </p:txBody>
      </p:sp>
      <p:pic>
        <p:nvPicPr>
          <p:cNvPr id="1026" name="Picture 2" descr="Web APIs, Web Services, &amp; Microservices: Basics &amp; Differences">
            <a:extLst>
              <a:ext uri="{FF2B5EF4-FFF2-40B4-BE49-F238E27FC236}">
                <a16:creationId xmlns:a16="http://schemas.microsoft.com/office/drawing/2014/main" id="{5863E59F-FEA2-F1F7-81D5-92DF06FB8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80" y="1124744"/>
            <a:ext cx="7929352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FAC21C-5D87-BA73-AE11-24E807D9A8A3}"/>
              </a:ext>
            </a:extLst>
          </p:cNvPr>
          <p:cNvSpPr/>
          <p:nvPr/>
        </p:nvSpPr>
        <p:spPr>
          <a:xfrm>
            <a:off x="4726260" y="4066961"/>
            <a:ext cx="6984776" cy="2284035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3"/>
              </a:rPr>
              <a:t>https://github.com/soyuztechnologies/SAP_BTP_Training_CLD200/blob/master/Day%203/02srv/tester.http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7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Actions and Functions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 addition to common CRUD operations, you can declare domain-specific custom operations as shown below. These custom operations always need custom implementations in corresponding events handlers.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vs Functions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differentiation between Actions and Functions stems from the OData specifications and in essence is as follows: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are meant for operations, which add or modify data in the server; they are called through POST request with the arguments passed in application/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json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bodies.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Functions are meant for operations, which only retrieve data from the server; they are called through GET requests with the arguments passed in the URL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FAD8FD-47CF-2DDD-59E9-DBEA7E6B66F9}"/>
              </a:ext>
            </a:extLst>
          </p:cNvPr>
          <p:cNvSpPr/>
          <p:nvPr/>
        </p:nvSpPr>
        <p:spPr>
          <a:xfrm>
            <a:off x="189882" y="3717032"/>
            <a:ext cx="11449272" cy="220191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https://github.com/soyuztechnologies/SAP_BTP_Training_CLD200/blob/master/Day%203/02srv/CatalogService.cds</a:t>
            </a:r>
            <a:endParaRPr lang="en-US" dirty="0"/>
          </a:p>
          <a:p>
            <a:r>
              <a:rPr lang="en-US" dirty="0">
                <a:hlinkClick r:id="rId3"/>
              </a:rPr>
              <a:t>https://github.com/soyuztechnologies/SAP_BTP_Training_CLD200/blob/master/Day%203/02srv/CatalogService.js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7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Generic Handlers in CAP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CAPM framework generates most of the code to perform CURDQ operations on the entity. It does not know what validations to perform on our business data. As a developer, when we want to attach a pre-check (validations) / post-check (post processing code) on an entity operation, we can use generic handlers. All these operations are performed SYNCHRONOUSLY.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At times we want to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Take full control of our implementation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add some validation before data is inserted or updated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want to change data before insert/update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Read some extra information while GET calls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12BE5B-3322-EB8C-DFE3-7568C3DFF16E}"/>
              </a:ext>
            </a:extLst>
          </p:cNvPr>
          <p:cNvSpPr/>
          <p:nvPr/>
        </p:nvSpPr>
        <p:spPr>
          <a:xfrm>
            <a:off x="1665562" y="3292283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Fiori app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6EE0801-93EB-545C-C6BF-22763A32108C}"/>
              </a:ext>
            </a:extLst>
          </p:cNvPr>
          <p:cNvSpPr/>
          <p:nvPr/>
        </p:nvSpPr>
        <p:spPr>
          <a:xfrm>
            <a:off x="405780" y="3309096"/>
            <a:ext cx="504056" cy="508672"/>
          </a:xfrm>
          <a:prstGeom prst="smileyFace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3B96A-4E1B-C4CC-1CF3-269AE3DC476D}"/>
              </a:ext>
            </a:extLst>
          </p:cNvPr>
          <p:cNvSpPr/>
          <p:nvPr/>
        </p:nvSpPr>
        <p:spPr>
          <a:xfrm>
            <a:off x="4401866" y="3283905"/>
            <a:ext cx="1800193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odata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561E-7E9D-7263-1210-A86934C26C57}"/>
              </a:ext>
            </a:extLst>
          </p:cNvPr>
          <p:cNvSpPr/>
          <p:nvPr/>
        </p:nvSpPr>
        <p:spPr>
          <a:xfrm>
            <a:off x="6850139" y="3286813"/>
            <a:ext cx="1408830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290B8-8898-2E2F-FAE0-A22D3E6CA178}"/>
              </a:ext>
            </a:extLst>
          </p:cNvPr>
          <p:cNvSpPr/>
          <p:nvPr/>
        </p:nvSpPr>
        <p:spPr>
          <a:xfrm>
            <a:off x="10454386" y="3283905"/>
            <a:ext cx="1408829" cy="5086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C18D0-EA63-2E20-013F-C56242C58FCC}"/>
              </a:ext>
            </a:extLst>
          </p:cNvPr>
          <p:cNvSpPr/>
          <p:nvPr/>
        </p:nvSpPr>
        <p:spPr>
          <a:xfrm>
            <a:off x="8597834" y="3283905"/>
            <a:ext cx="1492659" cy="508672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Generic handlers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0C1784-99C1-7686-5D31-5F923A0052E7}"/>
              </a:ext>
            </a:extLst>
          </p:cNvPr>
          <p:cNvCxnSpPr>
            <a:stCxn id="4" idx="2"/>
          </p:cNvCxnSpPr>
          <p:nvPr/>
        </p:nvCxnSpPr>
        <p:spPr>
          <a:xfrm>
            <a:off x="2565659" y="3800955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76315A-A8F2-2641-4ECF-7E7D4E4293B5}"/>
              </a:ext>
            </a:extLst>
          </p:cNvPr>
          <p:cNvCxnSpPr/>
          <p:nvPr/>
        </p:nvCxnSpPr>
        <p:spPr>
          <a:xfrm>
            <a:off x="5276552" y="3809547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235C3E-7DED-6F98-B296-639F08ACA2F1}"/>
              </a:ext>
            </a:extLst>
          </p:cNvPr>
          <p:cNvCxnSpPr/>
          <p:nvPr/>
        </p:nvCxnSpPr>
        <p:spPr>
          <a:xfrm>
            <a:off x="7554554" y="3821451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02E8EC-0880-8771-6B1B-56CFACF26AD3}"/>
              </a:ext>
            </a:extLst>
          </p:cNvPr>
          <p:cNvCxnSpPr/>
          <p:nvPr/>
        </p:nvCxnSpPr>
        <p:spPr>
          <a:xfrm>
            <a:off x="9361026" y="3776774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4A22EB-9410-4FEC-E66B-1246C954DBD8}"/>
              </a:ext>
            </a:extLst>
          </p:cNvPr>
          <p:cNvCxnSpPr/>
          <p:nvPr/>
        </p:nvCxnSpPr>
        <p:spPr>
          <a:xfrm>
            <a:off x="11204084" y="3748672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2D5CB7-7599-096A-E3BB-0A43D5841299}"/>
              </a:ext>
            </a:extLst>
          </p:cNvPr>
          <p:cNvCxnSpPr/>
          <p:nvPr/>
        </p:nvCxnSpPr>
        <p:spPr>
          <a:xfrm>
            <a:off x="657808" y="3783829"/>
            <a:ext cx="25410" cy="2892586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80AC8B-C0E5-FEB4-3A4D-B6CCFF743934}"/>
              </a:ext>
            </a:extLst>
          </p:cNvPr>
          <p:cNvCxnSpPr/>
          <p:nvPr/>
        </p:nvCxnSpPr>
        <p:spPr>
          <a:xfrm>
            <a:off x="657808" y="4221088"/>
            <a:ext cx="19078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B03AC-DED9-ECCD-C70D-35A5CCF6A638}"/>
              </a:ext>
            </a:extLst>
          </p:cNvPr>
          <p:cNvCxnSpPr/>
          <p:nvPr/>
        </p:nvCxnSpPr>
        <p:spPr>
          <a:xfrm>
            <a:off x="2591069" y="4509120"/>
            <a:ext cx="2685483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894FB4-2D0F-5159-9C3E-8E24E8A37C9D}"/>
              </a:ext>
            </a:extLst>
          </p:cNvPr>
          <p:cNvCxnSpPr/>
          <p:nvPr/>
        </p:nvCxnSpPr>
        <p:spPr>
          <a:xfrm>
            <a:off x="5276552" y="4797152"/>
            <a:ext cx="2290707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C6D12-8376-6439-8B49-FBD77F2773EF}"/>
              </a:ext>
            </a:extLst>
          </p:cNvPr>
          <p:cNvSpPr/>
          <p:nvPr/>
        </p:nvSpPr>
        <p:spPr>
          <a:xfrm>
            <a:off x="7579964" y="4797152"/>
            <a:ext cx="98624" cy="167049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C08638-E5C0-63DD-B840-AA79A5D66F09}"/>
              </a:ext>
            </a:extLst>
          </p:cNvPr>
          <p:cNvCxnSpPr/>
          <p:nvPr/>
        </p:nvCxnSpPr>
        <p:spPr>
          <a:xfrm>
            <a:off x="7722714" y="5445224"/>
            <a:ext cx="343608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F30A05E-28C9-B3A7-5891-3B244F8B9784}"/>
              </a:ext>
            </a:extLst>
          </p:cNvPr>
          <p:cNvSpPr/>
          <p:nvPr/>
        </p:nvSpPr>
        <p:spPr>
          <a:xfrm>
            <a:off x="11139057" y="5444250"/>
            <a:ext cx="115966" cy="439572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E26BD-247D-D4B4-8575-E06620E01B6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702971" y="5883822"/>
            <a:ext cx="3494069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6E069B8-9B85-D88A-0E1D-35FE84399F1E}"/>
              </a:ext>
            </a:extLst>
          </p:cNvPr>
          <p:cNvSpPr/>
          <p:nvPr/>
        </p:nvSpPr>
        <p:spPr>
          <a:xfrm>
            <a:off x="9324791" y="4838222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2C6849-E233-4551-8044-3F3FA038B633}"/>
              </a:ext>
            </a:extLst>
          </p:cNvPr>
          <p:cNvCxnSpPr/>
          <p:nvPr/>
        </p:nvCxnSpPr>
        <p:spPr>
          <a:xfrm>
            <a:off x="7722714" y="4866921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67B26D-2C8F-7B81-5CB3-F06EAB12B7B6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7722714" y="5277794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640B9B-16E8-D1FD-717B-FA6272B4D311}"/>
              </a:ext>
            </a:extLst>
          </p:cNvPr>
          <p:cNvSpPr txBox="1"/>
          <p:nvPr/>
        </p:nvSpPr>
        <p:spPr>
          <a:xfrm>
            <a:off x="9550796" y="4797152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before</a:t>
            </a:r>
          </a:p>
        </p:txBody>
      </p:sp>
      <p:sp>
        <p:nvSpPr>
          <p:cNvPr id="27" name="Explosion: 8 Points 26">
            <a:extLst>
              <a:ext uri="{FF2B5EF4-FFF2-40B4-BE49-F238E27FC236}">
                <a16:creationId xmlns:a16="http://schemas.microsoft.com/office/drawing/2014/main" id="{F4557CA1-B54E-1CBF-9337-533A0361AD25}"/>
              </a:ext>
            </a:extLst>
          </p:cNvPr>
          <p:cNvSpPr/>
          <p:nvPr/>
        </p:nvSpPr>
        <p:spPr>
          <a:xfrm>
            <a:off x="7246540" y="5085184"/>
            <a:ext cx="472512" cy="439571"/>
          </a:xfrm>
          <a:prstGeom prst="irregularSeal1">
            <a:avLst/>
          </a:prstGeom>
          <a:gradFill rotWithShape="1">
            <a:gsLst>
              <a:gs pos="0">
                <a:srgbClr val="38C6C6">
                  <a:tint val="50000"/>
                  <a:satMod val="300000"/>
                </a:srgbClr>
              </a:gs>
              <a:gs pos="35000">
                <a:srgbClr val="38C6C6">
                  <a:tint val="37000"/>
                  <a:satMod val="300000"/>
                </a:srgbClr>
              </a:gs>
              <a:gs pos="100000">
                <a:srgbClr val="38C6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6B9E1B-73FD-08C3-673B-DDBF88941E4C}"/>
              </a:ext>
            </a:extLst>
          </p:cNvPr>
          <p:cNvCxnSpPr>
            <a:stCxn id="27" idx="1"/>
          </p:cNvCxnSpPr>
          <p:nvPr/>
        </p:nvCxnSpPr>
        <p:spPr>
          <a:xfrm flipH="1">
            <a:off x="2605524" y="5260504"/>
            <a:ext cx="4641016" cy="724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D14DC12-03B7-6ECF-C6DC-C7203929F777}"/>
              </a:ext>
            </a:extLst>
          </p:cNvPr>
          <p:cNvSpPr txBox="1"/>
          <p:nvPr/>
        </p:nvSpPr>
        <p:spPr>
          <a:xfrm>
            <a:off x="9861282" y="5492825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80DC0A-543B-5045-AAEA-41134C6D68DB}"/>
              </a:ext>
            </a:extLst>
          </p:cNvPr>
          <p:cNvSpPr/>
          <p:nvPr/>
        </p:nvSpPr>
        <p:spPr>
          <a:xfrm>
            <a:off x="9303043" y="6006355"/>
            <a:ext cx="115966" cy="439572"/>
          </a:xfrm>
          <a:prstGeom prst="rect">
            <a:avLst/>
          </a:prstGeom>
          <a:solidFill>
            <a:srgbClr val="38C6C6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58C953-5198-3209-5161-7FEE368655A7}"/>
              </a:ext>
            </a:extLst>
          </p:cNvPr>
          <p:cNvCxnSpPr/>
          <p:nvPr/>
        </p:nvCxnSpPr>
        <p:spPr>
          <a:xfrm>
            <a:off x="7700966" y="6035054"/>
            <a:ext cx="154005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ED05D-DEA1-C7F5-FA19-4F0CCE208130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7700966" y="6445927"/>
            <a:ext cx="166006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C0B4DD-0442-4940-243C-1038A310EF6A}"/>
              </a:ext>
            </a:extLst>
          </p:cNvPr>
          <p:cNvSpPr txBox="1"/>
          <p:nvPr/>
        </p:nvSpPr>
        <p:spPr>
          <a:xfrm>
            <a:off x="9505017" y="6084704"/>
            <a:ext cx="89841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517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1" grpId="0" animBg="1"/>
      <p:bldP spid="23" grpId="0" animBg="1"/>
      <p:bldP spid="26" grpId="0"/>
      <p:bldP spid="29" grpId="0"/>
      <p:bldP spid="30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1A0E-FA70-41AA-D8FE-BD95E24E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Generic Handlers</a:t>
            </a:r>
          </a:p>
        </p:txBody>
      </p:sp>
      <p:pic>
        <p:nvPicPr>
          <p:cNvPr id="5122" name="Picture 2" descr="Making All Rooms Reachable in a JavaScript Roguelike | JavaScript in Plain  English">
            <a:extLst>
              <a:ext uri="{FF2B5EF4-FFF2-40B4-BE49-F238E27FC236}">
                <a16:creationId xmlns:a16="http://schemas.microsoft.com/office/drawing/2014/main" id="{91C913A6-FFC2-CAC0-EDED-C039FD2E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020" y="1637799"/>
            <a:ext cx="676576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7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071B6-F82A-8B0F-F954-2EF2FD04BE2E}"/>
              </a:ext>
            </a:extLst>
          </p:cNvPr>
          <p:cNvSpPr txBox="1"/>
          <p:nvPr/>
        </p:nvSpPr>
        <p:spPr>
          <a:xfrm>
            <a:off x="477788" y="1268760"/>
            <a:ext cx="95050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this.when</a:t>
            </a:r>
            <a:r>
              <a:rPr lang="en-US" dirty="0">
                <a:solidFill>
                  <a:srgbClr val="FF0000"/>
                </a:solidFill>
              </a:rPr>
              <a:t>(‘WHICH’, what, () =&gt; {</a:t>
            </a:r>
          </a:p>
          <a:p>
            <a:r>
              <a:rPr lang="en-US" dirty="0">
                <a:solidFill>
                  <a:srgbClr val="FF0000"/>
                </a:solidFill>
              </a:rPr>
              <a:t>	code.</a:t>
            </a:r>
          </a:p>
          <a:p>
            <a:r>
              <a:rPr lang="en-US" dirty="0">
                <a:solidFill>
                  <a:srgbClr val="FF0000"/>
                </a:solidFill>
              </a:rPr>
              <a:t>})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when – before, after, on</a:t>
            </a:r>
          </a:p>
          <a:p>
            <a:r>
              <a:rPr lang="en-US" dirty="0">
                <a:solidFill>
                  <a:srgbClr val="FF0000"/>
                </a:solidFill>
              </a:rPr>
              <a:t>Which – CREATE, UPDATE, DELETE, READ</a:t>
            </a:r>
          </a:p>
          <a:p>
            <a:r>
              <a:rPr lang="en-US" dirty="0">
                <a:solidFill>
                  <a:srgbClr val="FF0000"/>
                </a:solidFill>
              </a:rPr>
              <a:t>What – Entity (Employee, Pos, …)</a:t>
            </a:r>
          </a:p>
        </p:txBody>
      </p:sp>
    </p:spTree>
    <p:extLst>
      <p:ext uri="{BB962C8B-B14F-4D97-AF65-F5344CB8AC3E}">
        <p14:creationId xmlns:p14="http://schemas.microsoft.com/office/powerpoint/2010/main" val="18764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7275</TotalTime>
  <Words>581</Words>
  <Application>Microsoft Office PowerPoint</Application>
  <PresentationFormat>Custom</PresentationFormat>
  <Paragraphs>91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7</vt:lpstr>
      <vt:lpstr>Hands on: Service creation</vt:lpstr>
      <vt:lpstr>Testing Services in BAS</vt:lpstr>
      <vt:lpstr>Actions and Functions</vt:lpstr>
      <vt:lpstr>Generic Handlers in CAP</vt:lpstr>
      <vt:lpstr>Hands on: Generic Handlers</vt:lpstr>
      <vt:lpstr>Syntax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270</cp:revision>
  <dcterms:created xsi:type="dcterms:W3CDTF">2013-09-12T13:05:01Z</dcterms:created>
  <dcterms:modified xsi:type="dcterms:W3CDTF">2026-07-13T06:39:30Z</dcterms:modified>
</cp:coreProperties>
</file>