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8"/>
  </p:notesMasterIdLst>
  <p:sldIdLst>
    <p:sldId id="276" r:id="rId3"/>
    <p:sldId id="4122" r:id="rId4"/>
    <p:sldId id="277" r:id="rId5"/>
    <p:sldId id="4833" r:id="rId6"/>
    <p:sldId id="4834" r:id="rId7"/>
    <p:sldId id="4835" r:id="rId8"/>
    <p:sldId id="4836" r:id="rId9"/>
    <p:sldId id="4837" r:id="rId10"/>
    <p:sldId id="355" r:id="rId11"/>
    <p:sldId id="358" r:id="rId12"/>
    <p:sldId id="334" r:id="rId13"/>
    <p:sldId id="335" r:id="rId14"/>
    <p:sldId id="282" r:id="rId15"/>
    <p:sldId id="280" r:id="rId16"/>
    <p:sldId id="4711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320" y="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378C3B-E184-A1ED-97D3-9127CD4946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710" y="1325486"/>
            <a:ext cx="5002372" cy="4247185"/>
          </a:xfrm>
          <a:custGeom>
            <a:avLst/>
            <a:gdLst>
              <a:gd name="connsiteX0" fmla="*/ 2017799 w 5003675"/>
              <a:gd name="connsiteY0" fmla="*/ 3 h 4247185"/>
              <a:gd name="connsiteX1" fmla="*/ 2666935 w 5003675"/>
              <a:gd name="connsiteY1" fmla="*/ 270746 h 4247185"/>
              <a:gd name="connsiteX2" fmla="*/ 5003675 w 5003675"/>
              <a:gd name="connsiteY2" fmla="*/ 2618943 h 4247185"/>
              <a:gd name="connsiteX3" fmla="*/ 3636329 w 5003675"/>
              <a:gd name="connsiteY3" fmla="*/ 3979618 h 4247185"/>
              <a:gd name="connsiteX4" fmla="*/ 2336740 w 5003675"/>
              <a:gd name="connsiteY4" fmla="*/ 3976439 h 4247185"/>
              <a:gd name="connsiteX5" fmla="*/ 0 w 5003675"/>
              <a:gd name="connsiteY5" fmla="*/ 1628243 h 4247185"/>
              <a:gd name="connsiteX6" fmla="*/ 1367347 w 5003675"/>
              <a:gd name="connsiteY6" fmla="*/ 267568 h 4247185"/>
              <a:gd name="connsiteX7" fmla="*/ 2017799 w 5003675"/>
              <a:gd name="connsiteY7" fmla="*/ 3 h 424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675" h="4247185">
                <a:moveTo>
                  <a:pt x="2017799" y="3"/>
                </a:moveTo>
                <a:cubicBezTo>
                  <a:pt x="2252978" y="578"/>
                  <a:pt x="2487938" y="90871"/>
                  <a:pt x="2666935" y="270746"/>
                </a:cubicBezTo>
                <a:lnTo>
                  <a:pt x="5003675" y="2618943"/>
                </a:lnTo>
                <a:lnTo>
                  <a:pt x="3636329" y="3979618"/>
                </a:lnTo>
                <a:cubicBezTo>
                  <a:pt x="3276579" y="4337612"/>
                  <a:pt x="2694734" y="4336189"/>
                  <a:pt x="2336740" y="3976439"/>
                </a:cubicBezTo>
                <a:lnTo>
                  <a:pt x="0" y="1628243"/>
                </a:lnTo>
                <a:lnTo>
                  <a:pt x="1367347" y="267568"/>
                </a:lnTo>
                <a:cubicBezTo>
                  <a:pt x="1547222" y="88571"/>
                  <a:pt x="1782620" y="-572"/>
                  <a:pt x="2017799" y="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1348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35D361-ABEE-D79C-865F-AA6BA0283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4825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C5DDD57-31F3-A936-88B6-B56E3475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E843CF-E274-2A06-E086-3AB252A4C9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7008" y="680012"/>
            <a:ext cx="4191362" cy="5497976"/>
          </a:xfrm>
          <a:custGeom>
            <a:avLst/>
            <a:gdLst>
              <a:gd name="connsiteX0" fmla="*/ 2096227 w 4192454"/>
              <a:gd name="connsiteY0" fmla="*/ 0 h 5497976"/>
              <a:gd name="connsiteX1" fmla="*/ 4192454 w 4192454"/>
              <a:gd name="connsiteY1" fmla="*/ 0 h 5497976"/>
              <a:gd name="connsiteX2" fmla="*/ 4192454 w 4192454"/>
              <a:gd name="connsiteY2" fmla="*/ 3401749 h 5497976"/>
              <a:gd name="connsiteX3" fmla="*/ 2096227 w 4192454"/>
              <a:gd name="connsiteY3" fmla="*/ 5497976 h 5497976"/>
              <a:gd name="connsiteX4" fmla="*/ 0 w 4192454"/>
              <a:gd name="connsiteY4" fmla="*/ 5497976 h 5497976"/>
              <a:gd name="connsiteX5" fmla="*/ 0 w 4192454"/>
              <a:gd name="connsiteY5" fmla="*/ 2096227 h 5497976"/>
              <a:gd name="connsiteX6" fmla="*/ 2096227 w 4192454"/>
              <a:gd name="connsiteY6" fmla="*/ 0 h 549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2454" h="5497976">
                <a:moveTo>
                  <a:pt x="2096227" y="0"/>
                </a:moveTo>
                <a:lnTo>
                  <a:pt x="4192454" y="0"/>
                </a:lnTo>
                <a:lnTo>
                  <a:pt x="4192454" y="3401749"/>
                </a:lnTo>
                <a:cubicBezTo>
                  <a:pt x="4192454" y="4559463"/>
                  <a:pt x="3253941" y="5497976"/>
                  <a:pt x="2096227" y="5497976"/>
                </a:cubicBezTo>
                <a:lnTo>
                  <a:pt x="0" y="5497976"/>
                </a:lnTo>
                <a:lnTo>
                  <a:pt x="0" y="2096227"/>
                </a:lnTo>
                <a:cubicBezTo>
                  <a:pt x="0" y="938513"/>
                  <a:pt x="938513" y="0"/>
                  <a:pt x="20962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7283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F7B7BF-954B-E717-9848-38C7072F5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693CE21-91E7-2D69-9690-1A156A7957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569" y="3871154"/>
            <a:ext cx="4992554" cy="2676124"/>
          </a:xfrm>
          <a:custGeom>
            <a:avLst/>
            <a:gdLst>
              <a:gd name="connsiteX0" fmla="*/ 446030 w 4993854"/>
              <a:gd name="connsiteY0" fmla="*/ 0 h 2676124"/>
              <a:gd name="connsiteX1" fmla="*/ 4993854 w 4993854"/>
              <a:gd name="connsiteY1" fmla="*/ 0 h 2676124"/>
              <a:gd name="connsiteX2" fmla="*/ 4993854 w 4993854"/>
              <a:gd name="connsiteY2" fmla="*/ 2230094 h 2676124"/>
              <a:gd name="connsiteX3" fmla="*/ 4547824 w 4993854"/>
              <a:gd name="connsiteY3" fmla="*/ 2676124 h 2676124"/>
              <a:gd name="connsiteX4" fmla="*/ 0 w 4993854"/>
              <a:gd name="connsiteY4" fmla="*/ 2676124 h 2676124"/>
              <a:gd name="connsiteX5" fmla="*/ 0 w 4993854"/>
              <a:gd name="connsiteY5" fmla="*/ 446030 h 2676124"/>
              <a:gd name="connsiteX6" fmla="*/ 446030 w 4993854"/>
              <a:gd name="connsiteY6" fmla="*/ 0 h 267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854" h="2676124">
                <a:moveTo>
                  <a:pt x="446030" y="0"/>
                </a:moveTo>
                <a:lnTo>
                  <a:pt x="4993854" y="0"/>
                </a:lnTo>
                <a:lnTo>
                  <a:pt x="4993854" y="2230094"/>
                </a:lnTo>
                <a:cubicBezTo>
                  <a:pt x="4993854" y="2476430"/>
                  <a:pt x="4794160" y="2676124"/>
                  <a:pt x="4547824" y="2676124"/>
                </a:cubicBezTo>
                <a:lnTo>
                  <a:pt x="0" y="2676124"/>
                </a:lnTo>
                <a:lnTo>
                  <a:pt x="0" y="446030"/>
                </a:lnTo>
                <a:cubicBezTo>
                  <a:pt x="0" y="199694"/>
                  <a:pt x="199694" y="0"/>
                  <a:pt x="4460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6725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F07389-8932-42FB-F708-932E2263F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2307014"/>
            <a:ext cx="3407233" cy="112198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82927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ADEE87-6030-E1DA-86A9-0872B31F1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4875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EA10585-713E-0C3F-37FB-777EB8FFE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40565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50112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680AFC-5A5D-E566-4767-30630FF92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7225884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6164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2D4ED0-A469-1D30-D0B9-075007FDB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443990"/>
            <a:ext cx="3684954" cy="107721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7898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9D3FF98-2D57-B6D5-34A1-E29FC9D40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05271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8642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53A74ED-76FC-8CC0-D7E9-B3BEDEC06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8255762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1779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C9C5D43-2BAE-AA68-28A0-B95983F143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85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C439F7A-5536-B6C0-F563-E47C03FC5E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93637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EEFA0-64F6-654A-EE27-E4ED4435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8424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336F180-1189-E865-EC9D-3A737DFE3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320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1681684-B50D-931D-5AC8-80568BFA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941428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5985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7BF7C55-2A56-B649-6B81-0CD6A253F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0D99CB-7D8E-D735-B5D0-393275D61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75517" y="0"/>
            <a:ext cx="4013310" cy="6858000"/>
          </a:xfrm>
          <a:custGeom>
            <a:avLst/>
            <a:gdLst>
              <a:gd name="connsiteX0" fmla="*/ 0 w 4014355"/>
              <a:gd name="connsiteY0" fmla="*/ 0 h 6858000"/>
              <a:gd name="connsiteX1" fmla="*/ 4014355 w 4014355"/>
              <a:gd name="connsiteY1" fmla="*/ 0 h 6858000"/>
              <a:gd name="connsiteX2" fmla="*/ 4014355 w 4014355"/>
              <a:gd name="connsiteY2" fmla="*/ 6858000 h 6858000"/>
              <a:gd name="connsiteX3" fmla="*/ 0 w 4014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4355" h="6858000">
                <a:moveTo>
                  <a:pt x="0" y="0"/>
                </a:moveTo>
                <a:lnTo>
                  <a:pt x="4014355" y="0"/>
                </a:lnTo>
                <a:lnTo>
                  <a:pt x="401435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512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038D30-D0CE-FB58-3CB7-714B70054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80334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08416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FD9CB8F-45B4-E333-AB67-85836ED65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971551"/>
            <a:ext cx="5691609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65711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D4F87C9-AFD5-D11D-A745-9B8F1A936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2199501"/>
            <a:ext cx="4234029" cy="5539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7E5E00-74B3-AADD-0627-BA27887FE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962" y="538775"/>
            <a:ext cx="2239697" cy="1783080"/>
          </a:xfrm>
          <a:custGeom>
            <a:avLst/>
            <a:gdLst>
              <a:gd name="connsiteX0" fmla="*/ 125600 w 2240280"/>
              <a:gd name="connsiteY0" fmla="*/ 0 h 1783080"/>
              <a:gd name="connsiteX1" fmla="*/ 2114680 w 2240280"/>
              <a:gd name="connsiteY1" fmla="*/ 0 h 1783080"/>
              <a:gd name="connsiteX2" fmla="*/ 2240280 w 2240280"/>
              <a:gd name="connsiteY2" fmla="*/ 125600 h 1783080"/>
              <a:gd name="connsiteX3" fmla="*/ 2240280 w 2240280"/>
              <a:gd name="connsiteY3" fmla="*/ 1657480 h 1783080"/>
              <a:gd name="connsiteX4" fmla="*/ 2114680 w 2240280"/>
              <a:gd name="connsiteY4" fmla="*/ 1783080 h 1783080"/>
              <a:gd name="connsiteX5" fmla="*/ 125600 w 2240280"/>
              <a:gd name="connsiteY5" fmla="*/ 1783080 h 1783080"/>
              <a:gd name="connsiteX6" fmla="*/ 0 w 2240280"/>
              <a:gd name="connsiteY6" fmla="*/ 1657480 h 1783080"/>
              <a:gd name="connsiteX7" fmla="*/ 0 w 2240280"/>
              <a:gd name="connsiteY7" fmla="*/ 125600 h 1783080"/>
              <a:gd name="connsiteX8" fmla="*/ 125600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5600" y="0"/>
                </a:moveTo>
                <a:lnTo>
                  <a:pt x="2114680" y="0"/>
                </a:lnTo>
                <a:cubicBezTo>
                  <a:pt x="2184047" y="0"/>
                  <a:pt x="2240280" y="56233"/>
                  <a:pt x="2240280" y="125600"/>
                </a:cubicBezTo>
                <a:lnTo>
                  <a:pt x="2240280" y="1657480"/>
                </a:lnTo>
                <a:cubicBezTo>
                  <a:pt x="2240280" y="1726847"/>
                  <a:pt x="2184047" y="1783080"/>
                  <a:pt x="2114680" y="1783080"/>
                </a:cubicBezTo>
                <a:lnTo>
                  <a:pt x="125600" y="1783080"/>
                </a:lnTo>
                <a:cubicBezTo>
                  <a:pt x="56233" y="1783080"/>
                  <a:pt x="0" y="1726847"/>
                  <a:pt x="0" y="1657480"/>
                </a:cubicBezTo>
                <a:lnTo>
                  <a:pt x="0" y="125600"/>
                </a:lnTo>
                <a:cubicBezTo>
                  <a:pt x="0" y="56233"/>
                  <a:pt x="56233" y="0"/>
                  <a:pt x="125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8FFE2A-D715-1690-3C75-E65A19C626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03962" y="2537460"/>
            <a:ext cx="2239697" cy="1783080"/>
          </a:xfrm>
          <a:custGeom>
            <a:avLst/>
            <a:gdLst>
              <a:gd name="connsiteX0" fmla="*/ 118539 w 2240280"/>
              <a:gd name="connsiteY0" fmla="*/ 0 h 1783080"/>
              <a:gd name="connsiteX1" fmla="*/ 2121741 w 2240280"/>
              <a:gd name="connsiteY1" fmla="*/ 0 h 1783080"/>
              <a:gd name="connsiteX2" fmla="*/ 2240280 w 2240280"/>
              <a:gd name="connsiteY2" fmla="*/ 118539 h 1783080"/>
              <a:gd name="connsiteX3" fmla="*/ 2240280 w 2240280"/>
              <a:gd name="connsiteY3" fmla="*/ 1664541 h 1783080"/>
              <a:gd name="connsiteX4" fmla="*/ 2121741 w 2240280"/>
              <a:gd name="connsiteY4" fmla="*/ 1783080 h 1783080"/>
              <a:gd name="connsiteX5" fmla="*/ 118539 w 2240280"/>
              <a:gd name="connsiteY5" fmla="*/ 1783080 h 1783080"/>
              <a:gd name="connsiteX6" fmla="*/ 0 w 2240280"/>
              <a:gd name="connsiteY6" fmla="*/ 1664541 h 1783080"/>
              <a:gd name="connsiteX7" fmla="*/ 0 w 2240280"/>
              <a:gd name="connsiteY7" fmla="*/ 118539 h 1783080"/>
              <a:gd name="connsiteX8" fmla="*/ 11853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18539" y="0"/>
                </a:moveTo>
                <a:lnTo>
                  <a:pt x="2121741" y="0"/>
                </a:lnTo>
                <a:cubicBezTo>
                  <a:pt x="2187208" y="0"/>
                  <a:pt x="2240280" y="53072"/>
                  <a:pt x="2240280" y="118539"/>
                </a:cubicBezTo>
                <a:lnTo>
                  <a:pt x="2240280" y="1664541"/>
                </a:lnTo>
                <a:cubicBezTo>
                  <a:pt x="2240280" y="1730008"/>
                  <a:pt x="2187208" y="1783080"/>
                  <a:pt x="2121741" y="1783080"/>
                </a:cubicBezTo>
                <a:lnTo>
                  <a:pt x="118539" y="1783080"/>
                </a:lnTo>
                <a:cubicBezTo>
                  <a:pt x="53072" y="1783080"/>
                  <a:pt x="0" y="1730008"/>
                  <a:pt x="0" y="1664541"/>
                </a:cubicBezTo>
                <a:lnTo>
                  <a:pt x="0" y="118539"/>
                </a:lnTo>
                <a:cubicBezTo>
                  <a:pt x="0" y="53072"/>
                  <a:pt x="53072" y="0"/>
                  <a:pt x="1185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AEC7D6-C7F6-C6DD-7A93-7F15BDB694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3962" y="4536145"/>
            <a:ext cx="2239697" cy="1783080"/>
          </a:xfrm>
          <a:custGeom>
            <a:avLst/>
            <a:gdLst>
              <a:gd name="connsiteX0" fmla="*/ 124459 w 2240280"/>
              <a:gd name="connsiteY0" fmla="*/ 0 h 1783080"/>
              <a:gd name="connsiteX1" fmla="*/ 2115821 w 2240280"/>
              <a:gd name="connsiteY1" fmla="*/ 0 h 1783080"/>
              <a:gd name="connsiteX2" fmla="*/ 2240280 w 2240280"/>
              <a:gd name="connsiteY2" fmla="*/ 124459 h 1783080"/>
              <a:gd name="connsiteX3" fmla="*/ 2240280 w 2240280"/>
              <a:gd name="connsiteY3" fmla="*/ 1658621 h 1783080"/>
              <a:gd name="connsiteX4" fmla="*/ 2115821 w 2240280"/>
              <a:gd name="connsiteY4" fmla="*/ 1783080 h 1783080"/>
              <a:gd name="connsiteX5" fmla="*/ 124459 w 2240280"/>
              <a:gd name="connsiteY5" fmla="*/ 1783080 h 1783080"/>
              <a:gd name="connsiteX6" fmla="*/ 0 w 2240280"/>
              <a:gd name="connsiteY6" fmla="*/ 1658621 h 1783080"/>
              <a:gd name="connsiteX7" fmla="*/ 0 w 2240280"/>
              <a:gd name="connsiteY7" fmla="*/ 124459 h 1783080"/>
              <a:gd name="connsiteX8" fmla="*/ 12445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4459" y="0"/>
                </a:moveTo>
                <a:lnTo>
                  <a:pt x="2115821" y="0"/>
                </a:lnTo>
                <a:cubicBezTo>
                  <a:pt x="2184558" y="0"/>
                  <a:pt x="2240280" y="55722"/>
                  <a:pt x="2240280" y="124459"/>
                </a:cubicBezTo>
                <a:lnTo>
                  <a:pt x="2240280" y="1658621"/>
                </a:lnTo>
                <a:cubicBezTo>
                  <a:pt x="2240280" y="1727358"/>
                  <a:pt x="2184558" y="1783080"/>
                  <a:pt x="2115821" y="1783080"/>
                </a:cubicBezTo>
                <a:lnTo>
                  <a:pt x="124459" y="1783080"/>
                </a:lnTo>
                <a:cubicBezTo>
                  <a:pt x="55722" y="1783080"/>
                  <a:pt x="0" y="1727358"/>
                  <a:pt x="0" y="1658621"/>
                </a:cubicBezTo>
                <a:lnTo>
                  <a:pt x="0" y="124459"/>
                </a:lnTo>
                <a:cubicBezTo>
                  <a:pt x="0" y="55722"/>
                  <a:pt x="55722" y="0"/>
                  <a:pt x="1244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9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EBD1DE8-A38D-041F-7BE7-63EB75067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94CE71-D989-A01B-2541-02035A315D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91136" y="1"/>
            <a:ext cx="4997689" cy="6858000"/>
          </a:xfrm>
          <a:custGeom>
            <a:avLst/>
            <a:gdLst>
              <a:gd name="connsiteX0" fmla="*/ 2276199 w 4998991"/>
              <a:gd name="connsiteY0" fmla="*/ 0 h 6858000"/>
              <a:gd name="connsiteX1" fmla="*/ 4998991 w 4998991"/>
              <a:gd name="connsiteY1" fmla="*/ 0 h 6858000"/>
              <a:gd name="connsiteX2" fmla="*/ 4998991 w 4998991"/>
              <a:gd name="connsiteY2" fmla="*/ 6858000 h 6858000"/>
              <a:gd name="connsiteX3" fmla="*/ 3385646 w 4998991"/>
              <a:gd name="connsiteY3" fmla="*/ 6858000 h 6858000"/>
              <a:gd name="connsiteX4" fmla="*/ 568771 w 4998991"/>
              <a:gd name="connsiteY4" fmla="*/ 5231676 h 6858000"/>
              <a:gd name="connsiteX5" fmla="*/ 152541 w 4998991"/>
              <a:gd name="connsiteY5" fmla="*/ 36782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991" h="6858000">
                <a:moveTo>
                  <a:pt x="2276199" y="0"/>
                </a:moveTo>
                <a:lnTo>
                  <a:pt x="4998991" y="0"/>
                </a:lnTo>
                <a:lnTo>
                  <a:pt x="4998991" y="6858000"/>
                </a:lnTo>
                <a:lnTo>
                  <a:pt x="3385646" y="6858000"/>
                </a:lnTo>
                <a:lnTo>
                  <a:pt x="568771" y="5231676"/>
                </a:lnTo>
                <a:cubicBezTo>
                  <a:pt x="24875" y="4917657"/>
                  <a:pt x="-161478" y="4222181"/>
                  <a:pt x="152541" y="367828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26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0C56D3C-4260-8E27-5665-613701086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793638"/>
            <a:ext cx="3522950" cy="110799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9931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B8B3CA3-442F-6635-C547-4290D042B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630015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42577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7687893-67B4-A936-3437-9722BD427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715386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7833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3227017-0470-41EB-12C4-6E8CCAF5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77C54E-8E8F-1DF8-C6DB-2862B452F3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1447" y="1911755"/>
            <a:ext cx="4597810" cy="3854275"/>
          </a:xfrm>
          <a:custGeom>
            <a:avLst/>
            <a:gdLst>
              <a:gd name="connsiteX0" fmla="*/ 642392 w 4599008"/>
              <a:gd name="connsiteY0" fmla="*/ 0 h 3854275"/>
              <a:gd name="connsiteX1" fmla="*/ 4599008 w 4599008"/>
              <a:gd name="connsiteY1" fmla="*/ 0 h 3854275"/>
              <a:gd name="connsiteX2" fmla="*/ 4599008 w 4599008"/>
              <a:gd name="connsiteY2" fmla="*/ 3211883 h 3854275"/>
              <a:gd name="connsiteX3" fmla="*/ 3956616 w 4599008"/>
              <a:gd name="connsiteY3" fmla="*/ 3854275 h 3854275"/>
              <a:gd name="connsiteX4" fmla="*/ 0 w 4599008"/>
              <a:gd name="connsiteY4" fmla="*/ 3854275 h 3854275"/>
              <a:gd name="connsiteX5" fmla="*/ 0 w 4599008"/>
              <a:gd name="connsiteY5" fmla="*/ 642392 h 3854275"/>
              <a:gd name="connsiteX6" fmla="*/ 642392 w 4599008"/>
              <a:gd name="connsiteY6" fmla="*/ 0 h 385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9008" h="3854275">
                <a:moveTo>
                  <a:pt x="642392" y="0"/>
                </a:moveTo>
                <a:lnTo>
                  <a:pt x="4599008" y="0"/>
                </a:lnTo>
                <a:lnTo>
                  <a:pt x="4599008" y="3211883"/>
                </a:lnTo>
                <a:cubicBezTo>
                  <a:pt x="4599008" y="3566666"/>
                  <a:pt x="4311399" y="3854275"/>
                  <a:pt x="3956616" y="3854275"/>
                </a:cubicBezTo>
                <a:lnTo>
                  <a:pt x="0" y="3854275"/>
                </a:lnTo>
                <a:lnTo>
                  <a:pt x="0" y="642392"/>
                </a:lnTo>
                <a:cubicBezTo>
                  <a:pt x="0" y="287609"/>
                  <a:pt x="287609" y="0"/>
                  <a:pt x="6423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9093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0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E282-A3FD-8FDF-6938-39CB1940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0A95-6555-5CE0-2B04-590BB888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3B31-96C7-188A-7A1F-74625996B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0145F-FA58-4242-A5B4-590FCCB69A0F}" type="datetimeFigureOut">
              <a:rPr lang="en-PK" smtClean="0"/>
              <a:t>08/18/2026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98D10-484E-D76E-8BED-E65AE316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0257-D808-F7F3-9DDC-7F1794A6B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DFB9D-E974-4984-B692-DF7D1E2E45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610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ap.github.io/cloud-sdk/docs/js/getting-starte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ui5.sap.com/#/topic/be0cf40f61184b358b5faedaec98b2da" TargetMode="Externa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21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21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083774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Side by side extension Scenario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Adding freestyle Fiori UI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Deploying app to cloud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EDE388-1C69-F73B-2341-9A5162010CCC}"/>
              </a:ext>
            </a:extLst>
          </p:cNvPr>
          <p:cNvSpPr/>
          <p:nvPr/>
        </p:nvSpPr>
        <p:spPr>
          <a:xfrm>
            <a:off x="9046740" y="1916832"/>
            <a:ext cx="2592288" cy="194421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SAP or Non SAP API OData which we want to reuse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99C49-CFD9-3CE2-8C2B-3299E8CADDC4}"/>
              </a:ext>
            </a:extLst>
          </p:cNvPr>
          <p:cNvSpPr/>
          <p:nvPr/>
        </p:nvSpPr>
        <p:spPr>
          <a:xfrm>
            <a:off x="3718148" y="2276872"/>
            <a:ext cx="3744416" cy="122413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CAPM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Middleware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manipulation, enrichment, Security, automation, movement, proxy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D867DC-C05A-C396-96F6-E7297E14844B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>
            <a:off x="7462564" y="2888940"/>
            <a:ext cx="158417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55E0D34-71EA-9DC5-8463-A646BB0B45D2}"/>
              </a:ext>
            </a:extLst>
          </p:cNvPr>
          <p:cNvSpPr/>
          <p:nvPr/>
        </p:nvSpPr>
        <p:spPr>
          <a:xfrm>
            <a:off x="4726260" y="4149080"/>
            <a:ext cx="1512168" cy="792088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HANA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2FC8EE1-CF00-157D-2D7E-BC12CDB70012}"/>
              </a:ext>
            </a:extLst>
          </p:cNvPr>
          <p:cNvSpPr/>
          <p:nvPr/>
        </p:nvSpPr>
        <p:spPr>
          <a:xfrm>
            <a:off x="4726260" y="3573016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2B1FAC0-1C04-B82A-A7A6-015191B7C784}"/>
              </a:ext>
            </a:extLst>
          </p:cNvPr>
          <p:cNvSpPr/>
          <p:nvPr/>
        </p:nvSpPr>
        <p:spPr>
          <a:xfrm rot="10800000">
            <a:off x="5590356" y="3559869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B93FE-659E-CEB6-6EEB-7A2BA2DCB497}"/>
              </a:ext>
            </a:extLst>
          </p:cNvPr>
          <p:cNvSpPr/>
          <p:nvPr/>
        </p:nvSpPr>
        <p:spPr>
          <a:xfrm>
            <a:off x="4366219" y="1072957"/>
            <a:ext cx="2448272" cy="72008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Fiori 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298F06-C247-4BA9-CF6F-22C72B2A487B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5590355" y="1793037"/>
            <a:ext cx="1" cy="483835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0DFE58B-C58F-5FCB-5DC2-E2B7A641EF99}"/>
              </a:ext>
            </a:extLst>
          </p:cNvPr>
          <p:cNvSpPr/>
          <p:nvPr/>
        </p:nvSpPr>
        <p:spPr>
          <a:xfrm>
            <a:off x="1989956" y="2420888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E4759A3-7ED1-1123-1CD9-2B2B55223900}"/>
              </a:ext>
            </a:extLst>
          </p:cNvPr>
          <p:cNvSpPr/>
          <p:nvPr/>
        </p:nvSpPr>
        <p:spPr>
          <a:xfrm rot="10800000">
            <a:off x="1989956" y="2855170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0883C-2D2F-2F80-6B0F-3A997CA1FE9B}"/>
              </a:ext>
            </a:extLst>
          </p:cNvPr>
          <p:cNvSpPr/>
          <p:nvPr/>
        </p:nvSpPr>
        <p:spPr>
          <a:xfrm>
            <a:off x="261761" y="2132856"/>
            <a:ext cx="1584177" cy="144016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Android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SAP UI5 App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2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B31D3-E342-461D-7674-04DB2CC57CA4}"/>
              </a:ext>
            </a:extLst>
          </p:cNvPr>
          <p:cNvSpPr txBox="1"/>
          <p:nvPr/>
        </p:nvSpPr>
        <p:spPr>
          <a:xfrm>
            <a:off x="189756" y="874455"/>
            <a:ext cx="11809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cap project with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Drag drop </a:t>
            </a:r>
            <a:r>
              <a:rPr lang="en-US" sz="2000" dirty="0" err="1">
                <a:solidFill>
                  <a:schemeClr val="bg1"/>
                </a:solidFill>
              </a:rPr>
              <a:t>edmx</a:t>
            </a:r>
            <a:r>
              <a:rPr lang="en-US" sz="2000" dirty="0">
                <a:solidFill>
                  <a:schemeClr val="bg1"/>
                </a:solidFill>
              </a:rPr>
              <a:t> file downloaded from API hub and perform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import </a:t>
            </a:r>
            <a:r>
              <a:rPr lang="en-US" sz="2000" dirty="0">
                <a:solidFill>
                  <a:schemeClr val="bg1"/>
                </a:solidFill>
              </a:rPr>
              <a:t>PATH_OF_EDMX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Add a new </a:t>
            </a:r>
            <a:r>
              <a:rPr lang="en-US" sz="2000" dirty="0" err="1">
                <a:solidFill>
                  <a:schemeClr val="bg1"/>
                </a:solidFill>
              </a:rPr>
              <a:t>CatalogService.cds</a:t>
            </a:r>
            <a:r>
              <a:rPr lang="en-US" sz="2000" dirty="0">
                <a:solidFill>
                  <a:schemeClr val="bg1"/>
                </a:solidFill>
              </a:rPr>
              <a:t> and CatalogService.js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S4HANA cloud </a:t>
            </a:r>
            <a:r>
              <a:rPr lang="en-US" sz="2000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</a:t>
            </a:r>
            <a:r>
              <a:rPr lang="en-US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is SAP’s portfolio of all the type safe API (node modules) to communicate to SAP APIs.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Install the node module @sap/cloud-sdk-vdm-sales-order-service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Add the configuration to test our </a:t>
            </a:r>
            <a:r>
              <a:rPr lang="en-IN" sz="2000" dirty="0" err="1">
                <a:solidFill>
                  <a:schemeClr val="bg1"/>
                </a:solidFill>
              </a:rPr>
              <a:t>api</a:t>
            </a:r>
            <a:r>
              <a:rPr lang="en-IN" sz="2000" dirty="0">
                <a:solidFill>
                  <a:schemeClr val="bg1"/>
                </a:solidFill>
              </a:rPr>
              <a:t> locally – credentials </a:t>
            </a:r>
          </a:p>
          <a:p>
            <a:pPr marL="457200" indent="-457200"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34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517E-7184-B854-6DC3-2C27B9924D1A}"/>
              </a:ext>
            </a:extLst>
          </p:cNvPr>
          <p:cNvSpPr txBox="1"/>
          <p:nvPr/>
        </p:nvSpPr>
        <p:spPr>
          <a:xfrm>
            <a:off x="189756" y="980728"/>
            <a:ext cx="118093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folder and initialize cap project using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Go inside project and install following modules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2.1 Cloud Foundry Security - @sap/xssec, @sap/xsenv, passport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2.2 OData V2 @sap/cds-odata-v2-adapter-proxy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2.3 Serving </a:t>
            </a:r>
            <a:r>
              <a:rPr lang="en-IN" sz="2000" dirty="0" err="1">
                <a:solidFill>
                  <a:schemeClr val="bg1"/>
                </a:solidFill>
              </a:rPr>
              <a:t>odata</a:t>
            </a:r>
            <a:r>
              <a:rPr lang="en-IN" sz="2000" dirty="0">
                <a:solidFill>
                  <a:schemeClr val="bg1"/>
                </a:solidFill>
              </a:rPr>
              <a:t> v2 over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- @sap-cloud-sdk/odata-v2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2.4 To generate the service code in node </a:t>
            </a:r>
            <a:r>
              <a:rPr lang="en-IN" sz="2000" dirty="0" err="1">
                <a:solidFill>
                  <a:schemeClr val="bg1"/>
                </a:solidFill>
              </a:rPr>
              <a:t>js</a:t>
            </a:r>
            <a:r>
              <a:rPr lang="en-IN" sz="2000" dirty="0">
                <a:solidFill>
                  <a:schemeClr val="bg1"/>
                </a:solidFill>
              </a:rPr>
              <a:t>, install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generator module using @sap-cloud-sdk/generator</a:t>
            </a:r>
          </a:p>
          <a:p>
            <a:r>
              <a:rPr lang="en-IN" sz="2000" dirty="0">
                <a:solidFill>
                  <a:schemeClr val="bg1"/>
                </a:solidFill>
              </a:rPr>
              <a:t>3. Create a new folder service-spec, and </a:t>
            </a:r>
            <a:r>
              <a:rPr lang="en-IN" sz="2000" dirty="0" err="1">
                <a:solidFill>
                  <a:schemeClr val="bg1"/>
                </a:solidFill>
              </a:rPr>
              <a:t>cds</a:t>
            </a:r>
            <a:r>
              <a:rPr lang="en-IN" sz="2000" dirty="0">
                <a:solidFill>
                  <a:schemeClr val="bg1"/>
                </a:solidFill>
              </a:rPr>
              <a:t> watch, after that drag drop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of our service to the folder. It will create external folder</a:t>
            </a:r>
          </a:p>
          <a:p>
            <a:r>
              <a:rPr lang="en-IN" sz="2000" dirty="0">
                <a:solidFill>
                  <a:schemeClr val="bg1"/>
                </a:solidFill>
              </a:rPr>
              <a:t>4. Generate the JS code to automatically get all the calls which will call the service</a:t>
            </a:r>
          </a:p>
          <a:p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npx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generate-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odata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-client --input ./service-spec --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outputDir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./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srv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/sales-order-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endParaRPr lang="en-IN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Give the folder path, not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path</a:t>
            </a:r>
          </a:p>
          <a:p>
            <a:r>
              <a:rPr lang="en-IN" sz="2000" dirty="0">
                <a:solidFill>
                  <a:schemeClr val="bg1"/>
                </a:solidFill>
              </a:rPr>
              <a:t>5. Define the service definition in </a:t>
            </a:r>
            <a:r>
              <a:rPr lang="en-IN" sz="2000" dirty="0" err="1">
                <a:solidFill>
                  <a:schemeClr val="bg1"/>
                </a:solidFill>
              </a:rPr>
              <a:t>CatalogService.cds</a:t>
            </a:r>
            <a:r>
              <a:rPr lang="en-IN" sz="2000" dirty="0">
                <a:solidFill>
                  <a:schemeClr val="bg1"/>
                </a:solidFill>
              </a:rPr>
              <a:t> file by referencing from </a:t>
            </a:r>
            <a:r>
              <a:rPr lang="en-IN" sz="2000" dirty="0" err="1">
                <a:solidFill>
                  <a:schemeClr val="bg1"/>
                </a:solidFill>
              </a:rPr>
              <a:t>csn</a:t>
            </a:r>
            <a:r>
              <a:rPr lang="en-IN" sz="2000" dirty="0">
                <a:solidFill>
                  <a:schemeClr val="bg1"/>
                </a:solidFill>
              </a:rPr>
              <a:t> file generated based on SAP OData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6. Define the service implementation CatalogService.js file and write the code to use the generated type script modules which will act like bridge to communicate to our SAP OData Business API.</a:t>
            </a:r>
          </a:p>
          <a:p>
            <a:r>
              <a:rPr lang="en-IN" sz="2000" dirty="0">
                <a:solidFill>
                  <a:schemeClr val="bg1"/>
                </a:solidFill>
              </a:rPr>
              <a:t>7. Generate a Fiori application using free style with local cap project. </a:t>
            </a:r>
          </a:p>
        </p:txBody>
      </p:sp>
    </p:spTree>
    <p:extLst>
      <p:ext uri="{BB962C8B-B14F-4D97-AF65-F5344CB8AC3E}">
        <p14:creationId xmlns:p14="http://schemas.microsoft.com/office/powerpoint/2010/main" val="366658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7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FFCF-5841-7DBC-B95C-8E6CDFFA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2C78-6C47-E0D9-5187-B7B85A25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of Fiori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BE4ED-88D1-97DF-5C43-CC068FAA9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1" y="1450676"/>
            <a:ext cx="12113802" cy="39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5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2075-D6CD-84FE-467B-1CF12038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1796E74A-3006-F36A-D061-295D75F42E1C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26"/>
            <a:r>
              <a:rPr lang="en-US" sz="3199" dirty="0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Component.js</a:t>
            </a:r>
            <a:endParaRPr lang="en-IN" sz="3199" dirty="0">
              <a:solidFill>
                <a:prstClr val="black"/>
              </a:solidFill>
              <a:latin typeface="Cooper Black" panose="0208090404030B0204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14C62-E439-89BD-0B23-8AC587C15A9F}"/>
              </a:ext>
            </a:extLst>
          </p:cNvPr>
          <p:cNvSpPr txBox="1"/>
          <p:nvPr/>
        </p:nvSpPr>
        <p:spPr>
          <a:xfrm>
            <a:off x="142630" y="655071"/>
            <a:ext cx="11483853" cy="5107739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Component.js is the launcher file for a Fiori like app. It wrap the functionality of entire application.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cannot integrate our Fiori app with Fiori launchpad, if we don’t have component.js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The file name MUST be 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Component.js 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because SAP UI5 framework will look upon the exact file name in our project’s root directory (webapp).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One project can never have 2 Components at all.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This is the exact name SAP will invoke for our application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It comes as companion file with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manifest.json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, the Component.js is the one which will invoke your manifest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Technically, it is a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js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file which inherits from standard ui5 module 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sap/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ui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/core/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UICompoenent</a:t>
            </a:r>
            <a:endParaRPr lang="en-IN" sz="1799" b="1" dirty="0">
              <a:solidFill>
                <a:prstClr val="black"/>
              </a:solidFill>
              <a:latin typeface="Aptos" panose="02110004020202020204"/>
            </a:endParaRP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The Component.js file has following mandatory components</a:t>
            </a:r>
          </a:p>
          <a:p>
            <a:pPr marL="742727" lvl="1" indent="-285664" defTabSz="914126">
              <a:buFont typeface="Wingdings" panose="05000000000000000000" pitchFamily="2" charset="2"/>
              <a:buChar char="§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Link to manifest file, the manifest is added in a section called 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metadata</a:t>
            </a:r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marL="742727" lvl="1" indent="-285664" defTabSz="914126">
              <a:buFont typeface="Wingdings" panose="05000000000000000000" pitchFamily="2" charset="2"/>
              <a:buChar char="§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have a method called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init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which is the constructor</a:t>
            </a:r>
          </a:p>
          <a:p>
            <a:pPr marL="742727" lvl="1" indent="-285664" defTabSz="914126">
              <a:buFont typeface="Wingdings" panose="05000000000000000000" pitchFamily="2" charset="2"/>
              <a:buChar char="§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have a method called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createContent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from where our real productive code starts, this is where we will initialize our first ROOT view</a:t>
            </a:r>
          </a:p>
          <a:p>
            <a:pPr marL="742727" lvl="1" indent="-285664" defTabSz="914126">
              <a:buFont typeface="Wingdings" panose="05000000000000000000" pitchFamily="2" charset="2"/>
              <a:buChar char="§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have a method called 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destroy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which is the destructor 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Remember Component.js is your starring point of entire Fiori App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In the index.html we never add any productive code, rather we just put code to launch Component.js using a simple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CompoentContainer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object</a:t>
            </a:r>
          </a:p>
          <a:p>
            <a:pPr marL="742727" lvl="1" indent="-285664" defTabSz="914126">
              <a:buFont typeface="Wingdings" panose="05000000000000000000" pitchFamily="2" charset="2"/>
              <a:buChar char="§"/>
            </a:pPr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1647B-D76E-54CE-61E5-8C95821E4A47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defTabSz="914126"/>
            <a:r>
              <a:rPr lang="en-US" sz="1200" dirty="0">
                <a:solidFill>
                  <a:srgbClr val="0E2841">
                    <a:lumMod val="25000"/>
                    <a:lumOff val="75000"/>
                  </a:srgbClr>
                </a:solidFill>
                <a:latin typeface="Cooper Black" panose="0208090404030B020404" pitchFamily="18" charset="0"/>
              </a:rPr>
              <a:t>www.anubhavtrainings.com</a:t>
            </a:r>
            <a:endParaRPr lang="en-IN" sz="1200" dirty="0">
              <a:solidFill>
                <a:srgbClr val="0E2841">
                  <a:lumMod val="25000"/>
                  <a:lumOff val="75000"/>
                </a:srgbClr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6C0A6-83FC-002A-E9E8-23A98250D2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B3B35A-85DF-DD03-A9EB-EF7F3B9A4344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US" sz="1100" dirty="0">
                <a:solidFill>
                  <a:srgbClr val="0E2841">
                    <a:lumMod val="40000"/>
                    <a:lumOff val="60000"/>
                  </a:srgbClr>
                </a:solidFill>
                <a:latin typeface="Aptos" panose="02110004020202020204"/>
              </a:rPr>
              <a:t>7</a:t>
            </a:r>
            <a:endParaRPr lang="en-IN" sz="1100" dirty="0">
              <a:solidFill>
                <a:srgbClr val="0E2841">
                  <a:lumMod val="40000"/>
                  <a:lumOff val="60000"/>
                </a:srgbClr>
              </a:solidFill>
              <a:latin typeface="Aptos" panose="021100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78461-C4DC-A6F2-58F0-FC1047722D0F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000" dirty="0">
                <a:solidFill>
                  <a:prstClr val="black"/>
                </a:solidFill>
                <a:latin typeface="Aptos" panose="02110004020202020204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5616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A1AB-947C-9C33-7183-5B41A9A3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01729299-2CD5-71C5-4D34-6FEC4DE62769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26"/>
            <a:r>
              <a:rPr lang="en-US" sz="3199" dirty="0" err="1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Manifest.json</a:t>
            </a:r>
            <a:endParaRPr lang="en-IN" sz="3199" dirty="0">
              <a:solidFill>
                <a:prstClr val="black"/>
              </a:solidFill>
              <a:latin typeface="Cooper Black" panose="0208090404030B0204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0C895-E3B3-ED5F-A237-1A9D0812A6EE}"/>
              </a:ext>
            </a:extLst>
          </p:cNvPr>
          <p:cNvSpPr txBox="1"/>
          <p:nvPr/>
        </p:nvSpPr>
        <p:spPr>
          <a:xfrm>
            <a:off x="142630" y="655071"/>
            <a:ext cx="11483853" cy="5107739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It is a companion file for our Component.js, it is loaded also by Component.js. Manifest is also called as application descriptor file. 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It is a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json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file with exact name as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manifest.json</a:t>
            </a:r>
            <a:endParaRPr lang="en-IN" sz="1799" b="1" dirty="0">
              <a:solidFill>
                <a:prstClr val="black"/>
              </a:solidFill>
              <a:latin typeface="Aptos" panose="02110004020202020204"/>
            </a:endParaRP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It contains multiple sections, most critical one’s are –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sap.app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sap.ui</a:t>
            </a:r>
            <a:r>
              <a:rPr lang="en-IN" sz="1799" b="1" dirty="0">
                <a:solidFill>
                  <a:prstClr val="black"/>
                </a:solidFill>
                <a:latin typeface="Aptos" panose="02110004020202020204"/>
              </a:rPr>
              <a:t>, sap.ui5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Many of its properties are merely for documentation purpose, only properties drive app functionality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The idea is to centralize our application behavior and common properties 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It brings the standardization, suppose you join a new UI5 team, where colleagues already created multiple projects on ui5, now you want to check what they have done. You can simply open manifest and check it.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The manifest centralize the model creation, view instantiation, and complete navigation between views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also create i18n model using manifest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We also provide all the major config like ID, TYPE, DESCRIPTION, TITLE etc.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  <a:hlinkClick r:id="rId2"/>
              </a:rPr>
              <a:t>https://ui5.sap.com/#/topic/be0cf40f61184b358b5faedaec98b2da</a:t>
            </a:r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Exercise: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Enable multi select mode on the list, create a toolbar on list with delete button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When user clicks delete, delete all selected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A8109-391B-91B7-98CD-D69DA08C7F31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defTabSz="914126"/>
            <a:r>
              <a:rPr lang="en-US" sz="1200" dirty="0">
                <a:solidFill>
                  <a:srgbClr val="0E2841">
                    <a:lumMod val="25000"/>
                    <a:lumOff val="75000"/>
                  </a:srgbClr>
                </a:solidFill>
                <a:latin typeface="Cooper Black" panose="0208090404030B020404" pitchFamily="18" charset="0"/>
              </a:rPr>
              <a:t>www.anubhavtrainings.com</a:t>
            </a:r>
            <a:endParaRPr lang="en-IN" sz="1200" dirty="0">
              <a:solidFill>
                <a:srgbClr val="0E2841">
                  <a:lumMod val="25000"/>
                  <a:lumOff val="75000"/>
                </a:srgbClr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0EEB1-7B31-CBD6-D752-ECF71A838E3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96187-997B-D196-2F16-B9122B92B25D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US" sz="1100" dirty="0">
                <a:solidFill>
                  <a:srgbClr val="0E2841">
                    <a:lumMod val="40000"/>
                    <a:lumOff val="60000"/>
                  </a:srgbClr>
                </a:solidFill>
                <a:latin typeface="Aptos" panose="02110004020202020204"/>
              </a:rPr>
              <a:t>7</a:t>
            </a:r>
            <a:endParaRPr lang="en-IN" sz="1100" dirty="0">
              <a:solidFill>
                <a:srgbClr val="0E2841">
                  <a:lumMod val="40000"/>
                  <a:lumOff val="60000"/>
                </a:srgbClr>
              </a:solidFill>
              <a:latin typeface="Aptos" panose="021100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B16D8-F1C8-3BBD-6D5E-37952392EC54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000" dirty="0">
                <a:solidFill>
                  <a:prstClr val="black"/>
                </a:solidFill>
                <a:latin typeface="Aptos" panose="02110004020202020204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554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5C26-2CA3-E7D1-04A7-29B1110C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64C8B6D1-B1C0-D11F-386E-1AE9B0B48FD7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26"/>
            <a:r>
              <a:rPr lang="en-US" sz="3199" dirty="0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What is XML?</a:t>
            </a:r>
            <a:endParaRPr lang="en-IN" sz="3199" dirty="0">
              <a:solidFill>
                <a:prstClr val="black"/>
              </a:solidFill>
              <a:latin typeface="Cooper Black" panose="0208090404030B0204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D83EC-4320-12BE-48A8-3791A3979622}"/>
              </a:ext>
            </a:extLst>
          </p:cNvPr>
          <p:cNvSpPr txBox="1"/>
          <p:nvPr/>
        </p:nvSpPr>
        <p:spPr>
          <a:xfrm>
            <a:off x="142631" y="655071"/>
            <a:ext cx="11903563" cy="5938518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XML stands for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eXtensible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Markup Language, it is the language which help us to communicate between heterogeneous technologies.</a:t>
            </a: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XMLs are considered as light weight. Unlike HTML, it usage custom tags to carry data. Its also a TREE data structure.</a:t>
            </a: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&lt;?xml version=“1.0”&gt;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&lt;data&gt;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empStr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empId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&gt;1001&lt;/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empId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empName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&gt;Anubhav&lt;/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empName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&lt;salary&gt;50000&lt;/salary&gt;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&lt;/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empStr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empTab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&lt;row&gt;…..&lt;/row&gt;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&lt;row&gt;…..&lt;/row&gt;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	&lt;row&gt;…..&lt;/row&gt;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&lt;/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empTab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&lt;/data&gt;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99158-BB07-7DAC-4BC9-2FC47EB901BC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defTabSz="914126"/>
            <a:r>
              <a:rPr lang="en-US" sz="1200" dirty="0">
                <a:solidFill>
                  <a:srgbClr val="0E2841">
                    <a:lumMod val="25000"/>
                    <a:lumOff val="75000"/>
                  </a:srgbClr>
                </a:solidFill>
                <a:latin typeface="Cooper Black" panose="0208090404030B020404" pitchFamily="18" charset="0"/>
              </a:rPr>
              <a:t>www.anubhavtrainings.com</a:t>
            </a:r>
            <a:endParaRPr lang="en-IN" sz="1200" dirty="0">
              <a:solidFill>
                <a:srgbClr val="0E2841">
                  <a:lumMod val="25000"/>
                  <a:lumOff val="75000"/>
                </a:srgbClr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022FD-4300-29AC-9A4A-F2FE14AE53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D0C86-15E7-C2A2-D804-6E05C5584BDB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US" sz="1100" dirty="0">
                <a:solidFill>
                  <a:srgbClr val="0E2841">
                    <a:lumMod val="40000"/>
                    <a:lumOff val="60000"/>
                  </a:srgbClr>
                </a:solidFill>
                <a:latin typeface="Aptos" panose="02110004020202020204"/>
              </a:rPr>
              <a:t>7</a:t>
            </a:r>
            <a:endParaRPr lang="en-IN" sz="1100" dirty="0">
              <a:solidFill>
                <a:srgbClr val="0E2841">
                  <a:lumMod val="40000"/>
                  <a:lumOff val="60000"/>
                </a:srgbClr>
              </a:solidFill>
              <a:latin typeface="Aptos" panose="021100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EE3DB-DBC6-F19B-DFC4-1ADB93FE8624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000" dirty="0">
                <a:solidFill>
                  <a:prstClr val="black"/>
                </a:solidFill>
                <a:latin typeface="Aptos" panose="02110004020202020204"/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BF192-0126-A460-21BA-8D38063C1422}"/>
              </a:ext>
            </a:extLst>
          </p:cNvPr>
          <p:cNvSpPr/>
          <p:nvPr/>
        </p:nvSpPr>
        <p:spPr>
          <a:xfrm>
            <a:off x="2417313" y="1331981"/>
            <a:ext cx="1619723" cy="785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IN" sz="1799" dirty="0">
                <a:solidFill>
                  <a:prstClr val="white"/>
                </a:solidFill>
                <a:latin typeface="Aptos" panose="02110004020202020204"/>
              </a:rPr>
              <a:t>Java</a:t>
            </a:r>
          </a:p>
          <a:p>
            <a:pPr algn="ctr" defTabSz="914126"/>
            <a:r>
              <a:rPr lang="en-IN" sz="1799" dirty="0" err="1">
                <a:solidFill>
                  <a:prstClr val="white"/>
                </a:solidFill>
                <a:latin typeface="Aptos" panose="02110004020202020204"/>
              </a:rPr>
              <a:t>datalists</a:t>
            </a:r>
            <a:endParaRPr lang="en-IN" sz="1799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D004FC-6B8A-23C2-8C41-A64CA45109AE}"/>
              </a:ext>
            </a:extLst>
          </p:cNvPr>
          <p:cNvSpPr/>
          <p:nvPr/>
        </p:nvSpPr>
        <p:spPr>
          <a:xfrm>
            <a:off x="7341929" y="1331980"/>
            <a:ext cx="1619723" cy="785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IN" sz="1799" dirty="0">
                <a:solidFill>
                  <a:prstClr val="white"/>
                </a:solidFill>
                <a:latin typeface="Aptos" panose="02110004020202020204"/>
              </a:rPr>
              <a:t>ABAP</a:t>
            </a:r>
          </a:p>
          <a:p>
            <a:pPr algn="ctr" defTabSz="914126"/>
            <a:r>
              <a:rPr lang="en-IN" sz="1799" dirty="0">
                <a:solidFill>
                  <a:prstClr val="white"/>
                </a:solidFill>
                <a:latin typeface="Aptos" panose="02110004020202020204"/>
              </a:rPr>
              <a:t>Internal tables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CA9F11F-1A0D-B772-5E22-46337F9F65F9}"/>
              </a:ext>
            </a:extLst>
          </p:cNvPr>
          <p:cNvSpPr/>
          <p:nvPr/>
        </p:nvSpPr>
        <p:spPr>
          <a:xfrm>
            <a:off x="4037036" y="1331979"/>
            <a:ext cx="3304892" cy="5136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IN" sz="1799" dirty="0">
                <a:solidFill>
                  <a:prstClr val="white"/>
                </a:solidFill>
                <a:latin typeface="Aptos" panose="02110004020202020204"/>
              </a:rPr>
              <a:t>&lt;&lt;xml&gt;&gt;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38211-C20E-5097-A611-39D15E268B94}"/>
              </a:ext>
            </a:extLst>
          </p:cNvPr>
          <p:cNvSpPr txBox="1"/>
          <p:nvPr/>
        </p:nvSpPr>
        <p:spPr>
          <a:xfrm>
            <a:off x="478554" y="1589939"/>
            <a:ext cx="1687212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Data list </a:t>
            </a: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XML</a:t>
            </a:r>
            <a:endParaRPr lang="en-IN" sz="1799" dirty="0">
              <a:solidFill>
                <a:prstClr val="black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7A1A8-6420-6AB5-ADDB-7FE13D7592FD}"/>
              </a:ext>
            </a:extLst>
          </p:cNvPr>
          <p:cNvSpPr txBox="1"/>
          <p:nvPr/>
        </p:nvSpPr>
        <p:spPr>
          <a:xfrm>
            <a:off x="9165136" y="1588828"/>
            <a:ext cx="261466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XML </a:t>
            </a: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Internal Table</a:t>
            </a:r>
            <a:endParaRPr lang="en-IN" sz="1799" dirty="0">
              <a:solidFill>
                <a:prstClr val="black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0521989-0A87-AD44-7AED-784FD10421AA}"/>
              </a:ext>
            </a:extLst>
          </p:cNvPr>
          <p:cNvSpPr/>
          <p:nvPr/>
        </p:nvSpPr>
        <p:spPr>
          <a:xfrm rot="10800000">
            <a:off x="4004313" y="1701215"/>
            <a:ext cx="3304892" cy="5136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IN" sz="1799" dirty="0">
                <a:solidFill>
                  <a:prstClr val="white"/>
                </a:solidFill>
                <a:latin typeface="Aptos" panose="02110004020202020204"/>
              </a:rPr>
              <a:t>&lt;&lt;xml&gt;&gt;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48BBC-9073-7BBA-6372-A47E13CCDCE3}"/>
              </a:ext>
            </a:extLst>
          </p:cNvPr>
          <p:cNvSpPr txBox="1"/>
          <p:nvPr/>
        </p:nvSpPr>
        <p:spPr>
          <a:xfrm>
            <a:off x="6214051" y="2963227"/>
            <a:ext cx="5832143" cy="258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Why XML views are preferred over JS views?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XML is more light weight as compared to JS View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XML exactly follow the MVC principle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Parsing is faster as there is no mix of logic and </a:t>
            </a:r>
            <a:r>
              <a:rPr lang="en-IN" sz="1799" dirty="0" err="1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ui</a:t>
            </a: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 code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Gold-standard as industry best practice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endParaRPr lang="en-IN" sz="1799" dirty="0">
              <a:solidFill>
                <a:prstClr val="black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XML </a:t>
            </a:r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 Data Objects – PARSING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72 Condensed" panose="020B0506030000000003" pitchFamily="34" charset="0"/>
                <a:cs typeface="72 Condensed" panose="020B0506030000000003" pitchFamily="34" charset="0"/>
                <a:sym typeface="Wingdings" panose="05000000000000000000" pitchFamily="2" charset="2"/>
              </a:rPr>
              <a:t>Data Object  XML – Rendering</a:t>
            </a:r>
          </a:p>
          <a:p>
            <a:pPr defTabSz="914126"/>
            <a:endParaRPr lang="en-IN" sz="1799" dirty="0">
              <a:solidFill>
                <a:prstClr val="black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20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229F-3502-8DE6-BAC3-00A1A80D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CC256256-62E6-85D2-A583-42969867187E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26"/>
            <a:r>
              <a:rPr lang="en-US" sz="3199" dirty="0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What is the XML view – </a:t>
            </a:r>
            <a:r>
              <a:rPr lang="en-US" sz="3199" dirty="0" err="1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ext</a:t>
            </a:r>
            <a:r>
              <a:rPr lang="en-US" sz="3199" dirty="0">
                <a:solidFill>
                  <a:prstClr val="black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 as .view.xml</a:t>
            </a:r>
            <a:endParaRPr lang="en-IN" sz="3199" dirty="0">
              <a:solidFill>
                <a:prstClr val="black"/>
              </a:solidFill>
              <a:latin typeface="Cooper Black" panose="0208090404030B0204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0AC4C-671F-EADD-9926-5501AC1B69C4}"/>
              </a:ext>
            </a:extLst>
          </p:cNvPr>
          <p:cNvSpPr txBox="1"/>
          <p:nvPr/>
        </p:nvSpPr>
        <p:spPr>
          <a:xfrm>
            <a:off x="142630" y="655071"/>
            <a:ext cx="11483853" cy="2892324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&lt;</a:t>
            </a:r>
            <a:r>
              <a:rPr lang="en-IN" sz="1799" dirty="0" err="1">
                <a:solidFill>
                  <a:prstClr val="black"/>
                </a:solidFill>
                <a:highlight>
                  <a:srgbClr val="FF00FF"/>
                </a:highlight>
                <a:latin typeface="Aptos" panose="02110004020202020204"/>
              </a:rPr>
              <a:t>anubhav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:View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IN" sz="1799" b="1" dirty="0" err="1">
                <a:solidFill>
                  <a:prstClr val="black"/>
                </a:solidFill>
                <a:latin typeface="Aptos" panose="02110004020202020204"/>
              </a:rPr>
              <a:t>xmlns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:</a:t>
            </a:r>
            <a:r>
              <a:rPr lang="en-IN" sz="1799" dirty="0" err="1">
                <a:solidFill>
                  <a:prstClr val="black"/>
                </a:solidFill>
                <a:highlight>
                  <a:srgbClr val="FFFF00"/>
                </a:highlight>
                <a:latin typeface="Aptos" panose="02110004020202020204"/>
              </a:rPr>
              <a:t>anubhav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=“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sap.ui.core.mvc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”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xmlns:</a:t>
            </a:r>
            <a:r>
              <a:rPr lang="en-IN" sz="1799" dirty="0" err="1">
                <a:solidFill>
                  <a:prstClr val="black"/>
                </a:solidFill>
                <a:highlight>
                  <a:srgbClr val="FFFF00"/>
                </a:highlight>
                <a:latin typeface="Aptos" panose="02110004020202020204"/>
              </a:rPr>
              <a:t>rahul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=“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sap.viz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”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xmlns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=“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sap.m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” 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controllerName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=“address of con”&gt;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&lt;Button text=“click me”&gt;&lt;/Button&gt;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	&lt;Button text=“hey” /&gt;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&lt;/</a:t>
            </a:r>
            <a:r>
              <a:rPr lang="en-IN" sz="1799" dirty="0" err="1">
                <a:solidFill>
                  <a:prstClr val="black"/>
                </a:solidFill>
                <a:highlight>
                  <a:srgbClr val="FF00FF"/>
                </a:highlight>
                <a:latin typeface="Aptos" panose="02110004020202020204"/>
              </a:rPr>
              <a:t>anubhav</a:t>
            </a:r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:View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&gt;</a:t>
            </a: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endParaRPr lang="en-IN" sz="1799" dirty="0">
              <a:solidFill>
                <a:prstClr val="black"/>
              </a:solidFill>
              <a:latin typeface="Aptos" panose="02110004020202020204"/>
            </a:endParaRPr>
          </a:p>
          <a:p>
            <a:pPr defTabSz="914126"/>
            <a:r>
              <a:rPr lang="en-IN" sz="1799" dirty="0" err="1">
                <a:solidFill>
                  <a:prstClr val="black"/>
                </a:solidFill>
                <a:latin typeface="Aptos" panose="02110004020202020204"/>
              </a:rPr>
              <a:t>Xmlns</a:t>
            </a:r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 = XML namespace = is a way to create variables in xml that can hold library name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You can define a default namespace which is exactly one</a:t>
            </a:r>
          </a:p>
          <a:p>
            <a:pPr defTabSz="914126"/>
            <a:r>
              <a:rPr lang="en-IN" sz="1799" dirty="0">
                <a:solidFill>
                  <a:prstClr val="black"/>
                </a:solidFill>
                <a:latin typeface="Aptos" panose="02110004020202020204"/>
              </a:rPr>
              <a:t>In sapui5 the blank means default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03E8E-4269-CDA9-F76A-FA7435D7DCFD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defTabSz="914126"/>
            <a:r>
              <a:rPr lang="en-US" sz="1200" dirty="0">
                <a:solidFill>
                  <a:srgbClr val="0E2841">
                    <a:lumMod val="25000"/>
                    <a:lumOff val="75000"/>
                  </a:srgbClr>
                </a:solidFill>
                <a:latin typeface="Cooper Black" panose="0208090404030B020404" pitchFamily="18" charset="0"/>
              </a:rPr>
              <a:t>www.anubhavtrainings.com</a:t>
            </a:r>
            <a:endParaRPr lang="en-IN" sz="1200" dirty="0">
              <a:solidFill>
                <a:srgbClr val="0E2841">
                  <a:lumMod val="25000"/>
                  <a:lumOff val="75000"/>
                </a:srgbClr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AD762-C624-A7D0-D664-A678BC0A56B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3F9A8-72DF-91FB-34EB-11E8338C2263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defTabSz="914126"/>
            <a:r>
              <a:rPr lang="en-US" sz="1100" dirty="0">
                <a:solidFill>
                  <a:srgbClr val="0E2841">
                    <a:lumMod val="40000"/>
                    <a:lumOff val="60000"/>
                  </a:srgbClr>
                </a:solidFill>
                <a:latin typeface="Aptos" panose="02110004020202020204"/>
              </a:rPr>
              <a:t>7</a:t>
            </a:r>
            <a:endParaRPr lang="en-IN" sz="1100" dirty="0">
              <a:solidFill>
                <a:srgbClr val="0E2841">
                  <a:lumMod val="40000"/>
                  <a:lumOff val="60000"/>
                </a:srgbClr>
              </a:solidFill>
              <a:latin typeface="Aptos" panose="021100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05879-F82A-A6B0-B5EA-6A529B7F7B74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IN" sz="1000" dirty="0">
                <a:solidFill>
                  <a:prstClr val="black"/>
                </a:solidFill>
                <a:latin typeface="Aptos" panose="02110004020202020204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4368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20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B31A9"/>
      </a:accent1>
      <a:accent2>
        <a:srgbClr val="5047C9"/>
      </a:accent2>
      <a:accent3>
        <a:srgbClr val="625ACE"/>
      </a:accent3>
      <a:accent4>
        <a:srgbClr val="817AD8"/>
      </a:accent4>
      <a:accent5>
        <a:srgbClr val="AAA5E5"/>
      </a:accent5>
      <a:accent6>
        <a:srgbClr val="CAC7E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8514</TotalTime>
  <Words>1417</Words>
  <Application>Microsoft Office PowerPoint</Application>
  <PresentationFormat>Custom</PresentationFormat>
  <Paragraphs>168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72 Condensed</vt:lpstr>
      <vt:lpstr>Amasis MT Pro Black</vt:lpstr>
      <vt:lpstr>Aptos</vt:lpstr>
      <vt:lpstr>Aptos Display</vt:lpstr>
      <vt:lpstr>Arial</vt:lpstr>
      <vt:lpstr>Arial Black</vt:lpstr>
      <vt:lpstr>Calibri</vt:lpstr>
      <vt:lpstr>Cooper Black</vt:lpstr>
      <vt:lpstr>Segoe UI</vt:lpstr>
      <vt:lpstr>Segoe UI Light</vt:lpstr>
      <vt:lpstr>Wingdings</vt:lpstr>
      <vt:lpstr>Office Theme</vt:lpstr>
      <vt:lpstr>1_Office Theme</vt:lpstr>
      <vt:lpstr>SAP BTP Extension Suite Training</vt:lpstr>
      <vt:lpstr>PowerPoint Presentation</vt:lpstr>
      <vt:lpstr>Agenda – Day 21</vt:lpstr>
      <vt:lpstr>Scenario 2: </vt:lpstr>
      <vt:lpstr>Hands on: Initialize CAPM Extension</vt:lpstr>
      <vt:lpstr>Hands on: Initialize CAPM Extension</vt:lpstr>
      <vt:lpstr>Hands on Cloud Extension</vt:lpstr>
      <vt:lpstr>Skeleton of Fiori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335</cp:revision>
  <dcterms:created xsi:type="dcterms:W3CDTF">2013-09-12T13:05:01Z</dcterms:created>
  <dcterms:modified xsi:type="dcterms:W3CDTF">2026-08-18T05:06:26Z</dcterms:modified>
</cp:coreProperties>
</file>