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76" r:id="rId2"/>
    <p:sldId id="4122" r:id="rId3"/>
    <p:sldId id="278" r:id="rId4"/>
    <p:sldId id="277" r:id="rId5"/>
    <p:sldId id="4726" r:id="rId6"/>
    <p:sldId id="4727" r:id="rId7"/>
    <p:sldId id="4728" r:id="rId8"/>
    <p:sldId id="4729" r:id="rId9"/>
    <p:sldId id="4730" r:id="rId10"/>
    <p:sldId id="4778" r:id="rId11"/>
    <p:sldId id="4781" r:id="rId12"/>
    <p:sldId id="4755" r:id="rId13"/>
    <p:sldId id="4777" r:id="rId14"/>
    <p:sldId id="4774" r:id="rId15"/>
    <p:sldId id="4756" r:id="rId16"/>
    <p:sldId id="4757" r:id="rId17"/>
    <p:sldId id="4753" r:id="rId18"/>
    <p:sldId id="4754" r:id="rId19"/>
    <p:sldId id="282" r:id="rId20"/>
    <p:sldId id="280" r:id="rId21"/>
    <p:sldId id="4711" r:id="rId2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63" autoAdjust="0"/>
    <p:restoredTop sz="95250" autoAdjust="0"/>
  </p:normalViewPr>
  <p:slideViewPr>
    <p:cSldViewPr>
      <p:cViewPr varScale="1">
        <p:scale>
          <a:sx n="105" d="100"/>
          <a:sy n="105" d="100"/>
        </p:scale>
        <p:origin x="480" y="88"/>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7:20.104"/>
    </inkml:context>
    <inkml:brush xml:id="br0">
      <inkml:brushProperty name="width" value="0.05" units="cm"/>
      <inkml:brushProperty name="height" value="0.05" units="cm"/>
      <inkml:brushProperty name="color" value="#FFFFFF"/>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4-16T09:27:36.752"/>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6/16/2026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https://pixabay.com/photos/architecture-building-amsterdam-1448221/</a:t>
            </a:r>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4014499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6/16/2026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cloudfoundry/cli/wiki/V6-CLI-Installation-Guide"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4" Type="http://schemas.openxmlformats.org/officeDocument/2006/relationships/hyperlink" Target="https://code.visualstudio.com/downloa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1/helloworld.zip"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customXml" Target="../ink/ink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260.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4.png"/><Relationship Id="rId4" Type="http://schemas.openxmlformats.org/officeDocument/2006/relationships/hyperlink" Target="http://www.dribbble.com/"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image" Target="../media/image15.jpeg"/><Relationship Id="rId7" Type="http://schemas.openxmlformats.org/officeDocument/2006/relationships/image" Target="../media/image19.tif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18.tiff"/><Relationship Id="rId5" Type="http://schemas.openxmlformats.org/officeDocument/2006/relationships/image" Target="../media/image17.tiff"/><Relationship Id="rId4" Type="http://schemas.openxmlformats.org/officeDocument/2006/relationships/image" Target="../media/image16.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07AD4BE1-A039-0C39-03C6-B87E08B37A06}"/>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6" name="Picture Placeholder 35">
            <a:extLst>
              <a:ext uri="{FF2B5EF4-FFF2-40B4-BE49-F238E27FC236}">
                <a16:creationId xmlns:a16="http://schemas.microsoft.com/office/drawing/2014/main" id="{984BD025-E8D6-4986-ACB4-348E6D14FD13}"/>
              </a:ext>
            </a:extLst>
          </p:cNvPr>
          <p:cNvPicPr>
            <a:picLocks noGrp="1" noChangeAspect="1"/>
          </p:cNvPicPr>
          <p:nvPr>
            <p:ph type="pic" sz="quarter" idx="13"/>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rcRect l="5490" r="5490"/>
          <a:stretch>
            <a:fillRect/>
          </a:stretch>
        </p:blipFill>
        <p:spPr/>
      </p:pic>
      <p:sp>
        <p:nvSpPr>
          <p:cNvPr id="969"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r>
              <a:rPr lang="en-IN" sz="4000" b="1" i="0" dirty="0">
                <a:solidFill>
                  <a:schemeClr val="accent3"/>
                </a:solidFill>
                <a:effectLst/>
              </a:rPr>
              <a:t>Introduction</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970" name="TextBox 969">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r>
              <a:rPr lang="en-US" sz="16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Welcome to the BTP Architect Training Course, specially designed for senior SAP Consultants planning to provide guidance on SAP BTP Adoption</a:t>
            </a:r>
            <a:endParaRPr lang="en-US" sz="16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982" name="Group 981">
            <a:extLst>
              <a:ext uri="{FF2B5EF4-FFF2-40B4-BE49-F238E27FC236}">
                <a16:creationId xmlns:a16="http://schemas.microsoft.com/office/drawing/2014/main" id="{1C86F990-08A5-4110-8C03-B0D18CCCACC8}"/>
              </a:ext>
            </a:extLst>
          </p:cNvPr>
          <p:cNvGrpSpPr/>
          <p:nvPr/>
        </p:nvGrpSpPr>
        <p:grpSpPr>
          <a:xfrm>
            <a:off x="6006451" y="5654908"/>
            <a:ext cx="617354" cy="109990"/>
            <a:chOff x="6006451" y="5603130"/>
            <a:chExt cx="617354" cy="109990"/>
          </a:xfrm>
        </p:grpSpPr>
        <p:sp>
          <p:nvSpPr>
            <p:cNvPr id="983"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4"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5"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986" name="TextBox 985">
            <a:extLst>
              <a:ext uri="{FF2B5EF4-FFF2-40B4-BE49-F238E27FC236}">
                <a16:creationId xmlns:a16="http://schemas.microsoft.com/office/drawing/2014/main" id="{F654CA03-8569-49F8-9893-34C384845174}"/>
              </a:ext>
            </a:extLst>
          </p:cNvPr>
          <p:cNvSpPr txBox="1"/>
          <p:nvPr/>
        </p:nvSpPr>
        <p:spPr>
          <a:xfrm>
            <a:off x="660392" y="5133729"/>
            <a:ext cx="4405534" cy="1107996"/>
          </a:xfrm>
          <a:prstGeom prst="rect">
            <a:avLst/>
          </a:prstGeom>
          <a:noFill/>
        </p:spPr>
        <p:txBody>
          <a:bodyPr wrap="square" lIns="0" tIns="0" rIns="0" bIns="0" rtlCol="0" anchor="t">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The Course is designed to provide end to end development on SAP Business Technology platform, Deployment, lifecycle and security overview with Hands-on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Tree>
    <p:extLst>
      <p:ext uri="{BB962C8B-B14F-4D97-AF65-F5344CB8AC3E}">
        <p14:creationId xmlns:p14="http://schemas.microsoft.com/office/powerpoint/2010/main" val="5343056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453886" y="1196752"/>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453886" y="295247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453886" y="4708197"/>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118571" y="1449765"/>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923979"/>
              <a:ext cx="2236930"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Environments, Subscriptions, and Services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118571" y="3205484"/>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BTP Use cases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118571" y="4961207"/>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923975"/>
              <a:ext cx="2701525"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Micro service architecture and First Micro service in SAP BTP</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Tools to Setup</a:t>
            </a:r>
          </a:p>
        </p:txBody>
      </p:sp>
      <p:sp>
        <p:nvSpPr>
          <p:cNvPr id="6" name="TextBox 5">
            <a:extLst>
              <a:ext uri="{FF2B5EF4-FFF2-40B4-BE49-F238E27FC236}">
                <a16:creationId xmlns:a16="http://schemas.microsoft.com/office/drawing/2014/main" id="{6A0A19D8-C3C6-3EAF-E522-A7A51752E39E}"/>
              </a:ext>
            </a:extLst>
          </p:cNvPr>
          <p:cNvSpPr txBox="1"/>
          <p:nvPr/>
        </p:nvSpPr>
        <p:spPr>
          <a:xfrm>
            <a:off x="169734" y="908720"/>
            <a:ext cx="11665296" cy="2862322"/>
          </a:xfrm>
          <a:prstGeom prst="rect">
            <a:avLst/>
          </a:prstGeom>
          <a:noFill/>
        </p:spPr>
        <p:txBody>
          <a:bodyPr wrap="square">
            <a:spAutoFit/>
          </a:bodyPr>
          <a:lstStyle/>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Git Setup - </a:t>
            </a: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2"/>
              </a:rPr>
              <a:t>https://git-scm.com/downloads</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CF CLI (Command Line Interface) Tool – allows to communicate/connect to CF</a:t>
            </a:r>
          </a:p>
          <a:p>
            <a:pPr marL="609493" marR="0" lvl="1"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3"/>
              </a:rPr>
              <a:t>https://github.com/cloudfoundry/cli/wiki/V6-CLI-Installation-Guide</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3. Microsoft VS Code - </a:t>
            </a:r>
            <a:r>
              <a:rPr kumimoji="0" lang="en-US" sz="1800" b="0" i="0" u="none" strike="noStrike" kern="1200" cap="none" spc="0" normalizeH="0" baseline="0" noProof="0" dirty="0">
                <a:ln>
                  <a:noFill/>
                </a:ln>
                <a:solidFill>
                  <a:schemeClr val="bg1"/>
                </a:solidFill>
                <a:effectLst/>
                <a:uLnTx/>
                <a:uFillTx/>
                <a:latin typeface="Segoe UI"/>
                <a:ea typeface="+mn-ea"/>
                <a:cs typeface="+mn-cs"/>
                <a:hlinkClick r:id="rId4"/>
              </a:rPr>
              <a:t>https://code.visualstudio.com/download</a:t>
            </a: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2348990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Create First Hello World App and Deploy</a:t>
            </a:r>
          </a:p>
        </p:txBody>
      </p:sp>
      <p:pic>
        <p:nvPicPr>
          <p:cNvPr id="1026" name="Picture 2" descr="Page 3 | Fast Computer Images - Free Download on Freepik">
            <a:extLst>
              <a:ext uri="{FF2B5EF4-FFF2-40B4-BE49-F238E27FC236}">
                <a16:creationId xmlns:a16="http://schemas.microsoft.com/office/drawing/2014/main" id="{CB17146D-A5AA-3AB6-25B8-46606A9857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38628" y="1844824"/>
            <a:ext cx="3429000" cy="3429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2F0BE7D-9C4C-50F1-C3CD-BC16E8BB924F}"/>
              </a:ext>
            </a:extLst>
          </p:cNvPr>
          <p:cNvSpPr txBox="1"/>
          <p:nvPr/>
        </p:nvSpPr>
        <p:spPr>
          <a:xfrm>
            <a:off x="405780" y="1844824"/>
            <a:ext cx="6140244" cy="1569660"/>
          </a:xfrm>
          <a:prstGeom prst="rect">
            <a:avLst/>
          </a:prstGeom>
          <a:noFill/>
        </p:spPr>
        <p:txBody>
          <a:bodyPr wrap="square">
            <a:spAutoFit/>
          </a:bodyPr>
          <a:lstStyle/>
          <a:p>
            <a:r>
              <a:rPr lang="en-US" dirty="0">
                <a:hlinkClick r:id="rId3"/>
              </a:rPr>
              <a:t>https://github.com/soyuztechnologies/BTP_Architect_Training/blob/master/Day%201/helloworld.zip</a:t>
            </a:r>
            <a:endParaRPr lang="en-US" dirty="0"/>
          </a:p>
          <a:p>
            <a:endParaRPr lang="en-US" dirty="0"/>
          </a:p>
        </p:txBody>
      </p:sp>
    </p:spTree>
    <p:extLst>
      <p:ext uri="{BB962C8B-B14F-4D97-AF65-F5344CB8AC3E}">
        <p14:creationId xmlns:p14="http://schemas.microsoft.com/office/powerpoint/2010/main" val="3710963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Under the hood</a:t>
            </a:r>
          </a:p>
        </p:txBody>
      </p:sp>
      <p:pic>
        <p:nvPicPr>
          <p:cNvPr id="3" name="Picture 2">
            <a:extLst>
              <a:ext uri="{FF2B5EF4-FFF2-40B4-BE49-F238E27FC236}">
                <a16:creationId xmlns:a16="http://schemas.microsoft.com/office/drawing/2014/main" id="{684A4760-C74E-7126-049D-F0F0F5F0E17D}"/>
              </a:ext>
            </a:extLst>
          </p:cNvPr>
          <p:cNvPicPr>
            <a:picLocks noChangeAspect="1"/>
          </p:cNvPicPr>
          <p:nvPr/>
        </p:nvPicPr>
        <p:blipFill>
          <a:blip r:embed="rId2"/>
          <a:stretch>
            <a:fillRect/>
          </a:stretch>
        </p:blipFill>
        <p:spPr>
          <a:xfrm>
            <a:off x="693812" y="1196752"/>
            <a:ext cx="10230393" cy="5005294"/>
          </a:xfrm>
          <a:prstGeom prst="rect">
            <a:avLst/>
          </a:prstGeom>
        </p:spPr>
      </p:pic>
    </p:spTree>
    <p:extLst>
      <p:ext uri="{BB962C8B-B14F-4D97-AF65-F5344CB8AC3E}">
        <p14:creationId xmlns:p14="http://schemas.microsoft.com/office/powerpoint/2010/main" val="728551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9543BC9E-8A47-E95B-C95A-6D3FE30C89BE}"/>
                  </a:ext>
                </a:extLst>
              </p14:cNvPr>
              <p14:cNvContentPartPr/>
              <p14:nvPr/>
            </p14:nvContentPartPr>
            <p14:xfrm>
              <a:off x="3394197" y="6663812"/>
              <a:ext cx="360" cy="360"/>
            </p14:xfrm>
          </p:contentPart>
        </mc:Choice>
        <mc:Fallback xmlns="">
          <p:pic>
            <p:nvPicPr>
              <p:cNvPr id="7" name="Ink 6">
                <a:extLst>
                  <a:ext uri="{FF2B5EF4-FFF2-40B4-BE49-F238E27FC236}">
                    <a16:creationId xmlns:a16="http://schemas.microsoft.com/office/drawing/2014/main" id="{9543BC9E-8A47-E95B-C95A-6D3FE30C89BE}"/>
                  </a:ext>
                </a:extLst>
              </p:cNvPr>
              <p:cNvPicPr/>
              <p:nvPr/>
            </p:nvPicPr>
            <p:blipFill>
              <a:blip r:embed="rId5"/>
              <a:stretch>
                <a:fillRect/>
              </a:stretch>
            </p:blipFill>
            <p:spPr>
              <a:xfrm>
                <a:off x="3385557" y="6654812"/>
                <a:ext cx="18000" cy="18000"/>
              </a:xfrm>
              <a:prstGeom prst="rect">
                <a:avLst/>
              </a:prstGeom>
            </p:spPr>
          </p:pic>
        </mc:Fallback>
      </mc:AlternateContent>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58283-344D-8012-890D-E8834E475954}"/>
              </a:ext>
            </a:extLst>
          </p:cNvPr>
          <p:cNvSpPr>
            <a:spLocks noGrp="1"/>
          </p:cNvSpPr>
          <p:nvPr>
            <p:ph type="title"/>
          </p:nvPr>
        </p:nvSpPr>
        <p:spPr/>
        <p:txBody>
          <a:bodyPr/>
          <a:lstStyle/>
          <a:p>
            <a:r>
              <a:rPr lang="en-IN" dirty="0"/>
              <a:t>Uber</a:t>
            </a:r>
          </a:p>
        </p:txBody>
      </p:sp>
    </p:spTree>
    <p:extLst>
      <p:ext uri="{BB962C8B-B14F-4D97-AF65-F5344CB8AC3E}">
        <p14:creationId xmlns:p14="http://schemas.microsoft.com/office/powerpoint/2010/main" val="16296171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8E626-C937-563B-47AE-2E6DC1EBD1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F2369-A430-4B62-FB84-A0D6BE7923C6}"/>
              </a:ext>
            </a:extLst>
          </p:cNvPr>
          <p:cNvSpPr>
            <a:spLocks noGrp="1"/>
          </p:cNvSpPr>
          <p:nvPr>
            <p:ph type="title"/>
          </p:nvPr>
        </p:nvSpPr>
        <p:spPr/>
        <p:txBody>
          <a:bodyPr/>
          <a:lstStyle/>
          <a:p>
            <a:r>
              <a:rPr lang="en-IN" dirty="0"/>
              <a:t>Scaling</a:t>
            </a:r>
          </a:p>
        </p:txBody>
      </p:sp>
    </p:spTree>
    <p:extLst>
      <p:ext uri="{BB962C8B-B14F-4D97-AF65-F5344CB8AC3E}">
        <p14:creationId xmlns:p14="http://schemas.microsoft.com/office/powerpoint/2010/main" val="13987027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34D36-31BF-2ECB-EB78-9799DB170824}"/>
              </a:ext>
            </a:extLst>
          </p:cNvPr>
          <p:cNvSpPr>
            <a:spLocks noGrp="1"/>
          </p:cNvSpPr>
          <p:nvPr>
            <p:ph type="title"/>
          </p:nvPr>
        </p:nvSpPr>
        <p:spPr/>
        <p:txBody>
          <a:bodyPr/>
          <a:lstStyle/>
          <a:p>
            <a:r>
              <a:rPr lang="en-IN" dirty="0"/>
              <a:t>Java Script</a:t>
            </a:r>
          </a:p>
        </p:txBody>
      </p:sp>
      <p:sp>
        <p:nvSpPr>
          <p:cNvPr id="3" name="TextBox 2">
            <a:extLst>
              <a:ext uri="{FF2B5EF4-FFF2-40B4-BE49-F238E27FC236}">
                <a16:creationId xmlns:a16="http://schemas.microsoft.com/office/drawing/2014/main" id="{151B8ED7-4997-1A78-1CA8-8F53F8E527C5}"/>
              </a:ext>
            </a:extLst>
          </p:cNvPr>
          <p:cNvSpPr txBox="1"/>
          <p:nvPr/>
        </p:nvSpPr>
        <p:spPr>
          <a:xfrm>
            <a:off x="189756" y="784925"/>
            <a:ext cx="11809313" cy="3477875"/>
          </a:xfrm>
          <a:prstGeom prst="rect">
            <a:avLst/>
          </a:prstGeom>
          <a:noFill/>
        </p:spPr>
        <p:txBody>
          <a:bodyPr wrap="square" rtlCol="0">
            <a:spAutoFit/>
          </a:bodyPr>
          <a:lstStyle/>
          <a:p>
            <a:pPr marL="342900" indent="-342900">
              <a:buFont typeface="Arial" panose="020B0604020202020204" pitchFamily="34" charset="0"/>
              <a:buChar char="•"/>
            </a:pPr>
            <a:r>
              <a:rPr lang="en-IN" sz="2000" dirty="0">
                <a:solidFill>
                  <a:srgbClr val="FFFF00"/>
                </a:solidFill>
              </a:rPr>
              <a:t>JS is a case-sensitive programming language e.g. </a:t>
            </a:r>
            <a:r>
              <a:rPr lang="en-IN" sz="2000" dirty="0" err="1">
                <a:solidFill>
                  <a:srgbClr val="FFFF00"/>
                </a:solidFill>
              </a:rPr>
              <a:t>iloveindia</a:t>
            </a:r>
            <a:r>
              <a:rPr lang="en-IN" sz="2000" dirty="0">
                <a:solidFill>
                  <a:srgbClr val="FFFF00"/>
                </a:solidFill>
              </a:rPr>
              <a:t> is different from </a:t>
            </a:r>
            <a:r>
              <a:rPr lang="en-IN" sz="2000" dirty="0" err="1">
                <a:solidFill>
                  <a:srgbClr val="FFFF00"/>
                </a:solidFill>
              </a:rPr>
              <a:t>iLoveIndia</a:t>
            </a:r>
            <a:endParaRPr lang="en-IN" sz="2000" dirty="0">
              <a:solidFill>
                <a:srgbClr val="FFFF00"/>
              </a:solidFill>
            </a:endParaRPr>
          </a:p>
          <a:p>
            <a:pPr marL="342900" indent="-342900">
              <a:buFont typeface="Arial" panose="020B0604020202020204" pitchFamily="34" charset="0"/>
              <a:buChar char="•"/>
            </a:pPr>
            <a:r>
              <a:rPr lang="en-IN" sz="2000" dirty="0">
                <a:solidFill>
                  <a:srgbClr val="FFFF00"/>
                </a:solidFill>
              </a:rPr>
              <a:t>Every statement in JS ends with Semi-colon</a:t>
            </a:r>
          </a:p>
          <a:p>
            <a:pPr marL="342900" indent="-342900">
              <a:buFont typeface="Arial" panose="020B0604020202020204" pitchFamily="34" charset="0"/>
              <a:buChar char="•"/>
            </a:pPr>
            <a:r>
              <a:rPr lang="en-IN" sz="2000" dirty="0">
                <a:solidFill>
                  <a:srgbClr val="FFFF00"/>
                </a:solidFill>
              </a:rPr>
              <a:t>When we create a variable or function, we follow camel-case naming convention.</a:t>
            </a:r>
          </a:p>
          <a:p>
            <a:r>
              <a:rPr lang="en-IN" sz="2000" dirty="0" err="1">
                <a:solidFill>
                  <a:srgbClr val="FFFF00"/>
                </a:solidFill>
              </a:rPr>
              <a:t>Iloveindia</a:t>
            </a:r>
            <a:r>
              <a:rPr lang="en-IN" sz="2000" dirty="0">
                <a:solidFill>
                  <a:srgbClr val="FFFF00"/>
                </a:solidFill>
              </a:rPr>
              <a:t> </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iLoveIndia</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wearelearningJS</a:t>
            </a:r>
            <a:r>
              <a:rPr lang="en-IN" sz="2000" dirty="0">
                <a:solidFill>
                  <a:srgbClr val="FFFF00"/>
                </a:solidFill>
                <a:sym typeface="Wingdings" panose="05000000000000000000" pitchFamily="2" charset="2"/>
              </a:rPr>
              <a:t>  </a:t>
            </a:r>
            <a:r>
              <a:rPr lang="en-IN" sz="2000" dirty="0" err="1">
                <a:solidFill>
                  <a:srgbClr val="FFFF00"/>
                </a:solidFill>
                <a:sym typeface="Wingdings" panose="05000000000000000000" pitchFamily="2" charset="2"/>
              </a:rPr>
              <a:t>weAreLearningJS</a:t>
            </a:r>
            <a:endParaRPr lang="en-IN" sz="2000" dirty="0">
              <a:solidFill>
                <a:srgbClr val="FFFF00"/>
              </a:solidFill>
              <a:sym typeface="Wingdings" panose="05000000000000000000" pitchFamily="2" charset="2"/>
            </a:endParaRPr>
          </a:p>
          <a:p>
            <a:pPr marL="342900" indent="-342900">
              <a:buFont typeface="Arial" panose="020B0604020202020204" pitchFamily="34" charset="0"/>
              <a:buChar char="•"/>
            </a:pPr>
            <a:r>
              <a:rPr lang="en-IN" sz="2000" dirty="0">
                <a:solidFill>
                  <a:srgbClr val="FFFF00"/>
                </a:solidFill>
                <a:sym typeface="Wingdings" panose="05000000000000000000" pitchFamily="2" charset="2"/>
              </a:rPr>
              <a:t>If you create a variable and do not assign a value to it, it becomes NULL, any operation with NULL becomes NULL</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When we create variables, we don’t need to assign data types, based on the value, the data type will be assigned automatically.</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The = is an assignment operator and ==, === are comparison operator  IF(a===b)</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Java Script is a </a:t>
            </a:r>
            <a:r>
              <a:rPr lang="en-IN" sz="2000" u="sng" dirty="0">
                <a:solidFill>
                  <a:srgbClr val="FFFF00"/>
                </a:solidFill>
                <a:sym typeface="Wingdings" panose="05000000000000000000" pitchFamily="2" charset="2"/>
              </a:rPr>
              <a:t>Asynchronous Non Blocking IO </a:t>
            </a:r>
            <a:r>
              <a:rPr lang="en-IN" sz="2000" dirty="0">
                <a:solidFill>
                  <a:srgbClr val="FFFF00"/>
                </a:solidFill>
                <a:sym typeface="Wingdings" panose="05000000000000000000" pitchFamily="2" charset="2"/>
              </a:rPr>
              <a:t>programming language</a:t>
            </a:r>
          </a:p>
          <a:p>
            <a:pPr marL="342900" indent="-342900">
              <a:buFont typeface="Arial" panose="020B0604020202020204" pitchFamily="34" charset="0"/>
              <a:buChar char="•"/>
            </a:pPr>
            <a:endParaRPr lang="en-IN" sz="2000" dirty="0">
              <a:solidFill>
                <a:srgbClr val="FFFF00"/>
              </a:solidFill>
            </a:endParaRPr>
          </a:p>
        </p:txBody>
      </p:sp>
    </p:spTree>
    <p:extLst>
      <p:ext uri="{BB962C8B-B14F-4D97-AF65-F5344CB8AC3E}">
        <p14:creationId xmlns:p14="http://schemas.microsoft.com/office/powerpoint/2010/main" val="419470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256EF-8058-9348-D163-F9CF8D8E55B6}"/>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1F25AA40-EABB-2E21-9646-99394B3CFEA6}"/>
              </a:ext>
            </a:extLst>
          </p:cNvPr>
          <p:cNvSpPr/>
          <p:nvPr/>
        </p:nvSpPr>
        <p:spPr>
          <a:xfrm>
            <a:off x="765820" y="1124744"/>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Scalar Variables</a:t>
            </a:r>
          </a:p>
        </p:txBody>
      </p:sp>
      <p:sp>
        <p:nvSpPr>
          <p:cNvPr id="4" name="Rectangle 3">
            <a:extLst>
              <a:ext uri="{FF2B5EF4-FFF2-40B4-BE49-F238E27FC236}">
                <a16:creationId xmlns:a16="http://schemas.microsoft.com/office/drawing/2014/main" id="{E0867525-E43F-E549-F2C3-4B70A9760A10}"/>
              </a:ext>
            </a:extLst>
          </p:cNvPr>
          <p:cNvSpPr/>
          <p:nvPr/>
        </p:nvSpPr>
        <p:spPr>
          <a:xfrm>
            <a:off x="494228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Array</a:t>
            </a:r>
          </a:p>
        </p:txBody>
      </p:sp>
      <p:sp>
        <p:nvSpPr>
          <p:cNvPr id="5" name="Rectangle 4">
            <a:extLst>
              <a:ext uri="{FF2B5EF4-FFF2-40B4-BE49-F238E27FC236}">
                <a16:creationId xmlns:a16="http://schemas.microsoft.com/office/drawing/2014/main" id="{B028E0A2-58FF-DF31-76A3-A64FD7942A7F}"/>
              </a:ext>
            </a:extLst>
          </p:cNvPr>
          <p:cNvSpPr/>
          <p:nvPr/>
        </p:nvSpPr>
        <p:spPr>
          <a:xfrm>
            <a:off x="890272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Objects</a:t>
            </a:r>
          </a:p>
        </p:txBody>
      </p:sp>
      <mc:AlternateContent xmlns:mc="http://schemas.openxmlformats.org/markup-compatibility/2006" xmlns:p14="http://schemas.microsoft.com/office/powerpoint/2010/main">
        <mc:Choice Requires="p14">
          <p:contentPart p14:bwMode="auto" r:id="rId2">
            <p14:nvContentPartPr>
              <p14:cNvPr id="234" name="Ink 233">
                <a:extLst>
                  <a:ext uri="{FF2B5EF4-FFF2-40B4-BE49-F238E27FC236}">
                    <a16:creationId xmlns:a16="http://schemas.microsoft.com/office/drawing/2014/main" id="{A55BC179-4D92-3BBA-CC6E-C96054380151}"/>
                  </a:ext>
                </a:extLst>
              </p14:cNvPr>
              <p14:cNvContentPartPr/>
              <p14:nvPr/>
            </p14:nvContentPartPr>
            <p14:xfrm>
              <a:off x="4529325" y="992830"/>
              <a:ext cx="360" cy="360"/>
            </p14:xfrm>
          </p:contentPart>
        </mc:Choice>
        <mc:Fallback xmlns="">
          <p:pic>
            <p:nvPicPr>
              <p:cNvPr id="234" name="Ink 233">
                <a:extLst>
                  <a:ext uri="{FF2B5EF4-FFF2-40B4-BE49-F238E27FC236}">
                    <a16:creationId xmlns:a16="http://schemas.microsoft.com/office/drawing/2014/main" id="{A55BC179-4D92-3BBA-CC6E-C96054380151}"/>
                  </a:ext>
                </a:extLst>
              </p:cNvPr>
              <p:cNvPicPr/>
              <p:nvPr/>
            </p:nvPicPr>
            <p:blipFill>
              <a:blip r:embed="rId3"/>
              <a:stretch>
                <a:fillRect/>
              </a:stretch>
            </p:blipFill>
            <p:spPr>
              <a:xfrm>
                <a:off x="4520685" y="984190"/>
                <a:ext cx="18000" cy="18000"/>
              </a:xfrm>
              <a:prstGeom prst="rect">
                <a:avLst/>
              </a:prstGeom>
            </p:spPr>
          </p:pic>
        </mc:Fallback>
      </mc:AlternateContent>
    </p:spTree>
    <p:extLst>
      <p:ext uri="{BB962C8B-B14F-4D97-AF65-F5344CB8AC3E}">
        <p14:creationId xmlns:p14="http://schemas.microsoft.com/office/powerpoint/2010/main" val="12468190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Variables in JS</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7055</TotalTime>
  <Words>1017</Words>
  <Application>Microsoft Office PowerPoint</Application>
  <PresentationFormat>Custom</PresentationFormat>
  <Paragraphs>130</Paragraphs>
  <Slides>21</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Amasis MT Pro Black</vt:lpstr>
      <vt:lpstr>Arial</vt:lpstr>
      <vt:lpstr>Arial Black</vt:lpstr>
      <vt:lpstr>Arial-ItalicMT</vt:lpstr>
      <vt:lpstr>Calibri</vt:lpstr>
      <vt:lpstr>Cooper Black</vt:lpstr>
      <vt:lpstr>Segoe UI</vt:lpstr>
      <vt:lpstr>Segoe UI Light</vt:lpstr>
      <vt:lpstr>Wingdings</vt:lpstr>
      <vt:lpstr>Office Theme</vt:lpstr>
      <vt:lpstr>SAP BTP Extension Suite Training</vt:lpstr>
      <vt:lpstr>PowerPoint Presentation</vt:lpstr>
      <vt:lpstr>PowerPoint Presentation</vt:lpstr>
      <vt:lpstr>Agenda</vt:lpstr>
      <vt:lpstr>Tools to Setup</vt:lpstr>
      <vt:lpstr>Create First Hello World App and Deploy</vt:lpstr>
      <vt:lpstr>Under the hood</vt:lpstr>
      <vt:lpstr>Micro Service Architecture</vt:lpstr>
      <vt:lpstr>Advantage of Microservices</vt:lpstr>
      <vt:lpstr>Uber</vt:lpstr>
      <vt:lpstr>Scaling</vt:lpstr>
      <vt:lpstr>What is Node JS</vt:lpstr>
      <vt:lpstr>Java Script</vt:lpstr>
      <vt:lpstr>Variables</vt:lpstr>
      <vt:lpstr>NPM – Node Package manager</vt:lpstr>
      <vt:lpstr>Hands on: Node JS</vt:lpstr>
      <vt:lpstr>Variables in JS</vt:lpstr>
      <vt:lpstr>Asynchronous Non Blocking IO</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164</cp:revision>
  <dcterms:created xsi:type="dcterms:W3CDTF">2013-09-12T13:05:01Z</dcterms:created>
  <dcterms:modified xsi:type="dcterms:W3CDTF">2026-06-16T06:45:43Z</dcterms:modified>
</cp:coreProperties>
</file>