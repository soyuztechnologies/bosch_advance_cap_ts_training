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96" r:id="rId3"/>
  </p:sldMasterIdLst>
  <p:notesMasterIdLst>
    <p:notesMasterId r:id="rId88"/>
  </p:notesMasterIdLst>
  <p:sldIdLst>
    <p:sldId id="276" r:id="rId4"/>
    <p:sldId id="4122" r:id="rId5"/>
    <p:sldId id="277" r:id="rId6"/>
    <p:sldId id="301" r:id="rId7"/>
    <p:sldId id="295" r:id="rId8"/>
    <p:sldId id="425" r:id="rId9"/>
    <p:sldId id="426" r:id="rId10"/>
    <p:sldId id="427" r:id="rId11"/>
    <p:sldId id="428" r:id="rId12"/>
    <p:sldId id="456" r:id="rId13"/>
    <p:sldId id="257" r:id="rId14"/>
    <p:sldId id="258" r:id="rId15"/>
    <p:sldId id="457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4712" r:id="rId33"/>
    <p:sldId id="4713" r:id="rId34"/>
    <p:sldId id="278" r:id="rId35"/>
    <p:sldId id="279" r:id="rId36"/>
    <p:sldId id="4714" r:id="rId37"/>
    <p:sldId id="281" r:id="rId38"/>
    <p:sldId id="4715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458" r:id="rId48"/>
    <p:sldId id="459" r:id="rId49"/>
    <p:sldId id="460" r:id="rId50"/>
    <p:sldId id="461" r:id="rId51"/>
    <p:sldId id="462" r:id="rId52"/>
    <p:sldId id="463" r:id="rId53"/>
    <p:sldId id="464" r:id="rId54"/>
    <p:sldId id="465" r:id="rId55"/>
    <p:sldId id="466" r:id="rId56"/>
    <p:sldId id="467" r:id="rId57"/>
    <p:sldId id="468" r:id="rId58"/>
    <p:sldId id="469" r:id="rId59"/>
    <p:sldId id="470" r:id="rId60"/>
    <p:sldId id="471" r:id="rId61"/>
    <p:sldId id="472" r:id="rId62"/>
    <p:sldId id="473" r:id="rId63"/>
    <p:sldId id="474" r:id="rId64"/>
    <p:sldId id="475" r:id="rId65"/>
    <p:sldId id="476" r:id="rId66"/>
    <p:sldId id="477" r:id="rId67"/>
    <p:sldId id="478" r:id="rId68"/>
    <p:sldId id="479" r:id="rId69"/>
    <p:sldId id="480" r:id="rId70"/>
    <p:sldId id="481" r:id="rId71"/>
    <p:sldId id="482" r:id="rId72"/>
    <p:sldId id="483" r:id="rId73"/>
    <p:sldId id="484" r:id="rId74"/>
    <p:sldId id="485" r:id="rId75"/>
    <p:sldId id="486" r:id="rId76"/>
    <p:sldId id="487" r:id="rId77"/>
    <p:sldId id="488" r:id="rId78"/>
    <p:sldId id="489" r:id="rId79"/>
    <p:sldId id="490" r:id="rId80"/>
    <p:sldId id="491" r:id="rId81"/>
    <p:sldId id="492" r:id="rId82"/>
    <p:sldId id="291" r:id="rId83"/>
    <p:sldId id="292" r:id="rId84"/>
    <p:sldId id="282" r:id="rId85"/>
    <p:sldId id="280" r:id="rId86"/>
    <p:sldId id="4711" r:id="rId8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320" y="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viewProps" Target="viewProps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84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6378C3B-E184-A1ED-97D3-9127CD4946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710" y="1325486"/>
            <a:ext cx="5002372" cy="4247185"/>
          </a:xfrm>
          <a:custGeom>
            <a:avLst/>
            <a:gdLst>
              <a:gd name="connsiteX0" fmla="*/ 2017799 w 5003675"/>
              <a:gd name="connsiteY0" fmla="*/ 3 h 4247185"/>
              <a:gd name="connsiteX1" fmla="*/ 2666935 w 5003675"/>
              <a:gd name="connsiteY1" fmla="*/ 270746 h 4247185"/>
              <a:gd name="connsiteX2" fmla="*/ 5003675 w 5003675"/>
              <a:gd name="connsiteY2" fmla="*/ 2618943 h 4247185"/>
              <a:gd name="connsiteX3" fmla="*/ 3636329 w 5003675"/>
              <a:gd name="connsiteY3" fmla="*/ 3979618 h 4247185"/>
              <a:gd name="connsiteX4" fmla="*/ 2336740 w 5003675"/>
              <a:gd name="connsiteY4" fmla="*/ 3976439 h 4247185"/>
              <a:gd name="connsiteX5" fmla="*/ 0 w 5003675"/>
              <a:gd name="connsiteY5" fmla="*/ 1628243 h 4247185"/>
              <a:gd name="connsiteX6" fmla="*/ 1367347 w 5003675"/>
              <a:gd name="connsiteY6" fmla="*/ 267568 h 4247185"/>
              <a:gd name="connsiteX7" fmla="*/ 2017799 w 5003675"/>
              <a:gd name="connsiteY7" fmla="*/ 3 h 4247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3675" h="4247185">
                <a:moveTo>
                  <a:pt x="2017799" y="3"/>
                </a:moveTo>
                <a:cubicBezTo>
                  <a:pt x="2252978" y="578"/>
                  <a:pt x="2487938" y="90871"/>
                  <a:pt x="2666935" y="270746"/>
                </a:cubicBezTo>
                <a:lnTo>
                  <a:pt x="5003675" y="2618943"/>
                </a:lnTo>
                <a:lnTo>
                  <a:pt x="3636329" y="3979618"/>
                </a:lnTo>
                <a:cubicBezTo>
                  <a:pt x="3276579" y="4337612"/>
                  <a:pt x="2694734" y="4336189"/>
                  <a:pt x="2336740" y="3976439"/>
                </a:cubicBezTo>
                <a:lnTo>
                  <a:pt x="0" y="1628243"/>
                </a:lnTo>
                <a:lnTo>
                  <a:pt x="1367347" y="267568"/>
                </a:lnTo>
                <a:cubicBezTo>
                  <a:pt x="1547222" y="88571"/>
                  <a:pt x="1782620" y="-572"/>
                  <a:pt x="2017799" y="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6753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35D361-ABEE-D79C-865F-AA6BA0283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65364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C5DDD57-31F3-A936-88B6-B56E3475F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E843CF-E274-2A06-E086-3AB252A4C9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17008" y="680012"/>
            <a:ext cx="4191362" cy="5497976"/>
          </a:xfrm>
          <a:custGeom>
            <a:avLst/>
            <a:gdLst>
              <a:gd name="connsiteX0" fmla="*/ 2096227 w 4192454"/>
              <a:gd name="connsiteY0" fmla="*/ 0 h 5497976"/>
              <a:gd name="connsiteX1" fmla="*/ 4192454 w 4192454"/>
              <a:gd name="connsiteY1" fmla="*/ 0 h 5497976"/>
              <a:gd name="connsiteX2" fmla="*/ 4192454 w 4192454"/>
              <a:gd name="connsiteY2" fmla="*/ 3401749 h 5497976"/>
              <a:gd name="connsiteX3" fmla="*/ 2096227 w 4192454"/>
              <a:gd name="connsiteY3" fmla="*/ 5497976 h 5497976"/>
              <a:gd name="connsiteX4" fmla="*/ 0 w 4192454"/>
              <a:gd name="connsiteY4" fmla="*/ 5497976 h 5497976"/>
              <a:gd name="connsiteX5" fmla="*/ 0 w 4192454"/>
              <a:gd name="connsiteY5" fmla="*/ 2096227 h 5497976"/>
              <a:gd name="connsiteX6" fmla="*/ 2096227 w 4192454"/>
              <a:gd name="connsiteY6" fmla="*/ 0 h 5497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2454" h="5497976">
                <a:moveTo>
                  <a:pt x="2096227" y="0"/>
                </a:moveTo>
                <a:lnTo>
                  <a:pt x="4192454" y="0"/>
                </a:lnTo>
                <a:lnTo>
                  <a:pt x="4192454" y="3401749"/>
                </a:lnTo>
                <a:cubicBezTo>
                  <a:pt x="4192454" y="4559463"/>
                  <a:pt x="3253941" y="5497976"/>
                  <a:pt x="2096227" y="5497976"/>
                </a:cubicBezTo>
                <a:lnTo>
                  <a:pt x="0" y="5497976"/>
                </a:lnTo>
                <a:lnTo>
                  <a:pt x="0" y="2096227"/>
                </a:lnTo>
                <a:cubicBezTo>
                  <a:pt x="0" y="938513"/>
                  <a:pt x="938513" y="0"/>
                  <a:pt x="20962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5994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F7B7BF-954B-E717-9848-38C7072F5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693CE21-91E7-2D69-9690-1A156A7957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569" y="3871154"/>
            <a:ext cx="4992554" cy="2676124"/>
          </a:xfrm>
          <a:custGeom>
            <a:avLst/>
            <a:gdLst>
              <a:gd name="connsiteX0" fmla="*/ 446030 w 4993854"/>
              <a:gd name="connsiteY0" fmla="*/ 0 h 2676124"/>
              <a:gd name="connsiteX1" fmla="*/ 4993854 w 4993854"/>
              <a:gd name="connsiteY1" fmla="*/ 0 h 2676124"/>
              <a:gd name="connsiteX2" fmla="*/ 4993854 w 4993854"/>
              <a:gd name="connsiteY2" fmla="*/ 2230094 h 2676124"/>
              <a:gd name="connsiteX3" fmla="*/ 4547824 w 4993854"/>
              <a:gd name="connsiteY3" fmla="*/ 2676124 h 2676124"/>
              <a:gd name="connsiteX4" fmla="*/ 0 w 4993854"/>
              <a:gd name="connsiteY4" fmla="*/ 2676124 h 2676124"/>
              <a:gd name="connsiteX5" fmla="*/ 0 w 4993854"/>
              <a:gd name="connsiteY5" fmla="*/ 446030 h 2676124"/>
              <a:gd name="connsiteX6" fmla="*/ 446030 w 4993854"/>
              <a:gd name="connsiteY6" fmla="*/ 0 h 267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854" h="2676124">
                <a:moveTo>
                  <a:pt x="446030" y="0"/>
                </a:moveTo>
                <a:lnTo>
                  <a:pt x="4993854" y="0"/>
                </a:lnTo>
                <a:lnTo>
                  <a:pt x="4993854" y="2230094"/>
                </a:lnTo>
                <a:cubicBezTo>
                  <a:pt x="4993854" y="2476430"/>
                  <a:pt x="4794160" y="2676124"/>
                  <a:pt x="4547824" y="2676124"/>
                </a:cubicBezTo>
                <a:lnTo>
                  <a:pt x="0" y="2676124"/>
                </a:lnTo>
                <a:lnTo>
                  <a:pt x="0" y="446030"/>
                </a:lnTo>
                <a:cubicBezTo>
                  <a:pt x="0" y="199694"/>
                  <a:pt x="199694" y="0"/>
                  <a:pt x="4460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6181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3F07389-8932-42FB-F708-932E2263F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2307014"/>
            <a:ext cx="3407233" cy="112198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91222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ADEE87-6030-E1DA-86A9-0872B31F16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3185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EA10585-713E-0C3F-37FB-777EB8FFE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40565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17048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680AFC-5A5D-E566-4767-30630FF92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7225884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1459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2D4ED0-A469-1D30-D0B9-075007FDB1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443990"/>
            <a:ext cx="3684954" cy="107721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73057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9D3FF98-2D57-B6D5-34A1-E29FC9D40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05271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91585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53A74ED-76FC-8CC0-D7E9-B3BEDEC06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8255762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81594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C9C5D43-2BAE-AA68-28A0-B95983F143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85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C439F7A-5536-B6C0-F563-E47C03FC5E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93637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EEFA0-64F6-654A-EE27-E4ED44358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08424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336F180-1189-E865-EC9D-3A737DFE33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320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1681684-B50D-931D-5AC8-80568BFA9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941428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66895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7BF7C55-2A56-B649-6B81-0CD6A253F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0D99CB-7D8E-D735-B5D0-393275D617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75517" y="0"/>
            <a:ext cx="4013310" cy="6858000"/>
          </a:xfrm>
          <a:custGeom>
            <a:avLst/>
            <a:gdLst>
              <a:gd name="connsiteX0" fmla="*/ 0 w 4014355"/>
              <a:gd name="connsiteY0" fmla="*/ 0 h 6858000"/>
              <a:gd name="connsiteX1" fmla="*/ 4014355 w 4014355"/>
              <a:gd name="connsiteY1" fmla="*/ 0 h 6858000"/>
              <a:gd name="connsiteX2" fmla="*/ 4014355 w 4014355"/>
              <a:gd name="connsiteY2" fmla="*/ 6858000 h 6858000"/>
              <a:gd name="connsiteX3" fmla="*/ 0 w 4014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4355" h="6858000">
                <a:moveTo>
                  <a:pt x="0" y="0"/>
                </a:moveTo>
                <a:lnTo>
                  <a:pt x="4014355" y="0"/>
                </a:lnTo>
                <a:lnTo>
                  <a:pt x="401435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967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038D30-D0CE-FB58-3CB7-714B70054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80334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16451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FD9CB8F-45B4-E333-AB67-85836ED65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971551"/>
            <a:ext cx="5691609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5380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D4F87C9-AFD5-D11D-A745-9B8F1A936B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2199501"/>
            <a:ext cx="4234029" cy="5539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7E5E00-74B3-AADD-0627-BA27887FE8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3962" y="538775"/>
            <a:ext cx="2239697" cy="1783080"/>
          </a:xfrm>
          <a:custGeom>
            <a:avLst/>
            <a:gdLst>
              <a:gd name="connsiteX0" fmla="*/ 125600 w 2240280"/>
              <a:gd name="connsiteY0" fmla="*/ 0 h 1783080"/>
              <a:gd name="connsiteX1" fmla="*/ 2114680 w 2240280"/>
              <a:gd name="connsiteY1" fmla="*/ 0 h 1783080"/>
              <a:gd name="connsiteX2" fmla="*/ 2240280 w 2240280"/>
              <a:gd name="connsiteY2" fmla="*/ 125600 h 1783080"/>
              <a:gd name="connsiteX3" fmla="*/ 2240280 w 2240280"/>
              <a:gd name="connsiteY3" fmla="*/ 1657480 h 1783080"/>
              <a:gd name="connsiteX4" fmla="*/ 2114680 w 2240280"/>
              <a:gd name="connsiteY4" fmla="*/ 1783080 h 1783080"/>
              <a:gd name="connsiteX5" fmla="*/ 125600 w 2240280"/>
              <a:gd name="connsiteY5" fmla="*/ 1783080 h 1783080"/>
              <a:gd name="connsiteX6" fmla="*/ 0 w 2240280"/>
              <a:gd name="connsiteY6" fmla="*/ 1657480 h 1783080"/>
              <a:gd name="connsiteX7" fmla="*/ 0 w 2240280"/>
              <a:gd name="connsiteY7" fmla="*/ 125600 h 1783080"/>
              <a:gd name="connsiteX8" fmla="*/ 125600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5600" y="0"/>
                </a:moveTo>
                <a:lnTo>
                  <a:pt x="2114680" y="0"/>
                </a:lnTo>
                <a:cubicBezTo>
                  <a:pt x="2184047" y="0"/>
                  <a:pt x="2240280" y="56233"/>
                  <a:pt x="2240280" y="125600"/>
                </a:cubicBezTo>
                <a:lnTo>
                  <a:pt x="2240280" y="1657480"/>
                </a:lnTo>
                <a:cubicBezTo>
                  <a:pt x="2240280" y="1726847"/>
                  <a:pt x="2184047" y="1783080"/>
                  <a:pt x="2114680" y="1783080"/>
                </a:cubicBezTo>
                <a:lnTo>
                  <a:pt x="125600" y="1783080"/>
                </a:lnTo>
                <a:cubicBezTo>
                  <a:pt x="56233" y="1783080"/>
                  <a:pt x="0" y="1726847"/>
                  <a:pt x="0" y="1657480"/>
                </a:cubicBezTo>
                <a:lnTo>
                  <a:pt x="0" y="125600"/>
                </a:lnTo>
                <a:cubicBezTo>
                  <a:pt x="0" y="56233"/>
                  <a:pt x="56233" y="0"/>
                  <a:pt x="125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88FFE2A-D715-1690-3C75-E65A19C626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03962" y="2537460"/>
            <a:ext cx="2239697" cy="1783080"/>
          </a:xfrm>
          <a:custGeom>
            <a:avLst/>
            <a:gdLst>
              <a:gd name="connsiteX0" fmla="*/ 118539 w 2240280"/>
              <a:gd name="connsiteY0" fmla="*/ 0 h 1783080"/>
              <a:gd name="connsiteX1" fmla="*/ 2121741 w 2240280"/>
              <a:gd name="connsiteY1" fmla="*/ 0 h 1783080"/>
              <a:gd name="connsiteX2" fmla="*/ 2240280 w 2240280"/>
              <a:gd name="connsiteY2" fmla="*/ 118539 h 1783080"/>
              <a:gd name="connsiteX3" fmla="*/ 2240280 w 2240280"/>
              <a:gd name="connsiteY3" fmla="*/ 1664541 h 1783080"/>
              <a:gd name="connsiteX4" fmla="*/ 2121741 w 2240280"/>
              <a:gd name="connsiteY4" fmla="*/ 1783080 h 1783080"/>
              <a:gd name="connsiteX5" fmla="*/ 118539 w 2240280"/>
              <a:gd name="connsiteY5" fmla="*/ 1783080 h 1783080"/>
              <a:gd name="connsiteX6" fmla="*/ 0 w 2240280"/>
              <a:gd name="connsiteY6" fmla="*/ 1664541 h 1783080"/>
              <a:gd name="connsiteX7" fmla="*/ 0 w 2240280"/>
              <a:gd name="connsiteY7" fmla="*/ 118539 h 1783080"/>
              <a:gd name="connsiteX8" fmla="*/ 11853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18539" y="0"/>
                </a:moveTo>
                <a:lnTo>
                  <a:pt x="2121741" y="0"/>
                </a:lnTo>
                <a:cubicBezTo>
                  <a:pt x="2187208" y="0"/>
                  <a:pt x="2240280" y="53072"/>
                  <a:pt x="2240280" y="118539"/>
                </a:cubicBezTo>
                <a:lnTo>
                  <a:pt x="2240280" y="1664541"/>
                </a:lnTo>
                <a:cubicBezTo>
                  <a:pt x="2240280" y="1730008"/>
                  <a:pt x="2187208" y="1783080"/>
                  <a:pt x="2121741" y="1783080"/>
                </a:cubicBezTo>
                <a:lnTo>
                  <a:pt x="118539" y="1783080"/>
                </a:lnTo>
                <a:cubicBezTo>
                  <a:pt x="53072" y="1783080"/>
                  <a:pt x="0" y="1730008"/>
                  <a:pt x="0" y="1664541"/>
                </a:cubicBezTo>
                <a:lnTo>
                  <a:pt x="0" y="118539"/>
                </a:lnTo>
                <a:cubicBezTo>
                  <a:pt x="0" y="53072"/>
                  <a:pt x="53072" y="0"/>
                  <a:pt x="1185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9AEC7D6-C7F6-C6DD-7A93-7F15BDB694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3962" y="4536145"/>
            <a:ext cx="2239697" cy="1783080"/>
          </a:xfrm>
          <a:custGeom>
            <a:avLst/>
            <a:gdLst>
              <a:gd name="connsiteX0" fmla="*/ 124459 w 2240280"/>
              <a:gd name="connsiteY0" fmla="*/ 0 h 1783080"/>
              <a:gd name="connsiteX1" fmla="*/ 2115821 w 2240280"/>
              <a:gd name="connsiteY1" fmla="*/ 0 h 1783080"/>
              <a:gd name="connsiteX2" fmla="*/ 2240280 w 2240280"/>
              <a:gd name="connsiteY2" fmla="*/ 124459 h 1783080"/>
              <a:gd name="connsiteX3" fmla="*/ 2240280 w 2240280"/>
              <a:gd name="connsiteY3" fmla="*/ 1658621 h 1783080"/>
              <a:gd name="connsiteX4" fmla="*/ 2115821 w 2240280"/>
              <a:gd name="connsiteY4" fmla="*/ 1783080 h 1783080"/>
              <a:gd name="connsiteX5" fmla="*/ 124459 w 2240280"/>
              <a:gd name="connsiteY5" fmla="*/ 1783080 h 1783080"/>
              <a:gd name="connsiteX6" fmla="*/ 0 w 2240280"/>
              <a:gd name="connsiteY6" fmla="*/ 1658621 h 1783080"/>
              <a:gd name="connsiteX7" fmla="*/ 0 w 2240280"/>
              <a:gd name="connsiteY7" fmla="*/ 124459 h 1783080"/>
              <a:gd name="connsiteX8" fmla="*/ 12445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4459" y="0"/>
                </a:moveTo>
                <a:lnTo>
                  <a:pt x="2115821" y="0"/>
                </a:lnTo>
                <a:cubicBezTo>
                  <a:pt x="2184558" y="0"/>
                  <a:pt x="2240280" y="55722"/>
                  <a:pt x="2240280" y="124459"/>
                </a:cubicBezTo>
                <a:lnTo>
                  <a:pt x="2240280" y="1658621"/>
                </a:lnTo>
                <a:cubicBezTo>
                  <a:pt x="2240280" y="1727358"/>
                  <a:pt x="2184558" y="1783080"/>
                  <a:pt x="2115821" y="1783080"/>
                </a:cubicBezTo>
                <a:lnTo>
                  <a:pt x="124459" y="1783080"/>
                </a:lnTo>
                <a:cubicBezTo>
                  <a:pt x="55722" y="1783080"/>
                  <a:pt x="0" y="1727358"/>
                  <a:pt x="0" y="1658621"/>
                </a:cubicBezTo>
                <a:lnTo>
                  <a:pt x="0" y="124459"/>
                </a:lnTo>
                <a:cubicBezTo>
                  <a:pt x="0" y="55722"/>
                  <a:pt x="55722" y="0"/>
                  <a:pt x="1244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85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EBD1DE8-A38D-041F-7BE7-63EB75067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94CE71-D989-A01B-2541-02035A315D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91136" y="1"/>
            <a:ext cx="4997689" cy="6858000"/>
          </a:xfrm>
          <a:custGeom>
            <a:avLst/>
            <a:gdLst>
              <a:gd name="connsiteX0" fmla="*/ 2276199 w 4998991"/>
              <a:gd name="connsiteY0" fmla="*/ 0 h 6858000"/>
              <a:gd name="connsiteX1" fmla="*/ 4998991 w 4998991"/>
              <a:gd name="connsiteY1" fmla="*/ 0 h 6858000"/>
              <a:gd name="connsiteX2" fmla="*/ 4998991 w 4998991"/>
              <a:gd name="connsiteY2" fmla="*/ 6858000 h 6858000"/>
              <a:gd name="connsiteX3" fmla="*/ 3385646 w 4998991"/>
              <a:gd name="connsiteY3" fmla="*/ 6858000 h 6858000"/>
              <a:gd name="connsiteX4" fmla="*/ 568771 w 4998991"/>
              <a:gd name="connsiteY4" fmla="*/ 5231676 h 6858000"/>
              <a:gd name="connsiteX5" fmla="*/ 152541 w 4998991"/>
              <a:gd name="connsiteY5" fmla="*/ 36782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991" h="6858000">
                <a:moveTo>
                  <a:pt x="2276199" y="0"/>
                </a:moveTo>
                <a:lnTo>
                  <a:pt x="4998991" y="0"/>
                </a:lnTo>
                <a:lnTo>
                  <a:pt x="4998991" y="6858000"/>
                </a:lnTo>
                <a:lnTo>
                  <a:pt x="3385646" y="6858000"/>
                </a:lnTo>
                <a:lnTo>
                  <a:pt x="568771" y="5231676"/>
                </a:lnTo>
                <a:cubicBezTo>
                  <a:pt x="24875" y="4917657"/>
                  <a:pt x="-161478" y="4222181"/>
                  <a:pt x="152541" y="367828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920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0C56D3C-4260-8E27-5665-613701086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793638"/>
            <a:ext cx="3522950" cy="110799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0016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B8B3CA3-442F-6635-C547-4290D042B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630015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27093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7687893-67B4-A936-3437-9722BD4273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715386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35663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3227017-0470-41EB-12C4-6E8CCAF5B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77C54E-8E8F-1DF8-C6DB-2862B452F3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51447" y="1911755"/>
            <a:ext cx="4597810" cy="3854275"/>
          </a:xfrm>
          <a:custGeom>
            <a:avLst/>
            <a:gdLst>
              <a:gd name="connsiteX0" fmla="*/ 642392 w 4599008"/>
              <a:gd name="connsiteY0" fmla="*/ 0 h 3854275"/>
              <a:gd name="connsiteX1" fmla="*/ 4599008 w 4599008"/>
              <a:gd name="connsiteY1" fmla="*/ 0 h 3854275"/>
              <a:gd name="connsiteX2" fmla="*/ 4599008 w 4599008"/>
              <a:gd name="connsiteY2" fmla="*/ 3211883 h 3854275"/>
              <a:gd name="connsiteX3" fmla="*/ 3956616 w 4599008"/>
              <a:gd name="connsiteY3" fmla="*/ 3854275 h 3854275"/>
              <a:gd name="connsiteX4" fmla="*/ 0 w 4599008"/>
              <a:gd name="connsiteY4" fmla="*/ 3854275 h 3854275"/>
              <a:gd name="connsiteX5" fmla="*/ 0 w 4599008"/>
              <a:gd name="connsiteY5" fmla="*/ 642392 h 3854275"/>
              <a:gd name="connsiteX6" fmla="*/ 642392 w 4599008"/>
              <a:gd name="connsiteY6" fmla="*/ 0 h 385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9008" h="3854275">
                <a:moveTo>
                  <a:pt x="642392" y="0"/>
                </a:moveTo>
                <a:lnTo>
                  <a:pt x="4599008" y="0"/>
                </a:lnTo>
                <a:lnTo>
                  <a:pt x="4599008" y="3211883"/>
                </a:lnTo>
                <a:cubicBezTo>
                  <a:pt x="4599008" y="3566666"/>
                  <a:pt x="4311399" y="3854275"/>
                  <a:pt x="3956616" y="3854275"/>
                </a:cubicBezTo>
                <a:lnTo>
                  <a:pt x="0" y="3854275"/>
                </a:lnTo>
                <a:lnTo>
                  <a:pt x="0" y="642392"/>
                </a:lnTo>
                <a:cubicBezTo>
                  <a:pt x="0" y="287609"/>
                  <a:pt x="287609" y="0"/>
                  <a:pt x="6423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6982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963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515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80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548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24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762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88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859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38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059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197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4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7E282-A3FD-8FDF-6938-39CB1940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E0A95-6555-5CE0-2B04-590BB888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3B31-96C7-188A-7A1F-74625996B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0145F-FA58-4242-A5B4-590FCCB69A0F}" type="datetimeFigureOut">
              <a:rPr lang="en-PK" smtClean="0"/>
              <a:t>08/24/2026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98D10-484E-D76E-8BED-E65AE316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0257-D808-F7F3-9DDC-7F1794A6B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DFB9D-E974-4984-B692-DF7D1E2E45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226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hyperlink" Target="http://www.dribbble.com/" TargetMode="Externa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tiff"/><Relationship Id="rId5" Type="http://schemas.openxmlformats.org/officeDocument/2006/relationships/image" Target="../media/image16.tiff"/><Relationship Id="rId4" Type="http://schemas.openxmlformats.org/officeDocument/2006/relationships/image" Target="../media/image15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23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23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083774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Reusable Types and Generics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Getting started CAPM </a:t>
              </a:r>
              <a:r>
                <a:rPr lang="en-US" sz="1800" dirty="0" err="1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ts</a:t>
              </a:r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 development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083768"/>
              <a:ext cx="2701525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Using OData V4 from S/4HANA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DEAC-5215-EAA1-8A20-C3F96F4B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15442564-B480-63C8-7356-9951A340C076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TypeScript Configuration – </a:t>
            </a:r>
            <a:r>
              <a:rPr kumimoji="0" lang="en-US" sz="31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tsconfig.json</a:t>
            </a:r>
            <a:endParaRPr kumimoji="0" lang="en-US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DD576-62AB-4147-025C-C8CA963C788D}"/>
              </a:ext>
            </a:extLst>
          </p:cNvPr>
          <p:cNvSpPr txBox="1"/>
          <p:nvPr/>
        </p:nvSpPr>
        <p:spPr>
          <a:xfrm>
            <a:off x="142630" y="655071"/>
            <a:ext cx="11483853" cy="3723104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The </a:t>
            </a:r>
            <a:r>
              <a:rPr kumimoji="0" lang="en-US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tsconfig.json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 file is the heart of every TypeScript project.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It tells the TypeScript compiler how to process your code, which files to include, and which features to enable or disable.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A well-configured </a:t>
            </a:r>
            <a:r>
              <a:rPr kumimoji="0" lang="en-US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tsconfig.json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 ensures a smooth developer experience and reliable builds.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compilerOptions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: Controls how TypeScript compiles your code (e.g., target, module, strictness).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include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: Files or folders to include in the compilation.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exclude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: Files or folders to exclude.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files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: Explicit list of files to include (rarely used with include).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extends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: Inherit options from another config file.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references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: Enable project references for </a:t>
            </a:r>
            <a:r>
              <a:rPr kumimoji="0" lang="en-US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monorepos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 or multi-package setups.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Use command </a:t>
            </a:r>
            <a:r>
              <a:rPr kumimoji="0" lang="en-IN" sz="17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tsc</a:t>
            </a:r>
            <a:r>
              <a:rPr kumimoji="0" lang="en-I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 --</a:t>
            </a:r>
            <a:r>
              <a:rPr kumimoji="0" lang="en-IN" sz="17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init</a:t>
            </a:r>
            <a:r>
              <a:rPr kumimoji="0" lang="en-I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 </a:t>
            </a: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generate the </a:t>
            </a:r>
            <a:r>
              <a:rPr kumimoji="0" lang="en-I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tsconfig.json</a:t>
            </a: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 file</a:t>
            </a: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5D258-38D7-CD40-A5A1-34E08462690F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2777-C56F-37F1-CDF7-70A5C0E48F4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66A549-56DD-AD4D-ECB5-F49CA746255E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10434-9946-EBAD-BC57-0574D5FEA366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3447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40C5-B7F0-2F8F-98AD-37195EF9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FC087EDC-D62A-866D-037C-620E771D78A0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Why Use TypeScript with Node.js?</a:t>
            </a:r>
          </a:p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E04FC-AAF3-AAC9-8860-390477212A26}"/>
              </a:ext>
            </a:extLst>
          </p:cNvPr>
          <p:cNvSpPr txBox="1"/>
          <p:nvPr/>
        </p:nvSpPr>
        <p:spPr>
          <a:xfrm>
            <a:off x="142630" y="655071"/>
            <a:ext cx="11483853" cy="4246188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TypeScript brings static typing to Node.js development, providing better tooling, improved code quality, and enhanced developer experience.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Key benefits include: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Type safety for JavaScript code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Better IDE support with autocompletion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Early error detection during development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Improved code maintainability and documentation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Easier refactoring</a:t>
            </a:r>
          </a:p>
          <a:p>
            <a:pPr marL="285664" marR="0" lvl="0" indent="-285664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mkdir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 my-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ts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-node-app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cd my-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ts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-node-app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</a:b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npm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init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 -y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</a:b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npm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 install typescript @types/node --save-dev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</a:b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npx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tsc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 –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Arial"/>
              </a:rPr>
              <a:t>init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Arial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205E2-4842-2F5B-2AB6-A7577ABDDD09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7F6E5-9726-86A4-131E-E9DDA9650F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8872D-FD14-FC67-423B-B1282B22F602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A0ED9-BBA4-B0D4-0C6D-D55C245C4DCA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0068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F22A-ED5F-19DB-C6E6-DB4A526F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E74E6F4E-1B26-9923-1CE7-E904005CC2E3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Utility types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8B4B3-B2C1-FA9E-C6AD-38583D421B6E}"/>
              </a:ext>
            </a:extLst>
          </p:cNvPr>
          <p:cNvSpPr txBox="1"/>
          <p:nvPr/>
        </p:nvSpPr>
        <p:spPr>
          <a:xfrm>
            <a:off x="142630" y="655071"/>
            <a:ext cx="11483853" cy="2338919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Utility types are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built-in generic types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that transform existing types into new ones — no need to rewrite interfaces from scratch.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They're like type factories—you feed in a type, and out comes a new type with different properties.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Think of it like this: if you have a blueprint for a house, utility types let you create variations—a blueprint with fewer rooms, optional walls,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readonly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doors, etc.—without rewriting everything from scratch.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CC746-7E15-3804-B444-402B79CA2E02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17AE5-47AE-7205-F5D5-D2609F3A13D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ED7B7-7102-3EC7-77D8-46C9C026B5CF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9A12F-CE3C-9466-2D41-C78D2D9F0F2D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0878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CC22-9394-ACCF-5DC2-E4DA586A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9A00D44-33DF-8A5B-79D8-646DDDCD3E48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Partial, Required, Pick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07EAC5-5390-E172-20DD-A31D46621D9D}"/>
              </a:ext>
            </a:extLst>
          </p:cNvPr>
          <p:cNvSpPr txBox="1"/>
          <p:nvPr/>
        </p:nvSpPr>
        <p:spPr>
          <a:xfrm>
            <a:off x="142630" y="655071"/>
            <a:ext cx="11483853" cy="399927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3B871-260F-E430-BFBE-D3B54822222B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DDD0B-AFA8-4C3F-FFA2-08EE5D685B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BFADA8-E1AD-F056-B711-75AA1E152E00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E6A19C-43DA-D632-FB08-344FDAE1F355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592F77-7AD8-9FFD-3956-F76533102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0" y="643048"/>
            <a:ext cx="3838250" cy="59679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164E33-B154-9DD5-E38E-BF830BF93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131" y="632995"/>
            <a:ext cx="4465679" cy="5916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FD9FA4-23EA-80E1-2004-9BFF0E902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180" y="632995"/>
            <a:ext cx="4768779" cy="591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5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702A-8C10-19E0-FBA1-6FD7A6199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F04F07F1-AA66-4370-A792-9C5C8F9E4164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Omit and </a:t>
            </a:r>
            <a:r>
              <a:rPr kumimoji="0" lang="en-US" sz="31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ReadOnly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D9308-FBD6-0FC5-3E5F-6FD307AE2C96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178DD-5A7C-29E4-85F3-28687C0A93B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DE86D9-BA52-CDFA-194E-433DAF44F30A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2C130-2087-82D0-7E3A-0DB88DFF1C1B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A8AF95-156B-2E8F-029B-4B02199A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69" y="655071"/>
            <a:ext cx="3636249" cy="596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E8CD24-B408-C624-8844-6AB70FE74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881" y="648511"/>
            <a:ext cx="3679619" cy="5907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10D05F-D1B9-7910-F2E4-6B496B597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568" y="655071"/>
            <a:ext cx="4213188" cy="33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2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CE11-3054-8F8D-BC7E-44F60BD8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976BEE75-5FBA-2AF7-FD09-61D9740C77E4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Summary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3ECF1-4F84-BF9C-5D8E-C1E9F328145A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B65FB-9B11-4E7F-DB6A-9303E3D12C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0AB5B6-DA56-A01A-74EF-1BEB2EB90BD4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04FEF-D202-6D81-2563-E2290EC1F0F4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E4B9FF-57E0-86F0-DE67-D3E4BE8C3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80" y="822593"/>
            <a:ext cx="7137767" cy="251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6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 BTP CAP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End-to-End Integration with S/4HANA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E6F0FA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1: Scaffold  •  Step 2: Generate  •  Step 3: Consume  •  Step 4: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031E8-2CA3-FE49-6CC0-FFBAC02D77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Business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💡 A 'mashup' service = local data + remote data in one API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Part A — Local Domain Model (Step 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Material &amp; Plant entities stored in local database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Three business rules / validations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Seed data (10 plants, 20 materials)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Part B — Remote S/4HANA Integration (Steps 2–4)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Live Sales Order OData service (V4)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Fully typed, generated client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GET (read) and POST (create)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2110F-9404-FBC9-3D69-54541AC19E9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Four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1 — SCAFFOLD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Create TypeScript CAP project, wire tooling, verify local + cloud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2 — GENERATE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Use Cloud SDK to generate typed client from S/4HANA EDMX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3 — IMPLEMENT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Write typed mashup handler with reusable parsers &amp; type guards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4 — TEST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Connect to live system via BTP Destination, end-to-end verified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1F8CF-59ED-F61D-C987-0CCD8A9F8C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Why TypeScript for CAP?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Catch typos at edit-time, not at 3AM in production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req.data.materilName → red underline instantly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API contracts verified at compile-time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Field names, types, required vs. optional — all checked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Two automatic type sources (zero hand-written interfaces)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1. cds-typer generates from .cds model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2. Cloud SDK generator from remote EDMX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Remote API changes are caught instantly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6576-E6FC-C3BC-0D4E-9A9FFB0BFF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File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srv/CatalogService.ts — the orchestrator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Registers handlers, wires helpers, stays thin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srv/lib/config-loader.ts — connection settings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Reads .env / BTP Destination, validates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srv/lib/payload-parser.ts — the bouncer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Untrusted JSON → typed SalesOrderInput, rejects bad input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srv/types/sales-order.d.ts — shared vocabulary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SalesOrderInput, SalesOrderView, S4Config — all agree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srv/src/generated/… — typed S/4HANA client (auto-generated)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A2BA9-88EE-54DA-D0E5-25254442497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1 — Scaffold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TypeScript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project skeleton, wire tooling, prove local + cloud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0CA7F-4FF5-5CF4-7FFF-0C6EDFCF4A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What We Build in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Two database entities with validation rules: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Material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materialName, materialType, baseUnit, plant (association)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Plant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plantName, storageLocation, country, city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Three handlers in CatalogService.ts: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1. Before CREATE Material → name = 40 chars, no digit start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2. Before UPDATE Material → referenced Plant must exist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3. Before CREATE Plant → max 2 plants per storage 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11968-575C-BBF1-B672-FE0C93B70F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Scaffold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Install CAP developer kit globally: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npm install -g @sap/cds-dk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--version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project with TypeScript enabled: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init capm-s4-mashup --add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 capm-s4-mashup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Or add TypeScript to existing project: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add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This automatically installs typescript, @cap-js/cds-types, ts-node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DE0E3-884D-6A47-E93C-1FB208AEAC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capm-s4-mashup/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app/                  # UI (empty for now)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db/                   # data model (.cds)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│   └── schema.cds        # Material + Plant entities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srv/                  # services &amp;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│   ├── catalog-service.cds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│   └── CatalogService.ts # The three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package.json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tsconfig.json         # TypeScript compiler config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└── .gitignore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075EC-E36B-A69E-420E-768484BD5D6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Key tsconfig.json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target: "ES2022" — Node 18+ supports latest JS natively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module: "NodeNext" — Supports both CommonJS &amp; ES Modules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strict: true — noImplicitAny, strictNullChecks enabled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noEmit: true — tsc type-checks only; cds watch produces .js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paths: { "@sap/cds" → "@cap-js/cds-types"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Redirect cds imports to richer type definitions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allowJs: false — Forces all files to be .ts (after migration)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8F1A8-FF6C-6832-ACDE-E5317AEF8F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Define the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namespace capm.s4.mashup;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entity Plant : cuid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plantName: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storageLocation: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country: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city: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entity Material : cuid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materialName: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materialType: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baseUnit: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plant: Association to Plant;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0B27C-562F-E5D0-D5ED-B8922D6E15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CatalogService.ts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cds from '@sap/cds';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type { Material, Plant } from '#cds-models/capm/s4/mashup';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default class CatalogService extends cds.ApplicationService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async init()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// Register three handlers: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this.before('CREATE', 'Materials', req =&gt; this.beforeCreateMaterial(req));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this.before('UPDATE', 'Materials', req =&gt; this.beforeUpdateMaterial(req));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this.before('CREATE', 'Plants', req =&gt; this.beforeCreatePlant(req));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super.init();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DF973-C265-2017-30EC-5437E9639D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Handler 1 — Material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private async beforeCreateMaterial(req: cds.Request)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{ data } = req;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{ materialName } = data as Material;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(!materialName || materialName.length !== 40)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req.reject(400, 'Material name must be 40 chars');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(/^\d/.test(materialName))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req.reject(400, 'Cannot start with digit');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D6640-C299-D30A-F1DE-F8BC213CBC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Handler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Handler 2 — Plant Reference Check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Verify referenced Plant ID exists before UPDATE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Handler 3 — Storage Location Limit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Enforce max 2 plants per storage location on CREATE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Pattern for all three: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1. Extract typed data from request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2. Validate business rule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3. req.reject(status, message) if invalid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4. Handler completes normally if valid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0A4D7-4D59-43B7-8344-C73A45C57F2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Run Locally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Start the dev server: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watch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You should see: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10 plants loaded from CSV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20 materials loaded from CSV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CatalogService initialized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API listening on http://localhost:4004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Test with curl: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curl http://localhost:4004/odata/v4/catalog/Plants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3CF39-D72F-0B25-8DAE-7F32D92DFE5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Type Check &amp;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Type check before deploy: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npx tsc --noEmit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Build for Cloud Foundry: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npm run build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Login &amp; deploy: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login -a &lt;api-endpoint&gt;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push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Verify in the cloud: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logs capm-s4-mashup --recent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5C756-4F97-DB5F-22C6-6C927EBB92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2 — Generate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S/4HANA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Turn EDMX metadata into fully typed client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64B73-6CC7-1BDC-ABBD-585B9392660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EDMX = Extensible Metadata Description (OData V4 schema)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S/4HANA publishes EDMX at: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http://122.162.240.164:8010/sap/opu/odata4/$metadata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Cloud SDK generator reads EDMX and creates: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Request builders (type-safe API calls)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Entity interfaces (request/response shapes)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All in TypeScript with full autocompletion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Goal: Zero hand-written interfaces for the remote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503C5-7C08-ADF9-74A2-FE3BE613EE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Install &amp;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-D @sap-cloud-sdk/generator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@sap-cloud-sdk/odata-v4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Download EDMX metadata: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curl -u &lt;user&gt;:&lt;pass&gt; http://122.162.240.164:8010/...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&gt; srv/external/s4-edmx.xml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Run generator: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npx generate-odata-client \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--input srv/external \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--outputDir srv/src/generated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Result: ~1,000+ lines of fully typed client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EB9AF-C514-B2DF-8882-649A884972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Generated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sales-order-api.ts exports: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SalesOrderApi with typed methods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requestBuilder(), getAll(), getByKey(), create(), update()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sales-order.ts exports: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 entity interface (fully typed)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SalesOrderItem nested interface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Request/response payloads automatically derived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Every field is: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Typed (string, number, Date, etc.)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Nullable checked (? for optional fields)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With JSDoc comments from EDMX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21507-52A0-A24F-8149-3D93D2F8E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3 — Implement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Service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Write typed, reusable mashup handlers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340FF-D212-DAA9-9D8F-818EB0B7AE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Layer 1 — config-loader.ts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Reads .env / BTP, validates credentials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Manages SDK config (url, username, password)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Layer 2 — payload-parser.ts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Validates incoming JSON → typed SalesOrderInput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Clear error messages for bad input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Layer 3 — CatalogService.ts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Calls sdk.getAll() / sdk.create() with typed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Handles errors gracefully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Connected by shared types in sales-order.d.ts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F5B1E-0769-7FCC-3BF6-5500534327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config-loader.ts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7001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S4Config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url: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username: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password: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function loadConfig(): S4Config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config: S4Config =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url: process.env.S4_URL || '',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username: process.env.S4_USER || '',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password: process.env.S4_PASS || '',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(!config.url || !config.username)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throw new Error('Missing S4 credentials');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config;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9F9F21-D786-0DAE-57FF-D9971BFD28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payload-parser.ts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SalesOrderInput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salesOrderType: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soldToParty: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requestedQuantity: number;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function parseSalesOrder(raw: any): SalesOrderInput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(!raw.salesOrderType)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throw { status: 400, message: 'salesOrderType required' 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{ /* validated &amp; typed */ } as SalesOrderInput;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BD265-1098-44F9-ECEB-4DB6799870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CatalogService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salesOrderService } from './generated';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loadConfig } from './lib/config-loader';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parseSalesOrder } from './lib/payload-parser';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async getSalesOrders()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config = loadConfig();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orders = await salesOrderService()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.salesOrderApi.requestBuilder()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.getAll().top(50)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.execute(config);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orders;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FA53E-6F7C-0BFB-D93F-D5FD73BAFC7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4 — Test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BTP Destination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Connect locally to live S/4HANA through cloud bindings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AA9A2-AA48-08F7-449D-80A2639BCE8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Destination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Problem: Hard-coding URLs + passwords is risky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Solution: BTP Destination service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Centralized place to store URL, credentials, auth type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Named reference (e.g., 'S4HANA_SALESORDER')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No secrets in code or .env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For local testing (hybrid mode):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Cloud bindings come live from BTP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Code runs on your laptop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Realistic environment before deployment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Create Destination in BTP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Navigate to: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Subaccount → Connectivity → Destinations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New Destination: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Name: S4HANA_SALESORDER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Type: HTTP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URL: http://122.162.240.164:8010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Auth: BasicAuthentication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User: &lt;S4_USER&gt;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Password: &lt;S4_PASSWORD&gt;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Additional Properties: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sap-client=100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217B9-12B2-0480-5CA5-40F2C0543C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Bind &amp;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service instance: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create-service destination lite s4-destination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service key: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create-service-key s4-destination s4-key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Bind to local project: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bind -2 s4-destination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Configure package.json: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Add hybrid profile with destination config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"[hybrid]": { "credentials":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{ "destination": "S4HANA_SALESORDER" }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B9AA7-DACE-402E-78A4-D86A5E8E46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Test with .http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@host = http://localhost:4004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### GET sales orders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GET {{host}}/odata/v4/catalog/getSalesOrders()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Accept: application/json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### POST sales 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POST {{host}}/odata/v4/catalog/createSalesOrder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Content-Type: application/json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Expected Results: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GET: 200 + array of orders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POST: 201 + created order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98545-A26F-BB8E-34AD-4FE1D099AB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Run in Hybrid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Start with hybrid profile: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watch --profile hybrid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You should see: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Destination S4HANA_SALESORDER connected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Local Materials/Plants still served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CAP listening on http://localhost:4004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Now open srv/tester.http in VS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Install REST Client extension (if not already)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Click 'Send Request' above GET/POST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0A4DE-90CF-C55A-6AB6-C497578C51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1152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Journey Complete!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One TypeScript CAP app with local &amp; remote data, deployed to BTP, tested live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214C2-F9F1-9331-CE96-120121FAD3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What You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Fully typed TypeScript CAP project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Local Material &amp; Plant entities with validations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Generated S/4HANA client (no hand-written interfaces)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Typed GET/POST mashup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Reusable config-loader &amp; payload-parser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 guards &amp; error handling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Deployed to Cloud Foundry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Hybrid testing with BTP 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Live end-to-end verified on real S/4HANA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436D7-46E8-84DE-5B22-E7A6E8AB2BE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Patterns to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1. Scaffold with cds init --add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Works for ANY CAP project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2. Generate SDK from EDMX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Works for any SAP service (SCP, Analytics, Procurement)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3. Separate config-loader &amp; payload-parser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One job per file — easy to test &amp; reuse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4. Hybrid testing with Destinations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Cloud-realistic without deploying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5. tsc --noEmit before every deploy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Catch bugs at compile-time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9678D-73AC-B781-FCE0-9D1615F18D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Extend the mashup: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Add UPDATE/DELETE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Implement CSRF token handling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Batch request support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Scale TypeScript patterns: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Multiple remote systems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Advanced generics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Decorators for cross-cutting concerns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Deploy with confidence: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Automated tests with Jest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CI/CD pipeline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199F0-F002-68FE-EA33-CC4FB030BF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 BTP Fiori</a:t>
            </a:r>
            <a:b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JavaScript →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0"/>
            <a:ext cx="77724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Incremental Migration Guide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E6F0FA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of SAPUI5 Freestyle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292CB-4A54-04F3-CD66-0E18B2329B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Use Case — manageorder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manageorder is a freestyle (hand-written) SAPUI5 application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What it does: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View1 — List of sales orders (fetch from OData service)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View2 — Detail view with value-help popups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View3 — Supplier detail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Add — Create form for new orders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BaseController — Shared parent with formatter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util/formatter.js — Status/type code converters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2D962-FD3B-D806-A396-A1F09C8385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Current Structure → Target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TODAY (All JavaScript):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✗ No type-checking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✗ Typos only blow up at runtime (in production!)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✗ No IDE autocomplete on OData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ALL STEPS (Full TypeScript):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Every .js → .ts (except 3rd-party libs)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types/datatype.d.ts holds shared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Type gate: tsc --noEmit passes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App Router for BTP deployment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Four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1 — PREPARATION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Install ui5-tooling-transpile, typescript,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Wire ui5.yaml, add tsconfig.json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Convert ONE controller to prove hybrid setup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2 — CORE FILES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Component.js → Component.ts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util/formatter.js → util/formatter.ts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3 — CONTROLLERS &amp;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All controllers →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Create types/datatype.d.ts for shared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4 — APP ROUTER &amp; DEPLOYMENT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xs-app.json for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Update mta.yaml, deploy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2333E-48DB-16E4-9CB9-39003F61A5C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Single Golden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JavaScript and TypeScript files COEXIST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 the same webapp/ folder during migration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You NEVER do a "big bang" rewrite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Convert one file at a 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Refresh browser after each change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Confirm it still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Move to the next file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This is called HYBRID MODE — the transpiler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handles both .js and .ts seamlessly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6962A-6478-014B-CBF1-0EE36590956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1 —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Install transpiler, wire tooling, convert one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65C56-AA2E-7142-7F51-0FFF040CC28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Transpiler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TRANSPILE = translate source code from one form to another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The Problem: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 runtime only understands sap.ui.define([...], fn)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Modern TypeScript uses import/class syntax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The Solution: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ui5-tooling-transpile (Babel-based) translates: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Your .ts → ui5-style .js → browser runs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Type Cost: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Types are ERASED before browser sees anything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Zero runtime performance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FF40D-C256-ABEE-AE4D-B30E8CCD674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Install the Three Dev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ui5-tooling-transpile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@openui5/ts-types-esm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@ui5/cli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ui5-middleware-livereload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Why each one: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typescript — the compiler tsc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@openui5/ts-types-esm — UI5 type definitions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ui5-tooling-transpile — turns .ts into .js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@ui5/cli — the ui5 command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ui5-middleware-livereload — auto-refresh on save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6C2C3-182A-7B93-7708-125EC8B539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Update package.json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scripts: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"start": "ui5 serve --open index.html"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"build": "ui5 build --clean-dest"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"ts-typecheck": "tsc --noEmit"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devDependencies: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"@openui5/ts-types-esm": "^1.120.0"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"@ui5/cli": "^4.0.0"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"typescript": "^5.3.0"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"ui5-tooling-transpile": "^3.2.0"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"ui5-middleware-livereload": "^3.1.4"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5C881-7F9A-C1D3-19CD-45DA5101D4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Wire the Transpiler into ui5.yaml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Update specVersion: "3.0" (was 2.5)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builder.customTasks: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ui5-tooling-transpile-task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afterTask: replaceVersion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server.customMiddleware: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ui5-tooling-transpile-middleware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afterMiddleware: compression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ui5-middleware-livereload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port: 35729, ext: "html,js,json,ts,xml"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B7643-D80D-38C3-E937-DFA497E6A8B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tsconfig.json — Key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"target": "ES2022" — modern JS, no polyfills needed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"module": "ES2022" — import/export syntax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"moduleResolution": "bundler" — UI5 toolchain compatible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"allowJs": true — MAGIC: .js and .ts coexist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"strict": false + individual flags: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"noImplicitAny": true — require type annotations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"noImplicitOverride": true — override keyword required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"skipLibCheck": true — faster builds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D96F9-66FD-1340-63D7-9B7217D295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Convert Your First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Start with SMALLEST file (lowest risk)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Usually: Empty.controller.js (a few lines)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1. Rename Empty.controller.js → Empty.controller.ts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2. Change sap.ui.define([...]) to import statements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3. Change extend(...) to class syntax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4. Add @namespace com.ats.manageorder JSDoc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5. Save and refresh browser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Expected result: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App still renders, one .ts file working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8FCE4-FA0E-6744-F990-DAFF45D32D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1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Installed typescript, ui5-tooling-transpile,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package.json scripts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ui5.yaml (specVersion 3.0)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Added customTasks &amp; customMiddleware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Created tsconfig.json at project root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Converted one smallest controller (.js → .ts)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npm start (or ui5 serve) runs without errors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App renders in browser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Live reload works (save triggers refresh)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A3F02-00AB-B0CD-759B-880C7F440BF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2 — Component &amp; Formatter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Convert the two foundation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FC819-7254-EB42-C421-83180C1E2F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Why Component &amp; Formatter?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COMPONENT is the ROOT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 loads it before any view or controller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Every route, every view depends on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FORMATTER is a LEAF (used by many)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Imported by BaseController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Every list/detail view uses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Strategy: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Convert root + shared leaf first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Every later file has typed neighbors to lean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B6879-F2CD-86A7-2F80-57B64F12838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Component.js → Component.ts (Before)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sap.ui.define([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"sap/ui/core/UIComponent",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"sap/ui/Device",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"com/ats/manageorder/model/models"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], function (UIComponent, Device, models)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UIComponent.extend("com.ats.manageorder.Component",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metadata: { manifest: "json" },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init: function 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UIComponent.prototype.init.apply(this, arguments);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this.getRouter().initialize();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this.setModel(models.createDeviceModel(), "device");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238AD-3E7B-FF63-D36A-6B4C15E9AA0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Component.ts → Component.ts (After)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UIComponent from "sap/ui/core/UIComponent";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createDeviceModel } from "./model/models";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default class Component extends UIComponent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public static readonly metadata =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manifest: "json",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interfaces: ["sap.ui.core.IAsyncContentCreation"]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public override init(): void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super.init();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this.getRouter().initialize();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this.setModel(createDeviceModel(), "device");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039EE-846B-D2FB-7AB2-25076613B33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Component.ts Key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import instead of sap.ui.define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class Component extends UIComponent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static readonly metadata =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init: function → override init(): void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super.init() instead of prototype.apply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IAsyncContentCreation interface (modern async loading)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@namespace com.ats.manageorder JSDoc (required!)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Result: Same behavior, full TypeScript safety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CA824-43E1-C91E-2FA5-A636D8A75A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util/formatter.js → util/formatter.ts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Before (plain JS):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formatSalesOrderType: function(code)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code === "TA" ? "Standard Order" : code;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(TypeScript with types):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export function formatSalesOrderType(code: string): string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code === "TA" ? "Standard Order" : code;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Benefits: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return type is string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code param is string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Typos caught at compile-time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C96CD-C006-860E-DDA7-59EEFA4F68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2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Component.js → Component.ts (extends UIComponent)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util/formatter.js → util/formatter.ts (functions typed)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model/models.js → model/models.ts (named exports)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All function signatures have param &amp; return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@namespace JSDoc in Component.ts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npm start still renders app correctly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No type errors from tsc --noEmit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JS controllers (.js) still work alongside .ts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2C548-144A-C11E-2F01-507CD52795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3 — Controllers &amp;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Convert all controllers, create shared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0B902-95B0-475B-9D76-950F4E7585B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Converting Any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Pattern is ALWAYS the same: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Before (sap.ui.define):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sap.ui.define([...], function(BaseController)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BaseController.extend("...",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onInit: function() { ...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(import + class):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import BaseController from "./BaseController";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export default class MyController extends BaseController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onInit(): void { ...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52F6B-3252-FFD5-C0CC-301603FB47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Lifecycle Methods in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onInit() — controller initialization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Before: onInit: function()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After: override onInit():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onBeforeRendering() — before each render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override onBeforeRendering():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onAfterRendering() — after render complete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override onAfterRendering():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onExit() — cleanup when destroyed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override onExit():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All need override keyword (noImplicitOverride)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17343-F0E7-9313-1F25-EF669CE919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Event Handlers Typed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Before (any):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onPress: function(oEvent)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const id = oEvent.getSource().getId();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(typed):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onPress(oEvent: sap.ui.base.Event): void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const source = oEvent.getSource();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const id = source.getId();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With types: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oEvent methods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getSource() return type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Typos caught instantly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3E050-D636-1841-4AC8-954981F2B1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Create types/datatype.d.ts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 .d.ts file holds ONLY type definitions (no code)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SalesOrder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salesOrderType: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soldToParty: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items: OrderItem[];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OrderItem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materialID: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quantity: number;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unit: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Benefits: One source of truth for shapes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F1EC6-4A52-7708-1AB9-3096079A1D3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3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All controllers converted to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Each has override keyword on lifecycle methods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Event handler params typed (sap.ui.base.Event)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Created types/datatype.d.ts with shared interfaces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OData model callbacks typed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JSON model shapes defined in datatype.d.ts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tsc --noEmit passes (no type errors)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App renders and all features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4680B-7189-C034-8135-3DAAE3DC38E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4 — App Router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Wire BTP routing, deploy to Cloud Foundry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6C82-A1E4-B5FE-6F8C-0A54D2D637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App Router — What &amp;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App Router is a lightweight Node.js server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What it does: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Serves your SAPUI5 application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Routes requests to backend services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Handles authentication / CSRF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Compresses static assets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Why needed for BTP?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Cloud Foundry expects a runnable app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File-serving isn't enough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Routing, security, and compression are standard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A4E75-58C2-A37D-2D6F-C431C6D5D7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Create xs-app.json (App Router Config)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"welcomeFile": "index.html",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"authenticationMethod": "route",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"sessionTimeout": 15,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"routes": [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"source": "^/api/(.*)$",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"destination": "backend-destination",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"authenticationType": "xsuaa",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"csrfProtection": true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"source": "^",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"localDir": ".",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"cacheControl": "public, max-age=31536000, immutable"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703FA-D42D-3BA8-29C5-041ABECB5A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Update mta.yaml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approuter module: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manageorder-app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type: html5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path: app/manageorder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build-parameters: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build-result: dist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approuter: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manageorder-approuter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type: approuter.nodejs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path: approuter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requires: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- name: manageorder-destination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  group: destinations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14B29-3B18-CC82-C16C-7ECC2B35C7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Deploy to Cloud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Build the multi-target application: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mbt build -t dist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Login to Cloud Foundry: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login -a &lt;api-endpoint&gt;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target -o &lt;org&gt; -s &lt;space&gt;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Deploy: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deploy dist/manageorder_1.0.0.mtar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Watch progress: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logs manageorder-approuter --recent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B985D-1BBC-8F03-7B0B-0E1E6E49929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4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Created xs-app.json in approuter root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Routes configured (API &amp; static files)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mta.yaml with app module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mta.yaml with approuter module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npm run build succeeds (dist/ folder created)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mbt build -t dist succeeds (.mtar created)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tsc --noEmit passes (0 type errors)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Deployed to Cloud Foundry successfully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42170-7D62-0CD4-8D3F-F5525ECF10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2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Migration Complete!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Full TypeScript Fiori app, type-safe, deployed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192BC-8452-A37A-B7ED-E622295BAB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What You Built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Hybrid .js + .ts development environment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100% converted SAPUI5 freestyle app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Shared type definitions (types/datatype.d.ts)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Type-safe lifecycle methods &amp; event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Live transpilation during development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App Router for cloud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xs-app.json with API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Deployed to SAP BTP Cloud Foundry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 gate: tsc --noEmit all green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6C2E6-1977-CBD6-641A-DD46B1E840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Benefits You Now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DEVELOPMENT: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IDE autocomplete on UI5 classes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Typos caught before runtime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Refactoring is safe (rename field everywhere)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PRODUCTION: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Fewer surprises in the field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Easier onboarding for new devs (types are docs)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Easier debugging (stack traces are clear)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DEPLOYMENT: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App Router handles BTP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XSUAA authentication built-in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5A66B-2DBA-0D36-D1CB-1BACD29BA4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Patterns You Can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1. Hybrid mode (.js + .ts together)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Works for ANY incremental modernization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2. Types-first conversion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Install types → convert core → convert helpers → convert rest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3. ui5-tooling-transpile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Turns any UI5 app TypeScript-ready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4. Shared .d.ts files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Single source of truth for OData/JSON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5. App Router + mta.yaml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Standard BTP deployment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5B840-3FCB-B426-E76D-52C092B833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Resources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 UI5 Documentation: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https://ui5.sap.com/docs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OpenUI5 TypeScript Types: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@openui5/ts-types-esm (npm)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ui5-tooling Transpiler: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https://github.com/ui5-community/ui5-tooling-transpile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 BTP Documentation: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https://help.sap.com/docs/btp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This Guide: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github.com/anubhav-trainings/manageorder-ts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1480F-BE01-7955-E556-FFFDCC6047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20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5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B31A9"/>
      </a:accent1>
      <a:accent2>
        <a:srgbClr val="5047C9"/>
      </a:accent2>
      <a:accent3>
        <a:srgbClr val="625ACE"/>
      </a:accent3>
      <a:accent4>
        <a:srgbClr val="817AD8"/>
      </a:accent4>
      <a:accent5>
        <a:srgbClr val="AAA5E5"/>
      </a:accent5>
      <a:accent6>
        <a:srgbClr val="CAC7EF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8758</TotalTime>
  <Words>5396</Words>
  <Application>Microsoft Office PowerPoint</Application>
  <PresentationFormat>Custom</PresentationFormat>
  <Paragraphs>907</Paragraphs>
  <Slides>84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84</vt:i4>
      </vt:variant>
    </vt:vector>
  </HeadingPairs>
  <TitlesOfParts>
    <vt:vector size="97" baseType="lpstr">
      <vt:lpstr>Amasis MT Pro Black</vt:lpstr>
      <vt:lpstr>Aptos</vt:lpstr>
      <vt:lpstr>Aptos Display</vt:lpstr>
      <vt:lpstr>Arial</vt:lpstr>
      <vt:lpstr>Arial Black</vt:lpstr>
      <vt:lpstr>Calibri</vt:lpstr>
      <vt:lpstr>Cascadia Code</vt:lpstr>
      <vt:lpstr>Cooper Black</vt:lpstr>
      <vt:lpstr>Segoe UI</vt:lpstr>
      <vt:lpstr>Segoe UI Light</vt:lpstr>
      <vt:lpstr>Office Theme</vt:lpstr>
      <vt:lpstr>1_Office Theme</vt:lpstr>
      <vt:lpstr>4_Office Theme</vt:lpstr>
      <vt:lpstr>SAP BTP Extension Suite Training</vt:lpstr>
      <vt:lpstr>PowerPoint Presentation</vt:lpstr>
      <vt:lpstr>Agenda – Day 23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341</cp:revision>
  <dcterms:created xsi:type="dcterms:W3CDTF">2013-09-12T13:05:01Z</dcterms:created>
  <dcterms:modified xsi:type="dcterms:W3CDTF">2026-08-24T05:07:43Z</dcterms:modified>
</cp:coreProperties>
</file>