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3" r:id="rId2"/>
  </p:sldMasterIdLst>
  <p:notesMasterIdLst>
    <p:notesMasterId r:id="rId24"/>
  </p:notesMasterIdLst>
  <p:sldIdLst>
    <p:sldId id="276" r:id="rId3"/>
    <p:sldId id="4122" r:id="rId4"/>
    <p:sldId id="277" r:id="rId5"/>
    <p:sldId id="293" r:id="rId6"/>
    <p:sldId id="294" r:id="rId7"/>
    <p:sldId id="432" r:id="rId8"/>
    <p:sldId id="297" r:id="rId9"/>
    <p:sldId id="298" r:id="rId10"/>
    <p:sldId id="434" r:id="rId11"/>
    <p:sldId id="299" r:id="rId12"/>
    <p:sldId id="300" r:id="rId13"/>
    <p:sldId id="301" r:id="rId14"/>
    <p:sldId id="295" r:id="rId15"/>
    <p:sldId id="424" r:id="rId16"/>
    <p:sldId id="425" r:id="rId17"/>
    <p:sldId id="426" r:id="rId18"/>
    <p:sldId id="427" r:id="rId19"/>
    <p:sldId id="428" r:id="rId20"/>
    <p:sldId id="282" r:id="rId21"/>
    <p:sldId id="280" r:id="rId22"/>
    <p:sldId id="4711" r:id="rId23"/>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240" autoAdjust="0"/>
    <p:restoredTop sz="95033" autoAdjust="0"/>
  </p:normalViewPr>
  <p:slideViewPr>
    <p:cSldViewPr>
      <p:cViewPr varScale="1">
        <p:scale>
          <a:sx n="110" d="100"/>
          <a:sy n="110" d="100"/>
        </p:scale>
        <p:origin x="320" y="72"/>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8/19/2026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8/19/2026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329675384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3653647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35459948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9061817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79122216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2318505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170489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21459393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730570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791585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48159433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4668959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4996747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4164510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6538069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85698514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9092032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0016579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027093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356636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2169829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4900963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8/19/2026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08/19/2026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3012267578"/>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33.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3" Type="http://schemas.openxmlformats.org/officeDocument/2006/relationships/hyperlink" Target="https://www.npmjs.com/package/@openui5/types" TargetMode="External"/><Relationship Id="rId2" Type="http://schemas.openxmlformats.org/officeDocument/2006/relationships/hyperlink" Target="http://definitelytyped.org/" TargetMode="External"/><Relationship Id="rId1" Type="http://schemas.openxmlformats.org/officeDocument/2006/relationships/slideLayout" Target="../slideLayouts/slideLayout33.xml"/><Relationship Id="rId5" Type="http://schemas.openxmlformats.org/officeDocument/2006/relationships/image" Target="../media/image4.png"/><Relationship Id="rId4" Type="http://schemas.openxmlformats.org/officeDocument/2006/relationships/hyperlink" Target="https://github.com/SAP-samples/ui5-cap-event-app/blob/js-with-typescript-support/README.md"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slideLayout" Target="../slideLayouts/slideLayout33.xml"/><Relationship Id="rId5" Type="http://schemas.openxmlformats.org/officeDocument/2006/relationships/image" Target="../media/image12.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33.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png"/><Relationship Id="rId1" Type="http://schemas.openxmlformats.org/officeDocument/2006/relationships/slideLayout" Target="../slideLayouts/slideLayout33.xml"/></Relationships>
</file>

<file path=ppt/slides/_rels/slide19.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8.png"/><Relationship Id="rId4" Type="http://schemas.openxmlformats.org/officeDocument/2006/relationships/hyperlink" Target="http://www.dribbble.com/"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4.jpeg"/><Relationship Id="rId3" Type="http://schemas.openxmlformats.org/officeDocument/2006/relationships/image" Target="../media/image19.jpeg"/><Relationship Id="rId7" Type="http://schemas.openxmlformats.org/officeDocument/2006/relationships/image" Target="../media/image23.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22.tiff"/><Relationship Id="rId5" Type="http://schemas.openxmlformats.org/officeDocument/2006/relationships/image" Target="../media/image21.tiff"/><Relationship Id="rId4" Type="http://schemas.openxmlformats.org/officeDocument/2006/relationships/image" Target="../media/image20.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22</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22</a:t>
            </a:r>
            <a:endParaRPr lang="en-IN" dirty="0">
              <a:solidFill>
                <a:schemeClr val="bg1"/>
              </a:solidFill>
              <a:latin typeface="Cooper Black" panose="0208090404030B020404" pitchFamily="18" charset="0"/>
            </a:endParaRPr>
          </a:p>
        </p:txBody>
      </p:sp>
      <p:sp>
        <p:nvSpPr>
          <p:cNvPr id="5" name="Rectangle: Rounded Corners 4">
            <a:extLst>
              <a:ext uri="{FF2B5EF4-FFF2-40B4-BE49-F238E27FC236}">
                <a16:creationId xmlns:a16="http://schemas.microsoft.com/office/drawing/2014/main" id="{8EE791A1-2958-78B0-ECDD-F89DDE02F4B6}"/>
              </a:ext>
            </a:extLst>
          </p:cNvPr>
          <p:cNvSpPr/>
          <p:nvPr/>
        </p:nvSpPr>
        <p:spPr>
          <a:xfrm>
            <a:off x="3453886" y="131323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Rounded Corners 5">
            <a:extLst>
              <a:ext uri="{FF2B5EF4-FFF2-40B4-BE49-F238E27FC236}">
                <a16:creationId xmlns:a16="http://schemas.microsoft.com/office/drawing/2014/main" id="{5B89E801-E285-EBED-06F5-7E2B1B8E1E7A}"/>
              </a:ext>
            </a:extLst>
          </p:cNvPr>
          <p:cNvSpPr/>
          <p:nvPr/>
        </p:nvSpPr>
        <p:spPr>
          <a:xfrm>
            <a:off x="3453886" y="3068960"/>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Rounded Corners 6">
            <a:extLst>
              <a:ext uri="{FF2B5EF4-FFF2-40B4-BE49-F238E27FC236}">
                <a16:creationId xmlns:a16="http://schemas.microsoft.com/office/drawing/2014/main" id="{ABAB72EB-5FE6-B5CA-C654-D15CE54000E9}"/>
              </a:ext>
            </a:extLst>
          </p:cNvPr>
          <p:cNvSpPr/>
          <p:nvPr/>
        </p:nvSpPr>
        <p:spPr>
          <a:xfrm>
            <a:off x="3453886" y="4824683"/>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id="{1A27EE0E-9853-D0E9-E5A8-87BE731920EA}"/>
              </a:ext>
            </a:extLst>
          </p:cNvPr>
          <p:cNvGrpSpPr/>
          <p:nvPr/>
        </p:nvGrpSpPr>
        <p:grpSpPr>
          <a:xfrm>
            <a:off x="4118571" y="1566251"/>
            <a:ext cx="4359562" cy="922336"/>
            <a:chOff x="1395616" y="871285"/>
            <a:chExt cx="3825734" cy="1064137"/>
          </a:xfrm>
        </p:grpSpPr>
        <p:sp>
          <p:nvSpPr>
            <p:cNvPr id="9" name="TextBox 8">
              <a:extLst>
                <a:ext uri="{FF2B5EF4-FFF2-40B4-BE49-F238E27FC236}">
                  <a16:creationId xmlns:a16="http://schemas.microsoft.com/office/drawing/2014/main" id="{8B429D3B-7C38-B33E-067B-835764291C87}"/>
                </a:ext>
              </a:extLst>
            </p:cNvPr>
            <p:cNvSpPr txBox="1"/>
            <p:nvPr/>
          </p:nvSpPr>
          <p:spPr>
            <a:xfrm>
              <a:off x="2984420" y="1083774"/>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Introduction to type script</a:t>
              </a:r>
            </a:p>
          </p:txBody>
        </p:sp>
        <p:sp>
          <p:nvSpPr>
            <p:cNvPr id="10" name="TextBox 9">
              <a:extLst>
                <a:ext uri="{FF2B5EF4-FFF2-40B4-BE49-F238E27FC236}">
                  <a16:creationId xmlns:a16="http://schemas.microsoft.com/office/drawing/2014/main" id="{118C39A3-CA2B-146F-D772-D14998B4D672}"/>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 name="Group 10">
            <a:extLst>
              <a:ext uri="{FF2B5EF4-FFF2-40B4-BE49-F238E27FC236}">
                <a16:creationId xmlns:a16="http://schemas.microsoft.com/office/drawing/2014/main" id="{F7773B0C-4C36-F5CF-6049-15A22D3353B9}"/>
              </a:ext>
            </a:extLst>
          </p:cNvPr>
          <p:cNvGrpSpPr/>
          <p:nvPr/>
        </p:nvGrpSpPr>
        <p:grpSpPr>
          <a:xfrm>
            <a:off x="4118571" y="3321970"/>
            <a:ext cx="4431570" cy="922336"/>
            <a:chOff x="1395616" y="871285"/>
            <a:chExt cx="3825734" cy="1064137"/>
          </a:xfrm>
        </p:grpSpPr>
        <p:sp>
          <p:nvSpPr>
            <p:cNvPr id="12" name="TextBox 11">
              <a:extLst>
                <a:ext uri="{FF2B5EF4-FFF2-40B4-BE49-F238E27FC236}">
                  <a16:creationId xmlns:a16="http://schemas.microsoft.com/office/drawing/2014/main" id="{58BB80F5-BF50-C0D2-25DF-59F695C70420}"/>
                </a:ext>
              </a:extLst>
            </p:cNvPr>
            <p:cNvSpPr txBox="1"/>
            <p:nvPr/>
          </p:nvSpPr>
          <p:spPr>
            <a:xfrm>
              <a:off x="2984420" y="1083770"/>
              <a:ext cx="2236930" cy="639170"/>
            </a:xfrm>
            <a:prstGeom prst="rect">
              <a:avLst/>
            </a:prstGeom>
            <a:noFill/>
          </p:spPr>
          <p:txBody>
            <a:bodyPr wrap="square" lIns="0" tIns="0" rIns="0" bIns="0" rtlCol="0" anchor="ctr">
              <a:spAutoFit/>
            </a:bodyPr>
            <a:lstStyle/>
            <a:p>
              <a:r>
                <a:rPr lang="en-US" sz="1800" dirty="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Working with interfaces and types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3" name="TextBox 12">
              <a:extLst>
                <a:ext uri="{FF2B5EF4-FFF2-40B4-BE49-F238E27FC236}">
                  <a16:creationId xmlns:a16="http://schemas.microsoft.com/office/drawing/2014/main" id="{6824D9CE-F522-A342-1387-CC55E9C4494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4" name="Group 13">
            <a:extLst>
              <a:ext uri="{FF2B5EF4-FFF2-40B4-BE49-F238E27FC236}">
                <a16:creationId xmlns:a16="http://schemas.microsoft.com/office/drawing/2014/main" id="{51BD1B35-A18B-68D7-E07B-1A1A9AD2E859}"/>
              </a:ext>
            </a:extLst>
          </p:cNvPr>
          <p:cNvGrpSpPr/>
          <p:nvPr/>
        </p:nvGrpSpPr>
        <p:grpSpPr>
          <a:xfrm>
            <a:off x="4118571" y="5077693"/>
            <a:ext cx="4431570" cy="922336"/>
            <a:chOff x="1395616" y="871285"/>
            <a:chExt cx="4290329" cy="1064137"/>
          </a:xfrm>
        </p:grpSpPr>
        <p:sp>
          <p:nvSpPr>
            <p:cNvPr id="15" name="TextBox 14">
              <a:extLst>
                <a:ext uri="{FF2B5EF4-FFF2-40B4-BE49-F238E27FC236}">
                  <a16:creationId xmlns:a16="http://schemas.microsoft.com/office/drawing/2014/main" id="{2BEC2032-A77D-A0B0-E149-A23467DC1CAA}"/>
                </a:ext>
              </a:extLst>
            </p:cNvPr>
            <p:cNvSpPr txBox="1"/>
            <p:nvPr/>
          </p:nvSpPr>
          <p:spPr>
            <a:xfrm>
              <a:off x="2984420" y="1243560"/>
              <a:ext cx="2701525" cy="31958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Working with classes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6" name="TextBox 15">
              <a:extLst>
                <a:ext uri="{FF2B5EF4-FFF2-40B4-BE49-F238E27FC236}">
                  <a16:creationId xmlns:a16="http://schemas.microsoft.com/office/drawing/2014/main" id="{C60195D9-2B81-A5CA-17AA-E418FAD1D320}"/>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F47B6-7C81-D099-56D9-B25C0716EF0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CC0E9F38-3F0C-20A9-FDF7-9926CC56A9E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What is Type Script</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725DD64-2B00-6D77-EF58-4B20D34C8C54}"/>
              </a:ext>
            </a:extLst>
          </p:cNvPr>
          <p:cNvSpPr txBox="1"/>
          <p:nvPr/>
        </p:nvSpPr>
        <p:spPr>
          <a:xfrm>
            <a:off x="142630" y="655071"/>
            <a:ext cx="11483853" cy="5293702"/>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 Script is enhanced version of JS,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TypeScript is a syntactic superset of JavaScript which adds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static typing</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We could say its superset of JS</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You can think like C++ is enhanced version of C</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TypeScript is built upon Java Script only</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TS = JS + Types, Like usually in JS we never provide data types while creating variables but in TS we must</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Also TS offers better syntax to manage the classes and objects</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TS cannot run directly in Browser, so it has to be converted to JS hence we have to write some special file or use modules to convert the TS to JS at runtime</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TS Compiler converts the code from TS to JS</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endPar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Benefits</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We can do checks at compile time, So error handling is easy</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Code Completion is better</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Object Oriented programming can be added which offers classes, polymorphism, inheritance etc</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Example when we define return type for the function @ design time which helps us to find compile time</a:t>
            </a:r>
          </a:p>
          <a:p>
            <a:pPr marL="342797" marR="0" lvl="0" indent="-342797" algn="l" defTabSz="914126" rtl="0" eaLnBrk="1" fontAlgn="auto" latinLnBrk="0" hangingPunct="1">
              <a:lnSpc>
                <a:spcPct val="100000"/>
              </a:lnSpc>
              <a:spcBef>
                <a:spcPts val="0"/>
              </a:spcBef>
              <a:spcAft>
                <a:spcPts val="0"/>
              </a:spcAft>
              <a:buClrTx/>
              <a:buSzTx/>
              <a:buFontTx/>
              <a:buAutoNum type="arabicPeriod"/>
              <a:tabLst/>
              <a:defRPr/>
            </a:pPr>
            <a:endPar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History</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Developed by Microsoft by enhancing JS</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First released in Oct-2012 and influenced by JS</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825366F9-2B4D-AFE8-FA33-FE876E2CDA9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075D4CF-F9E0-5E46-8452-CD3F6D569B0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37D3D9-8B87-81D3-673C-C7A55CFD326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1E7691D2-2C0D-60EE-E216-BFE6F7F8515A}"/>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F4438852-C63A-252A-9141-088B065E3CC7}"/>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165651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1000"/>
                                        <p:tgtEl>
                                          <p:spTgt spid="3">
                                            <p:txEl>
                                              <p:pRg st="10" end="10"/>
                                            </p:txEl>
                                          </p:spTgt>
                                        </p:tgtEl>
                                      </p:cBhvr>
                                    </p:animEffect>
                                    <p:anim calcmode="lin" valueType="num">
                                      <p:cBhvr>
                                        <p:cTn id="50"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1" end="11"/>
                                            </p:txEl>
                                          </p:spTgt>
                                        </p:tgtEl>
                                        <p:attrNameLst>
                                          <p:attrName>style.visibility</p:attrName>
                                        </p:attrNameLst>
                                      </p:cBhvr>
                                      <p:to>
                                        <p:strVal val="visible"/>
                                      </p:to>
                                    </p:set>
                                    <p:animEffect transition="in" filter="fade">
                                      <p:cBhvr>
                                        <p:cTn id="54" dur="1000"/>
                                        <p:tgtEl>
                                          <p:spTgt spid="3">
                                            <p:txEl>
                                              <p:pRg st="11" end="11"/>
                                            </p:txEl>
                                          </p:spTgt>
                                        </p:tgtEl>
                                      </p:cBhvr>
                                    </p:animEffect>
                                    <p:anim calcmode="lin" valueType="num">
                                      <p:cBhvr>
                                        <p:cTn id="5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animEffect transition="in" filter="fade">
                                      <p:cBhvr>
                                        <p:cTn id="59" dur="1000"/>
                                        <p:tgtEl>
                                          <p:spTgt spid="3">
                                            <p:txEl>
                                              <p:pRg st="12" end="12"/>
                                            </p:txEl>
                                          </p:spTgt>
                                        </p:tgtEl>
                                      </p:cBhvr>
                                    </p:animEffect>
                                    <p:anim calcmode="lin" valueType="num">
                                      <p:cBhvr>
                                        <p:cTn id="60"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3">
                                            <p:txEl>
                                              <p:pRg st="13" end="13"/>
                                            </p:txEl>
                                          </p:spTgt>
                                        </p:tgtEl>
                                        <p:attrNameLst>
                                          <p:attrName>style.visibility</p:attrName>
                                        </p:attrNameLst>
                                      </p:cBhvr>
                                      <p:to>
                                        <p:strVal val="visible"/>
                                      </p:to>
                                    </p:set>
                                    <p:animEffect transition="in" filter="fade">
                                      <p:cBhvr>
                                        <p:cTn id="64" dur="1000"/>
                                        <p:tgtEl>
                                          <p:spTgt spid="3">
                                            <p:txEl>
                                              <p:pRg st="13" end="13"/>
                                            </p:txEl>
                                          </p:spTgt>
                                        </p:tgtEl>
                                      </p:cBhvr>
                                    </p:animEffect>
                                    <p:anim calcmode="lin" valueType="num">
                                      <p:cBhvr>
                                        <p:cTn id="65"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6"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3">
                                            <p:txEl>
                                              <p:pRg st="14" end="14"/>
                                            </p:txEl>
                                          </p:spTgt>
                                        </p:tgtEl>
                                        <p:attrNameLst>
                                          <p:attrName>style.visibility</p:attrName>
                                        </p:attrNameLst>
                                      </p:cBhvr>
                                      <p:to>
                                        <p:strVal val="visible"/>
                                      </p:to>
                                    </p:set>
                                    <p:animEffect transition="in" filter="fade">
                                      <p:cBhvr>
                                        <p:cTn id="69" dur="1000"/>
                                        <p:tgtEl>
                                          <p:spTgt spid="3">
                                            <p:txEl>
                                              <p:pRg st="14" end="14"/>
                                            </p:txEl>
                                          </p:spTgt>
                                        </p:tgtEl>
                                      </p:cBhvr>
                                    </p:animEffect>
                                    <p:anim calcmode="lin" valueType="num">
                                      <p:cBhvr>
                                        <p:cTn id="7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3">
                                            <p:txEl>
                                              <p:pRg st="16" end="16"/>
                                            </p:txEl>
                                          </p:spTgt>
                                        </p:tgtEl>
                                        <p:attrNameLst>
                                          <p:attrName>style.visibility</p:attrName>
                                        </p:attrNameLst>
                                      </p:cBhvr>
                                      <p:to>
                                        <p:strVal val="visible"/>
                                      </p:to>
                                    </p:set>
                                    <p:animEffect transition="in" filter="fade">
                                      <p:cBhvr>
                                        <p:cTn id="76" dur="1000"/>
                                        <p:tgtEl>
                                          <p:spTgt spid="3">
                                            <p:txEl>
                                              <p:pRg st="16" end="16"/>
                                            </p:txEl>
                                          </p:spTgt>
                                        </p:tgtEl>
                                      </p:cBhvr>
                                    </p:animEffect>
                                    <p:anim calcmode="lin" valueType="num">
                                      <p:cBhvr>
                                        <p:cTn id="77" dur="1000" fill="hold"/>
                                        <p:tgtEl>
                                          <p:spTgt spid="3">
                                            <p:txEl>
                                              <p:pRg st="16" end="16"/>
                                            </p:txEl>
                                          </p:spTgt>
                                        </p:tgtEl>
                                        <p:attrNameLst>
                                          <p:attrName>ppt_x</p:attrName>
                                        </p:attrNameLst>
                                      </p:cBhvr>
                                      <p:tavLst>
                                        <p:tav tm="0">
                                          <p:val>
                                            <p:strVal val="#ppt_x"/>
                                          </p:val>
                                        </p:tav>
                                        <p:tav tm="100000">
                                          <p:val>
                                            <p:strVal val="#ppt_x"/>
                                          </p:val>
                                        </p:tav>
                                      </p:tavLst>
                                    </p:anim>
                                    <p:anim calcmode="lin" valueType="num">
                                      <p:cBhvr>
                                        <p:cTn id="78" dur="1000" fill="hold"/>
                                        <p:tgtEl>
                                          <p:spTgt spid="3">
                                            <p:txEl>
                                              <p:pRg st="16" end="16"/>
                                            </p:txEl>
                                          </p:spTgt>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3">
                                            <p:txEl>
                                              <p:pRg st="17" end="17"/>
                                            </p:txEl>
                                          </p:spTgt>
                                        </p:tgtEl>
                                        <p:attrNameLst>
                                          <p:attrName>style.visibility</p:attrName>
                                        </p:attrNameLst>
                                      </p:cBhvr>
                                      <p:to>
                                        <p:strVal val="visible"/>
                                      </p:to>
                                    </p:set>
                                    <p:animEffect transition="in" filter="fade">
                                      <p:cBhvr>
                                        <p:cTn id="81" dur="1000"/>
                                        <p:tgtEl>
                                          <p:spTgt spid="3">
                                            <p:txEl>
                                              <p:pRg st="17" end="17"/>
                                            </p:txEl>
                                          </p:spTgt>
                                        </p:tgtEl>
                                      </p:cBhvr>
                                    </p:animEffect>
                                    <p:anim calcmode="lin" valueType="num">
                                      <p:cBhvr>
                                        <p:cTn id="82" dur="1000" fill="hold"/>
                                        <p:tgtEl>
                                          <p:spTgt spid="3">
                                            <p:txEl>
                                              <p:pRg st="17" end="17"/>
                                            </p:txEl>
                                          </p:spTgt>
                                        </p:tgtEl>
                                        <p:attrNameLst>
                                          <p:attrName>ppt_x</p:attrName>
                                        </p:attrNameLst>
                                      </p:cBhvr>
                                      <p:tavLst>
                                        <p:tav tm="0">
                                          <p:val>
                                            <p:strVal val="#ppt_x"/>
                                          </p:val>
                                        </p:tav>
                                        <p:tav tm="100000">
                                          <p:val>
                                            <p:strVal val="#ppt_x"/>
                                          </p:val>
                                        </p:tav>
                                      </p:tavLst>
                                    </p:anim>
                                    <p:anim calcmode="lin" valueType="num">
                                      <p:cBhvr>
                                        <p:cTn id="83" dur="1000" fill="hold"/>
                                        <p:tgtEl>
                                          <p:spTgt spid="3">
                                            <p:txEl>
                                              <p:pRg st="17" end="17"/>
                                            </p:txEl>
                                          </p:spTgt>
                                        </p:tgtEl>
                                        <p:attrNameLst>
                                          <p:attrName>ppt_y</p:attrName>
                                        </p:attrNameLst>
                                      </p:cBhvr>
                                      <p:tavLst>
                                        <p:tav tm="0">
                                          <p:val>
                                            <p:strVal val="#ppt_y+.1"/>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3">
                                            <p:txEl>
                                              <p:pRg st="18" end="18"/>
                                            </p:txEl>
                                          </p:spTgt>
                                        </p:tgtEl>
                                        <p:attrNameLst>
                                          <p:attrName>style.visibility</p:attrName>
                                        </p:attrNameLst>
                                      </p:cBhvr>
                                      <p:to>
                                        <p:strVal val="visible"/>
                                      </p:to>
                                    </p:set>
                                    <p:animEffect transition="in" filter="fade">
                                      <p:cBhvr>
                                        <p:cTn id="86" dur="1000"/>
                                        <p:tgtEl>
                                          <p:spTgt spid="3">
                                            <p:txEl>
                                              <p:pRg st="18" end="18"/>
                                            </p:txEl>
                                          </p:spTgt>
                                        </p:tgtEl>
                                      </p:cBhvr>
                                    </p:animEffect>
                                    <p:anim calcmode="lin" valueType="num">
                                      <p:cBhvr>
                                        <p:cTn id="87" dur="1000" fill="hold"/>
                                        <p:tgtEl>
                                          <p:spTgt spid="3">
                                            <p:txEl>
                                              <p:pRg st="18" end="18"/>
                                            </p:txEl>
                                          </p:spTgt>
                                        </p:tgtEl>
                                        <p:attrNameLst>
                                          <p:attrName>ppt_x</p:attrName>
                                        </p:attrNameLst>
                                      </p:cBhvr>
                                      <p:tavLst>
                                        <p:tav tm="0">
                                          <p:val>
                                            <p:strVal val="#ppt_x"/>
                                          </p:val>
                                        </p:tav>
                                        <p:tav tm="100000">
                                          <p:val>
                                            <p:strVal val="#ppt_x"/>
                                          </p:val>
                                        </p:tav>
                                      </p:tavLst>
                                    </p:anim>
                                    <p:anim calcmode="lin" valueType="num">
                                      <p:cBhvr>
                                        <p:cTn id="88" dur="1000" fill="hold"/>
                                        <p:tgtEl>
                                          <p:spTgt spid="3">
                                            <p:txEl>
                                              <p:pRg st="18" end="18"/>
                                            </p:txEl>
                                          </p:spTgt>
                                        </p:tgtEl>
                                        <p:attrNameLst>
                                          <p:attrName>ppt_y</p:attrName>
                                        </p:attrNameLst>
                                      </p:cBhvr>
                                      <p:tavLst>
                                        <p:tav tm="0">
                                          <p:val>
                                            <p:strVal val="#ppt_y+.1"/>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fade">
                                      <p:cBhvr>
                                        <p:cTn id="91" dur="1000"/>
                                        <p:tgtEl>
                                          <p:spTgt spid="9"/>
                                        </p:tgtEl>
                                      </p:cBhvr>
                                    </p:animEffect>
                                    <p:anim calcmode="lin" valueType="num">
                                      <p:cBhvr>
                                        <p:cTn id="92" dur="1000" fill="hold"/>
                                        <p:tgtEl>
                                          <p:spTgt spid="9"/>
                                        </p:tgtEl>
                                        <p:attrNameLst>
                                          <p:attrName>ppt_x</p:attrName>
                                        </p:attrNameLst>
                                      </p:cBhvr>
                                      <p:tavLst>
                                        <p:tav tm="0">
                                          <p:val>
                                            <p:strVal val="#ppt_x"/>
                                          </p:val>
                                        </p:tav>
                                        <p:tav tm="100000">
                                          <p:val>
                                            <p:strVal val="#ppt_x"/>
                                          </p:val>
                                        </p:tav>
                                      </p:tavLst>
                                    </p:anim>
                                    <p:anim calcmode="lin" valueType="num">
                                      <p:cBhvr>
                                        <p:cTn id="9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619-40C1-1AAF-F549-CF77C15C2EE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382A3FD-CF73-C89A-B105-0E9813383F9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Variable Creation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41DE8E74-AF39-656E-EBCB-DE3A61B3FB4D}"/>
              </a:ext>
            </a:extLst>
          </p:cNvPr>
          <p:cNvSpPr txBox="1"/>
          <p:nvPr/>
        </p:nvSpPr>
        <p:spPr>
          <a:xfrm>
            <a:off x="142630" y="655071"/>
            <a:ext cx="11483853" cy="5384665"/>
          </a:xfrm>
          <a:prstGeom prst="rect">
            <a:avLst/>
          </a:prstGeom>
          <a:noFill/>
        </p:spPr>
        <p:txBody>
          <a:bodyPr wrap="square" lIns="121867" tIns="60933" rIns="121867" bIns="60933" rtlCol="0">
            <a:spAutoFit/>
          </a:bodyPr>
          <a:lstStyle/>
          <a:p>
            <a:pPr marL="285750" marR="0" lvl="0" indent="-285750"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The most basic types in TypeScript are called </a:t>
            </a: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primitives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a:t>
            </a:r>
          </a:p>
          <a:p>
            <a:pPr marL="285750" marR="0" lvl="0" indent="-285750"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These types form the building blocks of more complex types in your applications.</a:t>
            </a:r>
          </a:p>
          <a:p>
            <a:pPr marL="285750" marR="0" lvl="0" indent="-285750"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TypeScript includes all JavaScript primitives plus additional type features.</a:t>
            </a:r>
          </a:p>
          <a:p>
            <a:pPr marL="285750" marR="0" lvl="0" indent="-285750"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Here are the five primitive types you'll use most often:</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varName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 datatype = value;</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isActive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boolean</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 true;</a:t>
            </a:r>
            <a:b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hasPermission</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 false; // TypeScript infers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boolean</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type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decimal: number = 6;</a:t>
            </a:r>
            <a:b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hex: number = 0xf00d;       // Hexadecimal</a:t>
            </a:r>
            <a:b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binary: number = 0b1010;     // Binary</a:t>
            </a:r>
            <a:b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octal: number = 0o744;      // Octal</a:t>
            </a:r>
            <a:b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float: number = 3.14;      // Floating point</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color: string = "blue";</a:t>
            </a:r>
            <a:b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fullName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string = 'John Doe';</a:t>
            </a:r>
            <a:b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age: number = 30;</a:t>
            </a:r>
            <a:b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let sentence: string = `Hello, my name is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fullName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and I'll be ${age + 1} next year.`;</a:t>
            </a:r>
          </a:p>
        </p:txBody>
      </p:sp>
      <p:sp>
        <p:nvSpPr>
          <p:cNvPr id="4" name="TextBox 3">
            <a:extLst>
              <a:ext uri="{FF2B5EF4-FFF2-40B4-BE49-F238E27FC236}">
                <a16:creationId xmlns:a16="http://schemas.microsoft.com/office/drawing/2014/main" id="{0D8B0749-10E3-0FBB-C6FD-994748A2196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E833806-7B26-94E0-3775-6F80FE0CEFA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7B43491-0AB6-2035-4038-CEA7884AD671}"/>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5B4D2C62-36D7-323F-FCBF-BBFD3190794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2373515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1000"/>
                                        <p:tgtEl>
                                          <p:spTgt spid="3">
                                            <p:txEl>
                                              <p:pRg st="6" end="6"/>
                                            </p:txEl>
                                          </p:spTgt>
                                        </p:tgtEl>
                                      </p:cBhvr>
                                    </p:animEffect>
                                    <p:anim calcmode="lin" valueType="num">
                                      <p:cBhvr>
                                        <p:cTn id="3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1000"/>
                                        <p:tgtEl>
                                          <p:spTgt spid="3">
                                            <p:txEl>
                                              <p:pRg st="8" end="8"/>
                                            </p:txEl>
                                          </p:spTgt>
                                        </p:tgtEl>
                                      </p:cBhvr>
                                    </p:animEffect>
                                    <p:anim calcmode="lin" valueType="num">
                                      <p:cBhvr>
                                        <p:cTn id="3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861EF-61EC-42FB-83F6-29AE0B651BB4}"/>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5EB9415-1D12-1F94-DF89-9351330C5C9D}"/>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How to run TS code in VS Code/BAS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6BED232F-AF5B-7663-9E75-CCCA88362B37}"/>
              </a:ext>
            </a:extLst>
          </p:cNvPr>
          <p:cNvSpPr txBox="1"/>
          <p:nvPr/>
        </p:nvSpPr>
        <p:spPr>
          <a:xfrm>
            <a:off x="142630" y="655071"/>
            <a:ext cx="11483853" cy="4555039"/>
          </a:xfrm>
          <a:prstGeom prst="rect">
            <a:avLst/>
          </a:prstGeom>
          <a:noFill/>
        </p:spPr>
        <p:txBody>
          <a:bodyPr wrap="square" lIns="121867" tIns="60933" rIns="121867" bIns="60933" rtlCol="0">
            <a:spAutoFit/>
          </a:bodyPr>
          <a:lstStyle/>
          <a:p>
            <a:pPr marL="0" marR="0" lvl="0" indent="0" algn="just" defTabSz="914126" rtl="0" eaLnBrk="1" fontAlgn="auto" latinLnBrk="0" hangingPunct="1">
              <a:lnSpc>
                <a:spcPct val="100000"/>
              </a:lnSpc>
              <a:spcBef>
                <a:spcPts val="0"/>
              </a:spcBef>
              <a:spcAft>
                <a:spcPts val="0"/>
              </a:spcAft>
              <a:buClrTx/>
              <a:buSzTx/>
              <a:buFont typeface="Arial"/>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TypeScript is a superset of JavaScript that adds features such as data types, interfaces, classes, and compile-time error checking. Since browsers and Node.js understand JavaScript, TypeScript code must first be converted (compiled) into JavaScript before it can be executed. Visual Studio Code provides excellent support for TypeScript development, including syntax highlighting, IntelliSense, debugging, and terminal integration. To work with TypeScript, developers typically install Node.js, TypeScript, and optionally </a:t>
            </a:r>
            <a:r>
              <a:rPr kumimoji="0" lang="en-US"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-node, which allows TypeScript files to be executed directly without manually compiling them.</a:t>
            </a:r>
          </a:p>
          <a:p>
            <a:pPr marL="0" marR="0" lvl="0" indent="0" algn="just" defTabSz="914126" rtl="0" eaLnBrk="1" fontAlgn="auto" latinLnBrk="0" hangingPunct="1">
              <a:lnSpc>
                <a:spcPct val="100000"/>
              </a:lnSpc>
              <a:spcBef>
                <a:spcPts val="0"/>
              </a:spcBef>
              <a:spcAft>
                <a:spcPts val="0"/>
              </a:spcAft>
              <a:buClrTx/>
              <a:buSzTx/>
              <a:buFont typeface="Arial"/>
              <a:buNone/>
              <a:tabLst/>
              <a:defRPr/>
            </a:pP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just" defTabSz="914126" rtl="0" eaLnBrk="1" fontAlgn="auto" latinLnBrk="0" hangingPunct="1">
              <a:lnSpc>
                <a:spcPct val="100000"/>
              </a:lnSpc>
              <a:spcBef>
                <a:spcPts val="0"/>
              </a:spcBef>
              <a:spcAft>
                <a:spcPts val="0"/>
              </a:spcAft>
              <a:buClrTx/>
              <a:buSzTx/>
              <a:buFont typeface="Arial"/>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TypeScript can be installed globally using </a:t>
            </a:r>
            <a:r>
              <a:rPr kumimoji="0" lang="en-US"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npm</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This provides access to the TypeScript Compiler (</a:t>
            </a:r>
            <a:r>
              <a:rPr kumimoji="0" lang="en-US"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tsc</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from any terminal window.</a:t>
            </a:r>
          </a:p>
          <a:p>
            <a:pPr marL="0" marR="0" lvl="0" indent="0" algn="just" defTabSz="914126" rtl="0" eaLnBrk="1" fontAlgn="auto" latinLnBrk="0" hangingPunct="1">
              <a:lnSpc>
                <a:spcPct val="100000"/>
              </a:lnSpc>
              <a:spcBef>
                <a:spcPts val="0"/>
              </a:spcBef>
              <a:spcAft>
                <a:spcPts val="0"/>
              </a:spcAft>
              <a:buClrTx/>
              <a:buSzTx/>
              <a:buFont typeface="Arial"/>
              <a:buNone/>
              <a:tabLst/>
              <a:defRPr/>
            </a:pPr>
            <a:r>
              <a:rPr kumimoji="0" lang="en-IN"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npm</a:t>
            </a: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install -g typescript   	</a:t>
            </a:r>
            <a:r>
              <a:rPr kumimoji="0" lang="en-IN" sz="1400" b="0" i="1" u="none" strike="noStrike" kern="1200" cap="none" spc="0" normalizeH="0" baseline="0" noProof="0" dirty="0">
                <a:ln>
                  <a:noFill/>
                </a:ln>
                <a:solidFill>
                  <a:prstClr val="black"/>
                </a:solidFill>
                <a:effectLst/>
                <a:uLnTx/>
                <a:uFillTx/>
                <a:latin typeface="Aptos" panose="02110004020202020204"/>
                <a:ea typeface="+mn-ea"/>
                <a:cs typeface="Arial"/>
                <a:sym typeface="Arial"/>
              </a:rPr>
              <a:t>--Install TypeScript</a:t>
            </a:r>
            <a:endParaRPr kumimoji="0" lang="en-IN" sz="1600" b="0" i="1"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just" defTabSz="914126" rtl="0" eaLnBrk="1" fontAlgn="auto" latinLnBrk="0" hangingPunct="1">
              <a:lnSpc>
                <a:spcPct val="100000"/>
              </a:lnSpc>
              <a:spcBef>
                <a:spcPts val="0"/>
              </a:spcBef>
              <a:spcAft>
                <a:spcPts val="0"/>
              </a:spcAft>
              <a:buClrTx/>
              <a:buSzTx/>
              <a:buFont typeface="Arial"/>
              <a:buNone/>
              <a:tabLst/>
              <a:defRPr/>
            </a:pPr>
            <a:r>
              <a:rPr kumimoji="0" lang="en-IN"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tsc</a:t>
            </a: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IN"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hello.ts</a:t>
            </a: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IN" sz="1400" b="0" i="1" u="none" strike="noStrike" kern="1200" cap="none" spc="0" normalizeH="0" baseline="0" noProof="0" dirty="0">
                <a:ln>
                  <a:noFill/>
                </a:ln>
                <a:solidFill>
                  <a:prstClr val="black"/>
                </a:solidFill>
                <a:effectLst/>
                <a:uLnTx/>
                <a:uFillTx/>
                <a:latin typeface="Aptos" panose="02110004020202020204"/>
                <a:ea typeface="+mn-ea"/>
                <a:cs typeface="Arial"/>
                <a:sym typeface="Arial"/>
              </a:rPr>
              <a:t>--The TypeScript Compiler (</a:t>
            </a:r>
            <a:r>
              <a:rPr kumimoji="0" lang="en-IN" sz="1400" b="0" i="1"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tsc</a:t>
            </a:r>
            <a:r>
              <a:rPr kumimoji="0" lang="en-IN" sz="1400" b="0" i="1" u="none" strike="noStrike" kern="1200" cap="none" spc="0" normalizeH="0" baseline="0" noProof="0" dirty="0">
                <a:ln>
                  <a:noFill/>
                </a:ln>
                <a:solidFill>
                  <a:prstClr val="black"/>
                </a:solidFill>
                <a:effectLst/>
                <a:uLnTx/>
                <a:uFillTx/>
                <a:latin typeface="Aptos" panose="02110004020202020204"/>
                <a:ea typeface="+mn-ea"/>
                <a:cs typeface="Arial"/>
                <a:sym typeface="Arial"/>
              </a:rPr>
              <a:t>) converts .</a:t>
            </a:r>
            <a:r>
              <a:rPr kumimoji="0" lang="en-IN" sz="1400" b="0" i="1"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a:t>
            </a:r>
            <a:r>
              <a:rPr kumimoji="0" lang="en-IN" sz="1400" b="0" i="1" u="none" strike="noStrike" kern="1200" cap="none" spc="0" normalizeH="0" baseline="0" noProof="0" dirty="0">
                <a:ln>
                  <a:noFill/>
                </a:ln>
                <a:solidFill>
                  <a:prstClr val="black"/>
                </a:solidFill>
                <a:effectLst/>
                <a:uLnTx/>
                <a:uFillTx/>
                <a:latin typeface="Aptos" panose="02110004020202020204"/>
                <a:ea typeface="+mn-ea"/>
                <a:cs typeface="Arial"/>
                <a:sym typeface="Arial"/>
              </a:rPr>
              <a:t> files into .</a:t>
            </a:r>
            <a:r>
              <a:rPr kumimoji="0" lang="en-IN" sz="1400" b="0" i="1" u="none" strike="noStrike" kern="1200" cap="none" spc="0" normalizeH="0" baseline="0" noProof="0" dirty="0" err="1">
                <a:ln>
                  <a:noFill/>
                </a:ln>
                <a:solidFill>
                  <a:prstClr val="black"/>
                </a:solidFill>
                <a:effectLst/>
                <a:uLnTx/>
                <a:uFillTx/>
                <a:latin typeface="Aptos" panose="02110004020202020204"/>
                <a:ea typeface="+mn-ea"/>
                <a:cs typeface="Arial"/>
                <a:sym typeface="Arial"/>
              </a:rPr>
              <a:t>js</a:t>
            </a:r>
            <a:r>
              <a:rPr kumimoji="0" lang="en-IN" sz="1400" b="0" i="1" u="none" strike="noStrike" kern="1200" cap="none" spc="0" normalizeH="0" baseline="0" noProof="0" dirty="0">
                <a:ln>
                  <a:noFill/>
                </a:ln>
                <a:solidFill>
                  <a:prstClr val="black"/>
                </a:solidFill>
                <a:effectLst/>
                <a:uLnTx/>
                <a:uFillTx/>
                <a:latin typeface="Aptos" panose="02110004020202020204"/>
                <a:ea typeface="+mn-ea"/>
                <a:cs typeface="Arial"/>
                <a:sym typeface="Arial"/>
              </a:rPr>
              <a:t> files that can be executed by Node.js.</a:t>
            </a:r>
          </a:p>
          <a:p>
            <a:pPr marL="0" marR="0" lvl="0" indent="0" algn="just" defTabSz="914126" rtl="0" eaLnBrk="1" fontAlgn="auto" latinLnBrk="0" hangingPunct="1">
              <a:lnSpc>
                <a:spcPct val="100000"/>
              </a:lnSpc>
              <a:spcBef>
                <a:spcPts val="0"/>
              </a:spcBef>
              <a:spcAft>
                <a:spcPts val="0"/>
              </a:spcAft>
              <a:buClrTx/>
              <a:buSzTx/>
              <a:buFont typeface="Arial"/>
              <a:buNone/>
              <a:tabLst/>
              <a:defRPr/>
            </a:pP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node hello.js		</a:t>
            </a:r>
            <a:r>
              <a:rPr kumimoji="0" lang="en-IN" sz="1400" b="0" i="1" u="none" strike="noStrike" kern="1200" cap="none" spc="0" normalizeH="0" baseline="0" noProof="0" dirty="0">
                <a:ln>
                  <a:noFill/>
                </a:ln>
                <a:solidFill>
                  <a:prstClr val="black"/>
                </a:solidFill>
                <a:effectLst/>
                <a:uLnTx/>
                <a:uFillTx/>
                <a:latin typeface="Aptos" panose="02110004020202020204"/>
                <a:ea typeface="+mn-ea"/>
                <a:cs typeface="Arial"/>
                <a:sym typeface="Arial"/>
              </a:rPr>
              <a:t>--Run the Generated JavaScript File:</a:t>
            </a:r>
          </a:p>
          <a:p>
            <a:pPr marL="0" marR="0" lvl="0" indent="0" algn="just" defTabSz="914126" rtl="0" eaLnBrk="1" fontAlgn="auto" latinLnBrk="0" hangingPunct="1">
              <a:lnSpc>
                <a:spcPct val="100000"/>
              </a:lnSpc>
              <a:spcBef>
                <a:spcPts val="0"/>
              </a:spcBef>
              <a:spcAft>
                <a:spcPts val="0"/>
              </a:spcAft>
              <a:buClrTx/>
              <a:buSzTx/>
              <a:buFont typeface="Arial"/>
              <a:buNone/>
              <a:tabLst/>
              <a:defRPr/>
            </a:pPr>
            <a:endPar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just" defTabSz="914126" rtl="0" eaLnBrk="1" fontAlgn="auto" latinLnBrk="0" hangingPunct="1">
              <a:lnSpc>
                <a:spcPct val="100000"/>
              </a:lnSpc>
              <a:spcBef>
                <a:spcPts val="0"/>
              </a:spcBef>
              <a:spcAft>
                <a:spcPts val="0"/>
              </a:spcAft>
              <a:buClrTx/>
              <a:buSzTx/>
              <a:buFont typeface="Arial"/>
              <a:buNone/>
              <a:tabLst/>
              <a:defRPr/>
            </a:pPr>
            <a:endPar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just" defTabSz="914126" rtl="0" eaLnBrk="1" fontAlgn="auto" latinLnBrk="0" hangingPunct="1">
              <a:lnSpc>
                <a:spcPct val="100000"/>
              </a:lnSpc>
              <a:spcBef>
                <a:spcPts val="0"/>
              </a:spcBef>
              <a:spcAft>
                <a:spcPts val="0"/>
              </a:spcAft>
              <a:buClrTx/>
              <a:buSzTx/>
              <a:buFont typeface="Arial"/>
              <a:buNone/>
              <a:tabLst/>
              <a:defRPr/>
            </a:pPr>
            <a:endPar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just" defTabSz="914126" rtl="0" eaLnBrk="1" fontAlgn="auto" latinLnBrk="0" hangingPunct="1">
              <a:lnSpc>
                <a:spcPct val="100000"/>
              </a:lnSpc>
              <a:spcBef>
                <a:spcPts val="0"/>
              </a:spcBef>
              <a:spcAft>
                <a:spcPts val="0"/>
              </a:spcAft>
              <a:buClrTx/>
              <a:buSzTx/>
              <a:buFont typeface="Arial"/>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Instead of compiling manually every time, developers often use </a:t>
            </a:r>
            <a:r>
              <a:rPr kumimoji="0" lang="en-US"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-node, which compiles and executes TypeScript in a single step.</a:t>
            </a:r>
          </a:p>
          <a:p>
            <a:pPr marL="0" marR="0" lvl="0" indent="0" algn="just" defTabSz="914126" rtl="0" eaLnBrk="1" fontAlgn="auto" latinLnBrk="0" hangingPunct="1">
              <a:lnSpc>
                <a:spcPct val="100000"/>
              </a:lnSpc>
              <a:spcBef>
                <a:spcPts val="0"/>
              </a:spcBef>
              <a:spcAft>
                <a:spcPts val="0"/>
              </a:spcAft>
              <a:buClrTx/>
              <a:buSzTx/>
              <a:buFont typeface="Arial"/>
              <a:buNone/>
              <a:tabLst/>
              <a:defRPr/>
            </a:pP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just" defTabSz="914126" rtl="0" eaLnBrk="1" fontAlgn="auto" latinLnBrk="0" hangingPunct="1">
              <a:lnSpc>
                <a:spcPct val="100000"/>
              </a:lnSpc>
              <a:spcBef>
                <a:spcPts val="0"/>
              </a:spcBef>
              <a:spcAft>
                <a:spcPts val="0"/>
              </a:spcAft>
              <a:buClrTx/>
              <a:buSzTx/>
              <a:buFont typeface="Arial"/>
              <a:buNone/>
              <a:tabLst/>
              <a:defRPr/>
            </a:pPr>
            <a:r>
              <a:rPr kumimoji="0" lang="en-IN"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npm</a:t>
            </a: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install -g </a:t>
            </a:r>
            <a:r>
              <a:rPr kumimoji="0" lang="en-IN"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a:t>
            </a: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-node</a:t>
            </a:r>
          </a:p>
          <a:p>
            <a:pPr marL="0" marR="0" lvl="0" indent="0" algn="just" defTabSz="914126" rtl="0" eaLnBrk="1" fontAlgn="auto" latinLnBrk="0" hangingPunct="1">
              <a:lnSpc>
                <a:spcPct val="100000"/>
              </a:lnSpc>
              <a:spcBef>
                <a:spcPts val="0"/>
              </a:spcBef>
              <a:spcAft>
                <a:spcPts val="0"/>
              </a:spcAft>
              <a:buClrTx/>
              <a:buSzTx/>
              <a:buFont typeface="Arial"/>
              <a:buNone/>
              <a:tabLst/>
              <a:defRPr/>
            </a:pPr>
            <a:r>
              <a:rPr kumimoji="0" lang="en-IN"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a:t>
            </a:r>
            <a:r>
              <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-node </a:t>
            </a:r>
            <a:r>
              <a:rPr kumimoji="0" lang="en-IN" sz="16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hello.ts</a:t>
            </a:r>
            <a:endParaRPr kumimoji="0" lang="en-IN" sz="16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696E9FB4-37F0-21A5-A4FE-AA1425E71F64}"/>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4D4C75C8-945A-81A4-78B0-574BD370F08E}"/>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33C121A3-8987-CCB9-6080-7BA13FA6579D}"/>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1E05A7E4-F127-C15D-8FC2-5C8025E6D4B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6423B82-ED00-9DF1-96CF-8667A5C22C88}"/>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2219282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1000"/>
                                        <p:tgtEl>
                                          <p:spTgt spid="3">
                                            <p:txEl>
                                              <p:pRg st="3" end="3"/>
                                            </p:txEl>
                                          </p:spTgt>
                                        </p:tgtEl>
                                      </p:cBhvr>
                                    </p:animEffect>
                                    <p:anim calcmode="lin" valueType="num">
                                      <p:cBhvr>
                                        <p:cTn id="2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1000"/>
                                        <p:tgtEl>
                                          <p:spTgt spid="3">
                                            <p:txEl>
                                              <p:pRg st="4" end="4"/>
                                            </p:txEl>
                                          </p:spTgt>
                                        </p:tgtEl>
                                      </p:cBhvr>
                                    </p:animEffect>
                                    <p:anim calcmode="lin" valueType="num">
                                      <p:cBhvr>
                                        <p:cTn id="2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fade">
                                      <p:cBhvr>
                                        <p:cTn id="35" dur="1000"/>
                                        <p:tgtEl>
                                          <p:spTgt spid="3">
                                            <p:txEl>
                                              <p:pRg st="5" end="5"/>
                                            </p:txEl>
                                          </p:spTgt>
                                        </p:tgtEl>
                                      </p:cBhvr>
                                    </p:animEffect>
                                    <p:anim calcmode="lin" valueType="num">
                                      <p:cBhvr>
                                        <p:cTn id="36"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1000"/>
                                        <p:tgtEl>
                                          <p:spTgt spid="3">
                                            <p:txEl>
                                              <p:pRg st="9" end="9"/>
                                            </p:txEl>
                                          </p:spTgt>
                                        </p:tgtEl>
                                      </p:cBhvr>
                                    </p:animEffect>
                                    <p:anim calcmode="lin" valueType="num">
                                      <p:cBhvr>
                                        <p:cTn id="43"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2" end="12"/>
                                            </p:txEl>
                                          </p:spTgt>
                                        </p:tgtEl>
                                        <p:attrNameLst>
                                          <p:attrName>style.visibility</p:attrName>
                                        </p:attrNameLst>
                                      </p:cBhvr>
                                      <p:to>
                                        <p:strVal val="visible"/>
                                      </p:to>
                                    </p:set>
                                    <p:animEffect transition="in" filter="fade">
                                      <p:cBhvr>
                                        <p:cTn id="56" dur="1000"/>
                                        <p:tgtEl>
                                          <p:spTgt spid="3">
                                            <p:txEl>
                                              <p:pRg st="12" end="12"/>
                                            </p:txEl>
                                          </p:spTgt>
                                        </p:tgtEl>
                                      </p:cBhvr>
                                    </p:animEffect>
                                    <p:anim calcmode="lin" valueType="num">
                                      <p:cBhvr>
                                        <p:cTn id="5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1000"/>
                                        <p:tgtEl>
                                          <p:spTgt spid="9"/>
                                        </p:tgtEl>
                                      </p:cBhvr>
                                    </p:animEffect>
                                    <p:anim calcmode="lin" valueType="num">
                                      <p:cBhvr>
                                        <p:cTn id="62" dur="1000" fill="hold"/>
                                        <p:tgtEl>
                                          <p:spTgt spid="9"/>
                                        </p:tgtEl>
                                        <p:attrNameLst>
                                          <p:attrName>ppt_x</p:attrName>
                                        </p:attrNameLst>
                                      </p:cBhvr>
                                      <p:tavLst>
                                        <p:tav tm="0">
                                          <p:val>
                                            <p:strVal val="#ppt_x"/>
                                          </p:val>
                                        </p:tav>
                                        <p:tav tm="100000">
                                          <p:val>
                                            <p:strVal val="#ppt_x"/>
                                          </p:val>
                                        </p:tav>
                                      </p:tavLst>
                                    </p:anim>
                                    <p:anim calcmode="lin" valueType="num">
                                      <p:cBhvr>
                                        <p:cTn id="6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33482-03CC-0AD9-5458-285B49E53E4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3F63B317-0AF9-F0D5-D83F-D5CCD77BD0D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Type Annotations and Inference</a:t>
            </a:r>
          </a:p>
          <a:p>
            <a:pPr marL="0" marR="0" lvl="0" indent="0" algn="l" defTabSz="914126" rtl="0" eaLnBrk="1" fontAlgn="auto" latinLnBrk="0" hangingPunct="1">
              <a:lnSpc>
                <a:spcPct val="90000"/>
              </a:lnSpc>
              <a:spcBef>
                <a:spcPct val="0"/>
              </a:spcBef>
              <a:spcAft>
                <a:spcPts val="0"/>
              </a:spcAft>
              <a:buClrTx/>
              <a:buSzTx/>
              <a:buFont typeface="Arial"/>
              <a:buNone/>
              <a:tabLst/>
              <a:defRPr/>
            </a:pP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ECC3AD2D-3DB3-9393-A882-8634EC90587C}"/>
              </a:ext>
            </a:extLst>
          </p:cNvPr>
          <p:cNvSpPr txBox="1"/>
          <p:nvPr/>
        </p:nvSpPr>
        <p:spPr>
          <a:xfrm>
            <a:off x="142630" y="655071"/>
            <a:ext cx="11483853" cy="5815384"/>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TypeScript offers two ways to work with types: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Explicit Typing</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You explicitly declare the type of a variable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 Inference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TypeScript automatically determines the type based on the assigned value</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When to Use Each Approach</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Use </a:t>
            </a: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explicit types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for:</a:t>
            </a:r>
          </a:p>
          <a:p>
            <a:pPr marL="457063" marR="0" lvl="1"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Function parameters and return types</a:t>
            </a:r>
          </a:p>
          <a:p>
            <a:pPr marL="457063" marR="0" lvl="1"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Object literals</a:t>
            </a:r>
          </a:p>
          <a:p>
            <a:pPr marL="457063" marR="0" lvl="1"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When the initial value might not be the final type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Use </a:t>
            </a: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 inference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for:</a:t>
            </a:r>
          </a:p>
          <a:p>
            <a:pPr marL="457063" marR="0" lvl="1"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Simple variable declarations with immediate assignment</a:t>
            </a:r>
          </a:p>
          <a:p>
            <a:pPr marL="457063" marR="0" lvl="1"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When the type is obvious from the context</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String</a:t>
            </a: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greeting: string = "Hello, TypeScript!";</a:t>
            </a: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Number</a:t>
            </a: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4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userCount</a:t>
            </a:r>
            <a: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number = 42;</a:t>
            </a: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Boolean</a:t>
            </a: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4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isLoading</a:t>
            </a:r>
            <a: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US" sz="1400"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boolean</a:t>
            </a:r>
            <a: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 true;</a:t>
            </a: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Array of numbers</a:t>
            </a:r>
            <a:b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4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scores: number[] = [100, 95, 98];</a:t>
            </a:r>
          </a:p>
        </p:txBody>
      </p:sp>
      <p:sp>
        <p:nvSpPr>
          <p:cNvPr id="4" name="TextBox 3">
            <a:extLst>
              <a:ext uri="{FF2B5EF4-FFF2-40B4-BE49-F238E27FC236}">
                <a16:creationId xmlns:a16="http://schemas.microsoft.com/office/drawing/2014/main" id="{40550172-C8FC-E014-6A77-35031BFEC2B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F5A34E66-E449-02B7-36A7-30A06BF2A5A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567AF1-F694-2A5A-D968-591789833BB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50754381-0491-3243-83A1-04ED30D37FA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
        <p:nvSpPr>
          <p:cNvPr id="9" name="TextBox 8">
            <a:extLst>
              <a:ext uri="{FF2B5EF4-FFF2-40B4-BE49-F238E27FC236}">
                <a16:creationId xmlns:a16="http://schemas.microsoft.com/office/drawing/2014/main" id="{8E5CA562-8113-7900-B865-C181FE7E88FB}"/>
              </a:ext>
            </a:extLst>
          </p:cNvPr>
          <p:cNvSpPr txBox="1"/>
          <p:nvPr/>
        </p:nvSpPr>
        <p:spPr>
          <a:xfrm>
            <a:off x="5182182" y="4716586"/>
            <a:ext cx="6095434" cy="1753869"/>
          </a:xfrm>
          <a:prstGeom prst="rect">
            <a:avLst/>
          </a:prstGeom>
          <a:noFill/>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708090"/>
                </a:solidFill>
                <a:effectLst/>
                <a:uLnTx/>
                <a:uFillTx/>
                <a:latin typeface="Consolas" panose="020B0609020204030204" pitchFamily="49" charset="0"/>
                <a:ea typeface="+mn-ea"/>
                <a:cs typeface="Arial"/>
                <a:sym typeface="Arial"/>
              </a:rPr>
              <a:t>// Function with explicit parameter and return types</a:t>
            </a:r>
            <a:br>
              <a:rPr kumimoji="0" lang="en-US" sz="1200" b="0" i="0" u="none" strike="noStrike" kern="1200" cap="none" spc="0" normalizeH="0" baseline="0" noProof="0" dirty="0">
                <a:ln>
                  <a:noFill/>
                </a:ln>
                <a:solidFill>
                  <a:srgbClr val="708090"/>
                </a:solidFill>
                <a:effectLst/>
                <a:uLnTx/>
                <a:uFillTx/>
                <a:latin typeface="Consolas" panose="020B0609020204030204" pitchFamily="49" charset="0"/>
                <a:ea typeface="+mn-ea"/>
                <a:cs typeface="Arial"/>
                <a:sym typeface="Arial"/>
              </a:rPr>
            </a:br>
            <a:r>
              <a:rPr kumimoji="0" lang="en-US" sz="1200" b="0" i="0" u="none" strike="noStrike" kern="1200" cap="none" spc="0" normalizeH="0" baseline="0" noProof="0" dirty="0">
                <a:ln>
                  <a:noFill/>
                </a:ln>
                <a:solidFill>
                  <a:srgbClr val="005CC5"/>
                </a:solidFill>
                <a:effectLst/>
                <a:uLnTx/>
                <a:uFillTx/>
                <a:latin typeface="Consolas" panose="020B0609020204030204" pitchFamily="49" charset="0"/>
                <a:ea typeface="+mn-ea"/>
                <a:cs typeface="Arial"/>
                <a:sym typeface="Arial"/>
              </a:rPr>
              <a:t>function</a:t>
            </a:r>
            <a:r>
              <a:rPr kumimoji="0" lang="en-US"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Arial"/>
                <a:sym typeface="Arial"/>
              </a:rPr>
              <a:t> greet(name: string): string {</a:t>
            </a:r>
            <a:b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200" b="0" i="0" u="none" strike="noStrike" kern="1200" cap="none" spc="0" normalizeH="0" baseline="0" noProof="0" dirty="0">
                <a:ln>
                  <a:noFill/>
                </a:ln>
                <a:solidFill>
                  <a:srgbClr val="005CC5"/>
                </a:solidFill>
                <a:effectLst/>
                <a:uLnTx/>
                <a:uFillTx/>
                <a:latin typeface="Consolas" panose="020B0609020204030204" pitchFamily="49" charset="0"/>
                <a:ea typeface="+mn-ea"/>
                <a:cs typeface="Arial"/>
                <a:sym typeface="Arial"/>
              </a:rPr>
              <a:t>return</a:t>
            </a:r>
            <a:r>
              <a:rPr kumimoji="0" lang="en-US"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Arial"/>
                <a:sym typeface="Arial"/>
              </a:rPr>
              <a:t> </a:t>
            </a:r>
            <a:r>
              <a:rPr kumimoji="0" lang="en-US" sz="1200" b="0" i="0" u="none" strike="noStrike" kern="1200" cap="none" spc="0" normalizeH="0" baseline="0" noProof="0" dirty="0">
                <a:ln>
                  <a:noFill/>
                </a:ln>
                <a:solidFill>
                  <a:srgbClr val="FF5500"/>
                </a:solidFill>
                <a:effectLst/>
                <a:uLnTx/>
                <a:uFillTx/>
                <a:latin typeface="Consolas" panose="020B0609020204030204" pitchFamily="49" charset="0"/>
                <a:ea typeface="+mn-ea"/>
                <a:cs typeface="Arial"/>
                <a:sym typeface="Arial"/>
              </a:rPr>
              <a:t>`Hello, ${name}!`</a:t>
            </a:r>
            <a:r>
              <a:rPr kumimoji="0" lang="en-US"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Arial"/>
                <a:sym typeface="Arial"/>
              </a:rPr>
              <a:t>;</a:t>
            </a:r>
            <a:b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Arial"/>
                <a:sym typeface="Arial"/>
              </a:rPr>
              <a:t>}</a:t>
            </a:r>
            <a:b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b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br>
            <a:r>
              <a:rPr kumimoji="0" lang="en-US" sz="1200" b="0" i="0" u="none" strike="noStrike" kern="1200" cap="none" spc="0" normalizeH="0" baseline="0" noProof="0" dirty="0">
                <a:ln>
                  <a:noFill/>
                </a:ln>
                <a:solidFill>
                  <a:srgbClr val="708090"/>
                </a:solidFill>
                <a:effectLst/>
                <a:uLnTx/>
                <a:uFillTx/>
                <a:latin typeface="Consolas" panose="020B0609020204030204" pitchFamily="49" charset="0"/>
                <a:ea typeface="+mn-ea"/>
                <a:cs typeface="Arial"/>
                <a:sym typeface="Arial"/>
              </a:rPr>
              <a:t>// TypeScript will ensure you pass the correct argument type</a:t>
            </a:r>
            <a:br>
              <a:rPr kumimoji="0" lang="en-US" sz="1200" b="0" i="0" u="none" strike="noStrike" kern="1200" cap="none" spc="0" normalizeH="0" baseline="0" noProof="0" dirty="0">
                <a:ln>
                  <a:noFill/>
                </a:ln>
                <a:solidFill>
                  <a:srgbClr val="708090"/>
                </a:solidFill>
                <a:effectLst/>
                <a:uLnTx/>
                <a:uFillTx/>
                <a:latin typeface="Consolas" panose="020B0609020204030204" pitchFamily="49" charset="0"/>
                <a:ea typeface="+mn-ea"/>
                <a:cs typeface="Arial"/>
                <a:sym typeface="Arial"/>
              </a:rPr>
            </a:br>
            <a:r>
              <a:rPr kumimoji="0" lang="en-US"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Arial"/>
                <a:sym typeface="Arial"/>
              </a:rPr>
              <a:t>greet(</a:t>
            </a:r>
            <a:r>
              <a:rPr kumimoji="0" lang="en-US" sz="1200" b="0" i="0" u="none" strike="noStrike" kern="1200" cap="none" spc="0" normalizeH="0" baseline="0" noProof="0" dirty="0">
                <a:ln>
                  <a:noFill/>
                </a:ln>
                <a:solidFill>
                  <a:srgbClr val="008000"/>
                </a:solidFill>
                <a:effectLst/>
                <a:uLnTx/>
                <a:uFillTx/>
                <a:latin typeface="Consolas" panose="020B0609020204030204" pitchFamily="49" charset="0"/>
                <a:ea typeface="+mn-ea"/>
                <a:cs typeface="Arial"/>
                <a:sym typeface="Arial"/>
              </a:rPr>
              <a:t>"Alice"</a:t>
            </a:r>
            <a:r>
              <a:rPr kumimoji="0" lang="en-US"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Arial"/>
                <a:sym typeface="Arial"/>
              </a:rPr>
              <a:t>); </a:t>
            </a:r>
            <a:r>
              <a:rPr kumimoji="0" lang="en-US" sz="1200" b="0" i="0" u="none" strike="noStrike" kern="1200" cap="none" spc="0" normalizeH="0" baseline="0" noProof="0" dirty="0">
                <a:ln>
                  <a:noFill/>
                </a:ln>
                <a:solidFill>
                  <a:srgbClr val="708090"/>
                </a:solidFill>
                <a:effectLst/>
                <a:uLnTx/>
                <a:uFillTx/>
                <a:latin typeface="Consolas" panose="020B0609020204030204" pitchFamily="49" charset="0"/>
                <a:ea typeface="+mn-ea"/>
                <a:cs typeface="Arial"/>
                <a:sym typeface="Arial"/>
              </a:rPr>
              <a:t>// OK</a:t>
            </a:r>
            <a:br>
              <a:rPr kumimoji="0" lang="en-US" sz="1200" b="0" i="0" u="none" strike="noStrike" kern="1200" cap="none" spc="0" normalizeH="0" baseline="0" noProof="0" dirty="0">
                <a:ln>
                  <a:noFill/>
                </a:ln>
                <a:solidFill>
                  <a:srgbClr val="708090"/>
                </a:solidFill>
                <a:effectLst/>
                <a:uLnTx/>
                <a:uFillTx/>
                <a:latin typeface="Consolas" panose="020B0609020204030204" pitchFamily="49" charset="0"/>
                <a:ea typeface="+mn-ea"/>
                <a:cs typeface="Arial"/>
                <a:sym typeface="Arial"/>
              </a:rPr>
            </a:br>
            <a:r>
              <a:rPr kumimoji="0" lang="en-US"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Arial"/>
                <a:sym typeface="Arial"/>
              </a:rPr>
              <a:t>greet(</a:t>
            </a:r>
            <a:r>
              <a:rPr kumimoji="0" lang="en-US" sz="1200" b="0" i="0" u="none" strike="noStrike" kern="1200" cap="none" spc="0" normalizeH="0" baseline="0" noProof="0" dirty="0">
                <a:ln>
                  <a:noFill/>
                </a:ln>
                <a:solidFill>
                  <a:srgbClr val="990055"/>
                </a:solidFill>
                <a:effectLst/>
                <a:uLnTx/>
                <a:uFillTx/>
                <a:latin typeface="Consolas" panose="020B0609020204030204" pitchFamily="49" charset="0"/>
                <a:ea typeface="+mn-ea"/>
                <a:cs typeface="Arial"/>
                <a:sym typeface="Arial"/>
              </a:rPr>
              <a:t>42</a:t>
            </a:r>
            <a:r>
              <a:rPr kumimoji="0" lang="en-US"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Arial"/>
                <a:sym typeface="Arial"/>
              </a:rPr>
              <a:t>);     </a:t>
            </a:r>
            <a:r>
              <a:rPr kumimoji="0" lang="en-US" sz="1200" b="0" i="0" u="none" strike="noStrike" kern="1200" cap="none" spc="0" normalizeH="0" baseline="0" noProof="0" dirty="0">
                <a:ln>
                  <a:noFill/>
                </a:ln>
                <a:solidFill>
                  <a:srgbClr val="708090"/>
                </a:solidFill>
                <a:effectLst/>
                <a:uLnTx/>
                <a:uFillTx/>
                <a:latin typeface="Consolas" panose="020B0609020204030204" pitchFamily="49" charset="0"/>
                <a:ea typeface="+mn-ea"/>
                <a:cs typeface="Arial"/>
                <a:sym typeface="Arial"/>
              </a:rPr>
              <a:t>// Error: Argument of type '42' is not assignable to parameter of type 'string'</a:t>
            </a:r>
            <a:endParaRPr kumimoji="0" lang="en-IN" sz="12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379879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0" end="10"/>
                                            </p:txEl>
                                          </p:spTgt>
                                        </p:tgtEl>
                                        <p:attrNameLst>
                                          <p:attrName>style.visibility</p:attrName>
                                        </p:attrNameLst>
                                      </p:cBhvr>
                                      <p:to>
                                        <p:strVal val="visible"/>
                                      </p:to>
                                    </p:set>
                                    <p:animEffect transition="in" filter="fade">
                                      <p:cBhvr>
                                        <p:cTn id="54" dur="1000"/>
                                        <p:tgtEl>
                                          <p:spTgt spid="3">
                                            <p:txEl>
                                              <p:pRg st="10" end="10"/>
                                            </p:txEl>
                                          </p:spTgt>
                                        </p:tgtEl>
                                      </p:cBhvr>
                                    </p:animEffect>
                                    <p:anim calcmode="lin" valueType="num">
                                      <p:cBhvr>
                                        <p:cTn id="5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1" end="11"/>
                                            </p:txEl>
                                          </p:spTgt>
                                        </p:tgtEl>
                                        <p:attrNameLst>
                                          <p:attrName>style.visibility</p:attrName>
                                        </p:attrNameLst>
                                      </p:cBhvr>
                                      <p:to>
                                        <p:strVal val="visible"/>
                                      </p:to>
                                    </p:set>
                                    <p:animEffect transition="in" filter="fade">
                                      <p:cBhvr>
                                        <p:cTn id="59" dur="1000"/>
                                        <p:tgtEl>
                                          <p:spTgt spid="3">
                                            <p:txEl>
                                              <p:pRg st="11" end="11"/>
                                            </p:txEl>
                                          </p:spTgt>
                                        </p:tgtEl>
                                      </p:cBhvr>
                                    </p:animEffect>
                                    <p:anim calcmode="lin" valueType="num">
                                      <p:cBhvr>
                                        <p:cTn id="6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nodeType="clickEffect">
                                  <p:stCondLst>
                                    <p:cond delay="0"/>
                                  </p:stCondLst>
                                  <p:childTnLst>
                                    <p:set>
                                      <p:cBhvr>
                                        <p:cTn id="65" dur="1" fill="hold">
                                          <p:stCondLst>
                                            <p:cond delay="0"/>
                                          </p:stCondLst>
                                        </p:cTn>
                                        <p:tgtEl>
                                          <p:spTgt spid="3">
                                            <p:txEl>
                                              <p:pRg st="12" end="12"/>
                                            </p:txEl>
                                          </p:spTgt>
                                        </p:tgtEl>
                                        <p:attrNameLst>
                                          <p:attrName>style.visibility</p:attrName>
                                        </p:attrNameLst>
                                      </p:cBhvr>
                                      <p:to>
                                        <p:strVal val="visible"/>
                                      </p:to>
                                    </p:set>
                                    <p:animEffect transition="in" filter="fade">
                                      <p:cBhvr>
                                        <p:cTn id="66" dur="1000"/>
                                        <p:tgtEl>
                                          <p:spTgt spid="3">
                                            <p:txEl>
                                              <p:pRg st="12" end="12"/>
                                            </p:txEl>
                                          </p:spTgt>
                                        </p:tgtEl>
                                      </p:cBhvr>
                                    </p:animEffect>
                                    <p:anim calcmode="lin" valueType="num">
                                      <p:cBhvr>
                                        <p:cTn id="6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1000"/>
                                        <p:tgtEl>
                                          <p:spTgt spid="9"/>
                                        </p:tgtEl>
                                      </p:cBhvr>
                                    </p:animEffect>
                                    <p:anim calcmode="lin" valueType="num">
                                      <p:cBhvr>
                                        <p:cTn id="74" dur="1000" fill="hold"/>
                                        <p:tgtEl>
                                          <p:spTgt spid="9"/>
                                        </p:tgtEl>
                                        <p:attrNameLst>
                                          <p:attrName>ppt_x</p:attrName>
                                        </p:attrNameLst>
                                      </p:cBhvr>
                                      <p:tavLst>
                                        <p:tav tm="0">
                                          <p:val>
                                            <p:strVal val="#ppt_x"/>
                                          </p:val>
                                        </p:tav>
                                        <p:tav tm="100000">
                                          <p:val>
                                            <p:strVal val="#ppt_x"/>
                                          </p:val>
                                        </p:tav>
                                      </p:tavLst>
                                    </p:anim>
                                    <p:anim calcmode="lin" valueType="num">
                                      <p:cBhvr>
                                        <p:cTn id="7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7333B-3F5A-1075-F057-D3359D63610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0019707-61F2-4E8E-4EB9-C11B16E77BF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Special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D6961807-D204-4416-F887-6F695DBC7607}"/>
              </a:ext>
            </a:extLst>
          </p:cNvPr>
          <p:cNvSpPr txBox="1"/>
          <p:nvPr/>
        </p:nvSpPr>
        <p:spPr>
          <a:xfrm>
            <a:off x="142630" y="655071"/>
            <a:ext cx="11483853" cy="5660469"/>
          </a:xfrm>
          <a:prstGeom prst="rect">
            <a:avLst/>
          </a:prstGeom>
          <a:noFill/>
        </p:spPr>
        <p:txBody>
          <a:bodyPr wrap="square" lIns="121867" tIns="60933" rIns="121867" bIns="60933" rtlCol="0">
            <a:spAutoFit/>
          </a:bodyPr>
          <a:lstStyle/>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The 'any' type allows you to opt-out of type checking for a variable. It can hold any value, and you can perform any operation on it without TypeScript raising an error.</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The 'unknown' type is similar to 'any' in that it can hold any value, but it is safer because you cannot perform operations on it without first checking its type.</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Working with arrays - let</a:t>
            </a: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IN"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arrName</a:t>
            </a: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IN"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dataType</a:t>
            </a: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 [];</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Tuple, </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A tuple is a typed array with a pre-defined length and types for each index. Tuples are great because they allow each element in the array to be a known type of value.</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Object - TypeScript has a specific syntax for typing objects.</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 Guard</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A </a:t>
            </a:r>
            <a:r>
              <a:rPr kumimoji="0" lang="en-IN"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 Guard </a:t>
            </a: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in TypeScript is a technique used to </a:t>
            </a:r>
            <a:r>
              <a:rPr kumimoji="0" lang="en-IN"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check the type of a variable at runtime </a:t>
            </a: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so that TypeScript can safely narrow the variable's type within a specific block of code.</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E7FD553F-2E68-3343-093A-607A73FC536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3838F351-4C67-8467-D2B1-8C2BEFCC57E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72DC512A-1222-19CE-39EA-D0C2D8C687A6}"/>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54845FDA-EFB2-65B1-04BD-46A223D7B6A8}"/>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298453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1000"/>
                                        <p:tgtEl>
                                          <p:spTgt spid="3">
                                            <p:txEl>
                                              <p:pRg st="8" end="8"/>
                                            </p:txEl>
                                          </p:spTgt>
                                        </p:tgtEl>
                                      </p:cBhvr>
                                    </p:animEffect>
                                    <p:anim calcmode="lin" valueType="num">
                                      <p:cBhvr>
                                        <p:cTn id="3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1000"/>
                                        <p:tgtEl>
                                          <p:spTgt spid="3">
                                            <p:txEl>
                                              <p:pRg st="9" end="9"/>
                                            </p:txEl>
                                          </p:spTgt>
                                        </p:tgtEl>
                                      </p:cBhvr>
                                    </p:animEffect>
                                    <p:anim calcmode="lin" valueType="num">
                                      <p:cBhvr>
                                        <p:cTn id="3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8F324-E191-0FC6-270F-965A95AAEE4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60D839F-4A8C-8A28-A48F-C595C9D342B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Type Guard</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CA04FE5-85CB-C94A-ACE1-281515ABB900}"/>
              </a:ext>
            </a:extLst>
          </p:cNvPr>
          <p:cNvSpPr txBox="1"/>
          <p:nvPr/>
        </p:nvSpPr>
        <p:spPr>
          <a:xfrm>
            <a:off x="142630" y="655071"/>
            <a:ext cx="11483853" cy="2338021"/>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A </a:t>
            </a:r>
            <a:r>
              <a:rPr kumimoji="0" lang="en-IN"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 Guard </a:t>
            </a: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in TypeScript is a technique used to </a:t>
            </a:r>
            <a:r>
              <a:rPr kumimoji="0" lang="en-IN"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check the type of a variable at runtime </a:t>
            </a: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so that TypeScript can safely narrow the variable's type within a specific block of code.</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4E084BC-193E-6BB2-AD06-E9AB077CB99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A5E4B26-7AB5-CE11-C06A-F43A4BEAA43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9C5CFB5F-40AE-F979-C149-46D60BF3AE1E}"/>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6698E95-17D8-EA85-0023-8A9888F953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AB83868-E03C-0C93-D382-FBA06CCDB46C}"/>
              </a:ext>
            </a:extLst>
          </p:cNvPr>
          <p:cNvPicPr>
            <a:picLocks noChangeAspect="1"/>
          </p:cNvPicPr>
          <p:nvPr/>
        </p:nvPicPr>
        <p:blipFill>
          <a:blip r:embed="rId3"/>
          <a:stretch>
            <a:fillRect/>
          </a:stretch>
        </p:blipFill>
        <p:spPr>
          <a:xfrm>
            <a:off x="837623" y="1328111"/>
            <a:ext cx="3787524" cy="2522647"/>
          </a:xfrm>
          <a:prstGeom prst="rect">
            <a:avLst/>
          </a:prstGeom>
        </p:spPr>
      </p:pic>
      <p:pic>
        <p:nvPicPr>
          <p:cNvPr id="10" name="Picture 9">
            <a:extLst>
              <a:ext uri="{FF2B5EF4-FFF2-40B4-BE49-F238E27FC236}">
                <a16:creationId xmlns:a16="http://schemas.microsoft.com/office/drawing/2014/main" id="{ED91BB59-7AF6-76BE-C3C8-870BD23A5476}"/>
              </a:ext>
            </a:extLst>
          </p:cNvPr>
          <p:cNvPicPr>
            <a:picLocks noChangeAspect="1"/>
          </p:cNvPicPr>
          <p:nvPr/>
        </p:nvPicPr>
        <p:blipFill>
          <a:blip r:embed="rId4"/>
          <a:stretch>
            <a:fillRect/>
          </a:stretch>
        </p:blipFill>
        <p:spPr>
          <a:xfrm>
            <a:off x="5355373" y="1328111"/>
            <a:ext cx="5058968" cy="5313116"/>
          </a:xfrm>
          <a:prstGeom prst="rect">
            <a:avLst/>
          </a:prstGeom>
        </p:spPr>
      </p:pic>
      <p:pic>
        <p:nvPicPr>
          <p:cNvPr id="12" name="Picture 11">
            <a:extLst>
              <a:ext uri="{FF2B5EF4-FFF2-40B4-BE49-F238E27FC236}">
                <a16:creationId xmlns:a16="http://schemas.microsoft.com/office/drawing/2014/main" id="{7200AC5F-1501-5DA6-8A71-B20C826B291A}"/>
              </a:ext>
            </a:extLst>
          </p:cNvPr>
          <p:cNvPicPr>
            <a:picLocks noChangeAspect="1"/>
          </p:cNvPicPr>
          <p:nvPr/>
        </p:nvPicPr>
        <p:blipFill>
          <a:blip r:embed="rId5"/>
          <a:stretch>
            <a:fillRect/>
          </a:stretch>
        </p:blipFill>
        <p:spPr>
          <a:xfrm>
            <a:off x="836038" y="3901964"/>
            <a:ext cx="3789109" cy="2754391"/>
          </a:xfrm>
          <a:prstGeom prst="rect">
            <a:avLst/>
          </a:prstGeom>
        </p:spPr>
      </p:pic>
    </p:spTree>
    <p:extLst>
      <p:ext uri="{BB962C8B-B14F-4D97-AF65-F5344CB8AC3E}">
        <p14:creationId xmlns:p14="http://schemas.microsoft.com/office/powerpoint/2010/main" val="2783804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0F81-44B1-80D5-E0EB-3FD96C8DFC3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9DE3B7D-434D-16AF-87CF-BE021BAD9DB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TypeScript Type Aliases and Interfaces</a:t>
            </a:r>
          </a:p>
        </p:txBody>
      </p:sp>
      <p:sp>
        <p:nvSpPr>
          <p:cNvPr id="3" name="TextBox 2">
            <a:extLst>
              <a:ext uri="{FF2B5EF4-FFF2-40B4-BE49-F238E27FC236}">
                <a16:creationId xmlns:a16="http://schemas.microsoft.com/office/drawing/2014/main" id="{47972995-9FAA-FB0C-EA39-324BC62639D0}"/>
              </a:ext>
            </a:extLst>
          </p:cNvPr>
          <p:cNvSpPr txBox="1"/>
          <p:nvPr/>
        </p:nvSpPr>
        <p:spPr>
          <a:xfrm>
            <a:off x="142630" y="655071"/>
            <a:ext cx="11483853" cy="4276116"/>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Extending:</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Both can be extended, but interfaces support declaration merging.</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Unions/Intersections: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Only type aliases support union and intersection types.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Implements: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Classes can implement either.</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Recommendation:</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Use interface for objects, type for everything else.</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Best Practices:</a:t>
            </a: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Use interface for defining object shapes and public APIs.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Use type for unions, intersections, and primitives.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Favor composition over inheritance for types.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Document your types and interfaces for clarity.</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Common Pitfalls:</a:t>
            </a: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Using type when you need declaration merging (use interface).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Overcomplicating types-keep them simple and focused.</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Forgetting to update types/interfaces as code evolves.</a:t>
            </a:r>
          </a:p>
        </p:txBody>
      </p:sp>
      <p:sp>
        <p:nvSpPr>
          <p:cNvPr id="4" name="TextBox 3">
            <a:extLst>
              <a:ext uri="{FF2B5EF4-FFF2-40B4-BE49-F238E27FC236}">
                <a16:creationId xmlns:a16="http://schemas.microsoft.com/office/drawing/2014/main" id="{19501F94-EF83-CAA0-D953-6A5D8C8A12A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AD7142A-E97A-1A71-4A82-CD69E0238C4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C3249FD-A198-9F37-BF6A-BF6B0054802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E2A8E718-DA37-F45D-F908-7DEB7754008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201196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E508F-295E-3DC4-A064-3E284A081E8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2210074-1A05-FAF6-B3D4-9F4FE1A1DD0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TypeScript Definitely Typed</a:t>
            </a:r>
          </a:p>
          <a:p>
            <a:pPr marL="0" marR="0" lvl="0" indent="0" algn="l" defTabSz="914126" rtl="0" eaLnBrk="1" fontAlgn="auto" latinLnBrk="0" hangingPunct="1">
              <a:lnSpc>
                <a:spcPct val="90000"/>
              </a:lnSpc>
              <a:spcBef>
                <a:spcPct val="0"/>
              </a:spcBef>
              <a:spcAft>
                <a:spcPts val="0"/>
              </a:spcAft>
              <a:buClrTx/>
              <a:buSzTx/>
              <a:buFont typeface="Arial"/>
              <a:buNone/>
              <a:tabLst/>
              <a:defRPr/>
            </a:pP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6DEE9A0-C1F1-F751-FA84-80BBD7FB698D}"/>
              </a:ext>
            </a:extLst>
          </p:cNvPr>
          <p:cNvSpPr txBox="1"/>
          <p:nvPr/>
        </p:nvSpPr>
        <p:spPr>
          <a:xfrm>
            <a:off x="142630" y="655071"/>
            <a:ext cx="11483853" cy="5938518"/>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NPM packages in the broad JavaScript ecosystem don't always have types available.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Sometimes the projects are no longer maintained, and other times they aren't interested in, agree with, or have time to use TypeScript.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Using untyped NPM packages with TypeScript is not type-safe because types are missing.</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To help TypeScript developers use such packages, there is a community-maintained project called </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hlinkClick r:id="rId2"/>
              </a:rPr>
              <a:t>Definitely Typed</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hlinkClick r:id="rId3"/>
              </a:rPr>
              <a:t>https://www.npmjs.com/package/@openui5/types</a:t>
            </a: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This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npm</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package contains the TypeScript type definitions based on ES modules for all the OpenUI5 libraries. </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These definitions can be used to:</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Enable advanced content assist in IDEs,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e.g</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VSCode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 IntelliJ /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Webstorm</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for OpenUI5.</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Integrate type checking for OpenUI5 applications using the TypeScript compiler.</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These capabilities are available not only for OpenUI5 apps written in TypeScript, but to some degree also </a:t>
            </a: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hlinkClick r:id="rId4"/>
              </a:rPr>
              <a:t>in JavaScript</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NOTE: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US" sz="1799" b="0" i="1" u="none" strike="noStrike" kern="1200" cap="none" spc="0" normalizeH="0" baseline="0" noProof="0" dirty="0">
                <a:ln>
                  <a:noFill/>
                </a:ln>
                <a:solidFill>
                  <a:prstClr val="black"/>
                </a:solidFill>
                <a:effectLst/>
                <a:uLnTx/>
                <a:uFillTx/>
                <a:latin typeface="Aptos" panose="02110004020202020204"/>
                <a:ea typeface="+mn-ea"/>
                <a:cs typeface="Arial"/>
                <a:sym typeface="Arial"/>
              </a:rPr>
              <a:t>based on ES modules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means that the application code needs to load UI5 modules using the ES6 modules syntax and needs to be transformed to standard UI5 require/define syntax before it is executed. This is the recommended approach!</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0A5EA6C8-606C-0E76-B733-C2A8153DF18E}"/>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04F10913-E4BE-BEA7-1A55-ABE6FAE44B10}"/>
              </a:ext>
            </a:extLst>
          </p:cNvPr>
          <p:cNvPicPr>
            <a:picLocks noChangeAspect="1"/>
          </p:cNvPicPr>
          <p:nvPr/>
        </p:nvPicPr>
        <p:blipFill>
          <a:blip r:embed="rId5"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E2B4D7D-2761-BB65-0D88-03269DC36E1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166D60F4-C508-BDA5-7E86-74926F981BC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543287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1000"/>
                                        <p:tgtEl>
                                          <p:spTgt spid="3">
                                            <p:txEl>
                                              <p:pRg st="7" end="7"/>
                                            </p:txEl>
                                          </p:spTgt>
                                        </p:tgtEl>
                                      </p:cBhvr>
                                    </p:animEffect>
                                    <p:anim calcmode="lin" valueType="num">
                                      <p:cBhvr>
                                        <p:cTn id="35"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2" end="12"/>
                                            </p:txEl>
                                          </p:spTgt>
                                        </p:tgtEl>
                                        <p:attrNameLst>
                                          <p:attrName>style.visibility</p:attrName>
                                        </p:attrNameLst>
                                      </p:cBhvr>
                                      <p:to>
                                        <p:strVal val="visible"/>
                                      </p:to>
                                    </p:set>
                                    <p:animEffect transition="in" filter="fade">
                                      <p:cBhvr>
                                        <p:cTn id="54" dur="1000"/>
                                        <p:tgtEl>
                                          <p:spTgt spid="3">
                                            <p:txEl>
                                              <p:pRg st="12" end="12"/>
                                            </p:txEl>
                                          </p:spTgt>
                                        </p:tgtEl>
                                      </p:cBhvr>
                                    </p:animEffect>
                                    <p:anim calcmode="lin" valueType="num">
                                      <p:cBhvr>
                                        <p:cTn id="55"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nodeType="click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1000"/>
                                        <p:tgtEl>
                                          <p:spTgt spid="3">
                                            <p:txEl>
                                              <p:pRg st="14" end="14"/>
                                            </p:txEl>
                                          </p:spTgt>
                                        </p:tgtEl>
                                      </p:cBhvr>
                                    </p:animEffect>
                                    <p:anim calcmode="lin" valueType="num">
                                      <p:cBhvr>
                                        <p:cTn id="6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3DEAC-5215-EAA1-8A20-C3F96F4BA84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15442564-B480-63C8-7356-9951A340C07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TypeScript Configuration –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tsconfig.json</a:t>
            </a:r>
            <a:endPar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a:p>
            <a:pPr marL="0" marR="0" lvl="0" indent="0" algn="l" defTabSz="914126" rtl="0" eaLnBrk="1" fontAlgn="auto" latinLnBrk="0" hangingPunct="1">
              <a:lnSpc>
                <a:spcPct val="90000"/>
              </a:lnSpc>
              <a:spcBef>
                <a:spcPct val="0"/>
              </a:spcBef>
              <a:spcAft>
                <a:spcPts val="0"/>
              </a:spcAft>
              <a:buClrTx/>
              <a:buSzTx/>
              <a:buFont typeface="Arial"/>
              <a:buNone/>
              <a:tabLst/>
              <a:defRPr/>
            </a:pP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A89DD576-62AB-4147-025C-C8CA963C788D}"/>
              </a:ext>
            </a:extLst>
          </p:cNvPr>
          <p:cNvSpPr txBox="1"/>
          <p:nvPr/>
        </p:nvSpPr>
        <p:spPr>
          <a:xfrm>
            <a:off x="142630" y="655071"/>
            <a:ext cx="11483853" cy="3723104"/>
          </a:xfrm>
          <a:prstGeom prst="rect">
            <a:avLst/>
          </a:prstGeom>
          <a:noFill/>
        </p:spPr>
        <p:txBody>
          <a:bodyPr wrap="square" lIns="121867" tIns="60933" rIns="121867" bIns="60933" rtlCol="0">
            <a:spAutoFit/>
          </a:bodyPr>
          <a:lstStyle/>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The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tsconfig.json</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file is the heart of every TypeScript project.</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It tells the TypeScript compiler how to process your code, which files to include, and which features to enable or disable.</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A well-configured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tsconfig.json</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ensures a smooth developer experience and reliable builds.</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compilerOptions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Controls how TypeScript compiles your code (e.g., target, module, strictness).</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include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Files or folders to include in the compilation.</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exclude</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Files or folders to exclude.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files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Explicit list of files to include (rarely used with include).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extends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Inherit options from another config file.</a:t>
            </a: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references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Enable project references for </a:t>
            </a:r>
            <a:r>
              <a:rPr kumimoji="0" lang="en-US"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monorepos</a:t>
            </a: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or multi-package setups.</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Use command </a:t>
            </a:r>
            <a:r>
              <a:rPr kumimoji="0" lang="en-IN" sz="1799" b="1"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tsc</a:t>
            </a:r>
            <a:r>
              <a:rPr kumimoji="0" lang="en-IN"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IN" sz="1799" b="1"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init</a:t>
            </a:r>
            <a:r>
              <a:rPr kumimoji="0" lang="en-IN" sz="1799" b="1" i="0" u="none" strike="noStrike" kern="1200" cap="none" spc="0" normalizeH="0" baseline="0" noProof="0" dirty="0">
                <a:ln>
                  <a:noFill/>
                </a:ln>
                <a:solidFill>
                  <a:prstClr val="black"/>
                </a:solidFill>
                <a:effectLst/>
                <a:uLnTx/>
                <a:uFillTx/>
                <a:latin typeface="Aptos" panose="02110004020202020204"/>
                <a:ea typeface="+mn-ea"/>
                <a:cs typeface="Arial"/>
                <a:sym typeface="Arial"/>
              </a:rPr>
              <a:t> </a:t>
            </a: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generate the </a:t>
            </a:r>
            <a:r>
              <a:rPr kumimoji="0" lang="en-IN" sz="1799" b="0" i="0" u="none" strike="noStrike" kern="1200" cap="none" spc="0" normalizeH="0" baseline="0" noProof="0" dirty="0" err="1">
                <a:ln>
                  <a:noFill/>
                </a:ln>
                <a:solidFill>
                  <a:prstClr val="black"/>
                </a:solidFill>
                <a:effectLst/>
                <a:uLnTx/>
                <a:uFillTx/>
                <a:latin typeface="Aptos" panose="02110004020202020204"/>
                <a:ea typeface="+mn-ea"/>
                <a:cs typeface="Arial"/>
                <a:sym typeface="Arial"/>
              </a:rPr>
              <a:t>tsconfig.json</a:t>
            </a: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 file</a:t>
            </a:r>
            <a:endParaRPr kumimoji="0" lang="en-US"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8BB5D258-38D7-CD40-A5A1-34E08462690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47412777-C56F-37F1-CDF7-70A5C0E48F4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6C66A549-56DD-AD4D-ECB5-F49CA746255E}"/>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B1510434-9946-EBAD-BC57-0574D5FEA366}"/>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234479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40C5-B7F0-2F8F-98AD-37195EF959C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C087EDC-D62A-866D-037C-620E771D78A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Why Use TypeScript with Node.js?</a:t>
            </a:r>
          </a:p>
          <a:p>
            <a:pPr marL="0" marR="0" lvl="0" indent="0" algn="l" defTabSz="914126" rtl="0" eaLnBrk="1" fontAlgn="auto" latinLnBrk="0" hangingPunct="1">
              <a:lnSpc>
                <a:spcPct val="90000"/>
              </a:lnSpc>
              <a:spcBef>
                <a:spcPct val="0"/>
              </a:spcBef>
              <a:spcAft>
                <a:spcPts val="0"/>
              </a:spcAft>
              <a:buClrTx/>
              <a:buSzTx/>
              <a:buFont typeface="Arial"/>
              <a:buNone/>
              <a:tabLst/>
              <a:defRPr/>
            </a:pP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AD3E04FC-AAF3-AAC9-8860-390477212A26}"/>
              </a:ext>
            </a:extLst>
          </p:cNvPr>
          <p:cNvSpPr txBox="1"/>
          <p:nvPr/>
        </p:nvSpPr>
        <p:spPr>
          <a:xfrm>
            <a:off x="142630" y="655071"/>
            <a:ext cx="11483853" cy="4246188"/>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TypeScript brings static typing to Node.js development, providing better tooling, improved code quality, and enhanced developer experience.</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Key benefits include:</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Type safety for JavaScript code</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Better IDE support with autocompletion</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Early error detection during development</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Improved code maintainability and documentation</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Easier refactoring</a:t>
            </a:r>
          </a:p>
          <a:p>
            <a:pPr marL="285664" marR="0" lvl="0" indent="-285664" algn="l" defTabSz="914126"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400" b="0" i="0" u="none" strike="noStrike" kern="1200" cap="none" spc="0" normalizeH="0" baseline="0" noProof="0" dirty="0" err="1">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mkdir</a:t>
            </a:r>
            <a: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 my-</a:t>
            </a:r>
            <a:r>
              <a:rPr kumimoji="0" lang="en-IN" sz="1400" b="0" i="0" u="none" strike="noStrike" kern="1200" cap="none" spc="0" normalizeH="0" baseline="0" noProof="0" dirty="0" err="1">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ts</a:t>
            </a:r>
            <a: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-node-app</a:t>
            </a:r>
            <a:b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br>
            <a: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cd my-</a:t>
            </a:r>
            <a:r>
              <a:rPr kumimoji="0" lang="en-IN" sz="1400" b="0" i="0" u="none" strike="noStrike" kern="1200" cap="none" spc="0" normalizeH="0" baseline="0" noProof="0" dirty="0" err="1">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ts</a:t>
            </a:r>
            <a: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-node-app</a:t>
            </a:r>
            <a:b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br>
            <a:r>
              <a:rPr kumimoji="0" lang="en-IN" sz="1400" b="0" i="0" u="none" strike="noStrike" kern="1200" cap="none" spc="0" normalizeH="0" baseline="0" noProof="0" dirty="0" err="1">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npm</a:t>
            </a:r>
            <a: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 </a:t>
            </a:r>
            <a:r>
              <a:rPr kumimoji="0" lang="en-IN" sz="1400" b="0" i="0" u="none" strike="noStrike" kern="1200" cap="none" spc="0" normalizeH="0" baseline="0" noProof="0" dirty="0" err="1">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init</a:t>
            </a:r>
            <a: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 -y</a:t>
            </a:r>
            <a:b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br>
            <a:r>
              <a:rPr kumimoji="0" lang="en-IN" sz="1400" b="0" i="0" u="none" strike="noStrike" kern="1200" cap="none" spc="0" normalizeH="0" baseline="0" noProof="0" dirty="0" err="1">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npm</a:t>
            </a:r>
            <a: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 install typescript @types/node --save-dev</a:t>
            </a:r>
            <a:b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br>
            <a:r>
              <a:rPr kumimoji="0" lang="en-IN" sz="1400" b="0" i="0" u="none" strike="noStrike" kern="1200" cap="none" spc="0" normalizeH="0" baseline="0" noProof="0" dirty="0" err="1">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npx</a:t>
            </a:r>
            <a: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 </a:t>
            </a:r>
            <a:r>
              <a:rPr kumimoji="0" lang="en-IN" sz="1400" b="0" i="0" u="none" strike="noStrike" kern="1200" cap="none" spc="0" normalizeH="0" baseline="0" noProof="0" dirty="0" err="1">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tsc</a:t>
            </a:r>
            <a:r>
              <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 –</a:t>
            </a:r>
            <a:r>
              <a:rPr kumimoji="0" lang="en-IN" sz="1400" b="0" i="0" u="none" strike="noStrike" kern="1200" cap="none" spc="0" normalizeH="0" baseline="0" noProof="0" dirty="0" err="1">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rPr>
              <a:t>init</a:t>
            </a:r>
            <a:endParaRPr kumimoji="0" lang="en-IN" sz="1400" b="0" i="0" u="none" strike="noStrike" kern="1200" cap="none" spc="0" normalizeH="0" baseline="0" noProof="0" dirty="0">
              <a:ln>
                <a:noFill/>
              </a:ln>
              <a:solidFill>
                <a:prstClr val="black"/>
              </a:solidFill>
              <a:effectLst/>
              <a:uLnTx/>
              <a:uFillTx/>
              <a:latin typeface="Cascadia Code" panose="020B0609020000020004" pitchFamily="49" charset="0"/>
              <a:ea typeface="Cascadia Code" panose="020B0609020000020004" pitchFamily="49" charset="0"/>
              <a:cs typeface="Cascadia Code" panose="020B0609020000020004" pitchFamily="49" charset="0"/>
              <a:sym typeface="Arial"/>
            </a:endParaRP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8C2205E2-4842-2F5B-2AB6-A7577ABDDD09}"/>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F9D7F6E5-9726-86A4-131E-E9DDA9650FB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24B8872D-FD14-FC67-423B-B1282B22F602}"/>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BE7A0ED9-BBA4-B0D4-0C6D-D55C245C4DCA}"/>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700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1000"/>
                                        <p:tgtEl>
                                          <p:spTgt spid="3">
                                            <p:txEl>
                                              <p:pRg st="3" end="3"/>
                                            </p:txEl>
                                          </p:spTgt>
                                        </p:tgtEl>
                                      </p:cBhvr>
                                    </p:animEffect>
                                    <p:anim calcmode="lin" valueType="num">
                                      <p:cBhvr>
                                        <p:cTn id="20"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nodeType="click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1" i="0" u="none" strike="noStrike" kern="0" cap="none" spc="0" normalizeH="0" baseline="0" noProof="0" dirty="0">
                <a:ln>
                  <a:noFill/>
                </a:ln>
                <a:solidFill>
                  <a:srgbClr val="000000"/>
                </a:solidFill>
                <a:effectLst/>
                <a:uLnTx/>
                <a:uFillTx/>
                <a:latin typeface="Arial"/>
                <a:cs typeface="Arial"/>
                <a:sym typeface="Arial"/>
              </a:rPr>
              <a:t>Decorators</a:t>
            </a:r>
            <a:r>
              <a:rPr kumimoji="0" lang="en-IN" sz="1800" b="0" i="0" u="none" strike="noStrike" kern="0" cap="none" spc="0" normalizeH="0" baseline="0" noProof="0" dirty="0">
                <a:ln>
                  <a:noFill/>
                </a:ln>
                <a:solidFill>
                  <a:srgbClr val="000000"/>
                </a:solidFill>
                <a:effectLst/>
                <a:uLnTx/>
                <a:uFillTx/>
                <a:latin typeface="Arial"/>
                <a:cs typeface="Arial"/>
                <a:sym typeface="Arial"/>
              </a:rPr>
              <a:t> are special functions prefixed with </a:t>
            </a:r>
            <a:r>
              <a:rPr kumimoji="0" lang="en-IN" sz="1400" b="0" i="0" u="none" strike="noStrike" kern="0" cap="none" spc="0" normalizeH="0" baseline="0" noProof="0" dirty="0">
                <a:ln>
                  <a:noFill/>
                </a:ln>
                <a:solidFill>
                  <a:srgbClr val="000000"/>
                </a:solidFill>
                <a:effectLst/>
                <a:uLnTx/>
                <a:uFillTx/>
                <a:latin typeface="Arial"/>
                <a:cs typeface="Arial"/>
                <a:sym typeface="Arial"/>
              </a:rPr>
              <a:t>@</a:t>
            </a:r>
            <a:r>
              <a:rPr kumimoji="0" lang="en-IN" sz="1800" b="0" i="0" u="none" strike="noStrike" kern="0" cap="none" spc="0" normalizeH="0" baseline="0" noProof="0" dirty="0">
                <a:ln>
                  <a:noFill/>
                </a:ln>
                <a:solidFill>
                  <a:srgbClr val="000000"/>
                </a:solidFill>
                <a:effectLst/>
                <a:uLnTx/>
                <a:uFillTx/>
                <a:latin typeface="Arial"/>
                <a:cs typeface="Arial"/>
                <a:sym typeface="Arial"/>
              </a:rPr>
              <a:t> that attach to classes, methods, properties, or parameters and add behavior without modifying the original code — similar to Java Annotations or Python Decorators.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8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1" i="0" u="none" strike="noStrike" kern="0" cap="none" spc="0" normalizeH="0" baseline="0" noProof="0" dirty="0">
                <a:ln>
                  <a:noFill/>
                </a:ln>
                <a:solidFill>
                  <a:srgbClr val="000000"/>
                </a:solidFill>
                <a:effectLst/>
                <a:uLnTx/>
                <a:uFillTx/>
                <a:latin typeface="Arial"/>
                <a:cs typeface="Arial"/>
                <a:sym typeface="Arial"/>
              </a:rPr>
              <a:t>Metadata Reflection</a:t>
            </a:r>
            <a:r>
              <a:rPr kumimoji="0" lang="en-IN" sz="1800" b="0" i="0" u="none" strike="noStrike" kern="0" cap="none" spc="0" normalizeH="0" baseline="0" noProof="0" dirty="0">
                <a:ln>
                  <a:noFill/>
                </a:ln>
                <a:solidFill>
                  <a:srgbClr val="000000"/>
                </a:solidFill>
                <a:effectLst/>
                <a:uLnTx/>
                <a:uFillTx/>
                <a:latin typeface="Arial"/>
                <a:cs typeface="Arial"/>
                <a:sym typeface="Arial"/>
              </a:rPr>
              <a:t> (</a:t>
            </a:r>
            <a:r>
              <a:rPr kumimoji="0" lang="en-IN" sz="1400" b="0" i="0" u="none" strike="noStrike" kern="0" cap="none" spc="0" normalizeH="0" baseline="0" noProof="0" dirty="0">
                <a:ln>
                  <a:noFill/>
                </a:ln>
                <a:solidFill>
                  <a:srgbClr val="000000"/>
                </a:solidFill>
                <a:effectLst/>
                <a:uLnTx/>
                <a:uFillTx/>
                <a:latin typeface="Arial"/>
                <a:cs typeface="Arial"/>
                <a:sym typeface="Arial"/>
              </a:rPr>
              <a:t>reflect-metadata</a:t>
            </a:r>
            <a:r>
              <a:rPr kumimoji="0" lang="en-IN" sz="1800" b="0" i="0" u="none" strike="noStrike" kern="0" cap="none" spc="0" normalizeH="0" baseline="0" noProof="0" dirty="0">
                <a:ln>
                  <a:noFill/>
                </a:ln>
                <a:solidFill>
                  <a:srgbClr val="000000"/>
                </a:solidFill>
                <a:effectLst/>
                <a:uLnTx/>
                <a:uFillTx/>
                <a:latin typeface="Arial"/>
                <a:cs typeface="Arial"/>
                <a:sym typeface="Arial"/>
              </a:rPr>
              <a:t>) lets decorators read/write hidden metadata about classes at runtime — used heavily by frameworks like </a:t>
            </a:r>
            <a:r>
              <a:rPr kumimoji="0" lang="en-IN" sz="1800" b="0" i="0" u="none" strike="noStrike" kern="0" cap="none" spc="0" normalizeH="0" baseline="0" noProof="0" dirty="0" err="1">
                <a:ln>
                  <a:noFill/>
                </a:ln>
                <a:solidFill>
                  <a:srgbClr val="000000"/>
                </a:solidFill>
                <a:effectLst/>
                <a:uLnTx/>
                <a:uFillTx/>
                <a:latin typeface="Arial"/>
                <a:cs typeface="Arial"/>
                <a:sym typeface="Arial"/>
              </a:rPr>
              <a:t>NestJS</a:t>
            </a:r>
            <a:r>
              <a:rPr kumimoji="0" lang="en-IN" sz="1800" b="0" i="0" u="none" strike="noStrike" kern="0" cap="none" spc="0" normalizeH="0" baseline="0" noProof="0" dirty="0">
                <a:ln>
                  <a:noFill/>
                </a:ln>
                <a:solidFill>
                  <a:srgbClr val="000000"/>
                </a:solidFill>
                <a:effectLst/>
                <a:uLnTx/>
                <a:uFillTx/>
                <a:latin typeface="Arial"/>
                <a:cs typeface="Arial"/>
                <a:sym typeface="Arial"/>
              </a:rPr>
              <a:t>, </a:t>
            </a:r>
            <a:r>
              <a:rPr kumimoji="0" lang="en-IN" sz="1800" b="0" i="0" u="none" strike="noStrike" kern="0" cap="none" spc="0" normalizeH="0" baseline="0" noProof="0" dirty="0" err="1">
                <a:ln>
                  <a:noFill/>
                </a:ln>
                <a:solidFill>
                  <a:srgbClr val="000000"/>
                </a:solidFill>
                <a:effectLst/>
                <a:uLnTx/>
                <a:uFillTx/>
                <a:latin typeface="Arial"/>
                <a:cs typeface="Arial"/>
                <a:sym typeface="Arial"/>
              </a:rPr>
              <a:t>TypeORM</a:t>
            </a:r>
            <a:r>
              <a:rPr kumimoji="0" lang="en-IN" sz="1800" b="0" i="0" u="none" strike="noStrike" kern="0" cap="none" spc="0" normalizeH="0" baseline="0" noProof="0" dirty="0">
                <a:ln>
                  <a:noFill/>
                </a:ln>
                <a:solidFill>
                  <a:srgbClr val="000000"/>
                </a:solidFill>
                <a:effectLst/>
                <a:uLnTx/>
                <a:uFillTx/>
                <a:latin typeface="Arial"/>
                <a:cs typeface="Arial"/>
                <a:sym typeface="Arial"/>
              </a:rPr>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2338919"/>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800" b="0" i="0" u="none" strike="noStrike" kern="0" cap="none" spc="0" normalizeH="0" baseline="0" noProof="0" dirty="0">
                <a:ln>
                  <a:noFill/>
                </a:ln>
                <a:solidFill>
                  <a:srgbClr val="000000"/>
                </a:solidFill>
                <a:effectLst/>
                <a:uLnTx/>
                <a:uFillTx/>
                <a:latin typeface="Arial"/>
                <a:cs typeface="Arial"/>
                <a:sym typeface="Arial"/>
              </a:rPr>
              <a:t>Utility types are </a:t>
            </a:r>
            <a:r>
              <a:rPr kumimoji="0" lang="en-IN" sz="1800" b="1" i="0" u="none" strike="noStrike" kern="0" cap="none" spc="0" normalizeH="0" baseline="0" noProof="0" dirty="0">
                <a:ln>
                  <a:noFill/>
                </a:ln>
                <a:solidFill>
                  <a:srgbClr val="000000"/>
                </a:solidFill>
                <a:effectLst/>
                <a:uLnTx/>
                <a:uFillTx/>
                <a:latin typeface="Arial"/>
                <a:cs typeface="Arial"/>
                <a:sym typeface="Arial"/>
              </a:rPr>
              <a:t>built-in generic types</a:t>
            </a:r>
            <a:r>
              <a:rPr kumimoji="0" lang="en-IN" sz="1800" b="0" i="0" u="none" strike="noStrike" kern="0" cap="none" spc="0" normalizeH="0" baseline="0" noProof="0" dirty="0">
                <a:ln>
                  <a:noFill/>
                </a:ln>
                <a:solidFill>
                  <a:srgbClr val="000000"/>
                </a:solidFill>
                <a:effectLst/>
                <a:uLnTx/>
                <a:uFillTx/>
                <a:latin typeface="Arial"/>
                <a:cs typeface="Arial"/>
                <a:sym typeface="Arial"/>
              </a:rPr>
              <a:t> that transform existing types into new ones — no need to rewrite interfaces from scratch.</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000000"/>
                </a:solidFill>
                <a:effectLst/>
                <a:uLnTx/>
                <a:uFillTx/>
                <a:latin typeface="Arial"/>
                <a:cs typeface="Arial"/>
                <a:sym typeface="Arial"/>
              </a:rPr>
              <a:t>They're like type factories—you feed in a type, and out comes a new type with different properties.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8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000000"/>
                </a:solidFill>
                <a:effectLst/>
                <a:uLnTx/>
                <a:uFillTx/>
                <a:latin typeface="Arial"/>
                <a:cs typeface="Arial"/>
                <a:sym typeface="Arial"/>
              </a:rPr>
              <a:t>Think of it like this: if you have a blueprint for a house, utility types let you create variations—a blueprint with fewer rooms, optional walls, </a:t>
            </a:r>
            <a:r>
              <a:rPr kumimoji="0" lang="en-IN" sz="1800" b="0" i="0" u="none" strike="noStrike" kern="0" cap="none" spc="0" normalizeH="0" baseline="0" noProof="0" dirty="0" err="1">
                <a:ln>
                  <a:noFill/>
                </a:ln>
                <a:solidFill>
                  <a:srgbClr val="000000"/>
                </a:solidFill>
                <a:effectLst/>
                <a:uLnTx/>
                <a:uFillTx/>
                <a:latin typeface="Arial"/>
                <a:cs typeface="Arial"/>
                <a:sym typeface="Arial"/>
              </a:rPr>
              <a:t>readonly</a:t>
            </a:r>
            <a:r>
              <a:rPr kumimoji="0" lang="en-IN" sz="1800" b="0" i="0" u="none" strike="noStrike" kern="0" cap="none" spc="0" normalizeH="0" baseline="0" noProof="0" dirty="0">
                <a:ln>
                  <a:noFill/>
                </a:ln>
                <a:solidFill>
                  <a:srgbClr val="000000"/>
                </a:solidFill>
                <a:effectLst/>
                <a:uLnTx/>
                <a:uFillTx/>
                <a:latin typeface="Arial"/>
                <a:cs typeface="Arial"/>
                <a:sym typeface="Arial"/>
              </a:rPr>
              <a:t> doors, etc.—without rewriting everything from scratch.</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Text</a:t>
            </a: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230069"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4021881" y="648511"/>
            <a:ext cx="3679619" cy="5907461"/>
          </a:xfrm>
          <a:prstGeom prst="rect">
            <a:avLst/>
          </a:prstGeom>
        </p:spPr>
      </p:pic>
      <p:pic>
        <p:nvPicPr>
          <p:cNvPr id="8" name="Picture 7">
            <a:extLst>
              <a:ext uri="{FF2B5EF4-FFF2-40B4-BE49-F238E27FC236}">
                <a16:creationId xmlns:a16="http://schemas.microsoft.com/office/drawing/2014/main" id="{8A10D05F-D1B9-7910-F2E4-6B496B597812}"/>
              </a:ext>
            </a:extLst>
          </p:cNvPr>
          <p:cNvPicPr>
            <a:picLocks noChangeAspect="1"/>
          </p:cNvPicPr>
          <p:nvPr/>
        </p:nvPicPr>
        <p:blipFill>
          <a:blip r:embed="rId5"/>
          <a:stretch>
            <a:fillRect/>
          </a:stretch>
        </p:blipFill>
        <p:spPr>
          <a:xfrm>
            <a:off x="7745568" y="655071"/>
            <a:ext cx="4213188" cy="3314870"/>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20</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60,000+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8641</TotalTime>
  <Words>1955</Words>
  <Application>Microsoft Office PowerPoint</Application>
  <PresentationFormat>Custom</PresentationFormat>
  <Paragraphs>232</Paragraphs>
  <Slides>21</Slides>
  <Notes>1</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21</vt:i4>
      </vt:variant>
    </vt:vector>
  </HeadingPairs>
  <TitlesOfParts>
    <vt:vector size="34" baseType="lpstr">
      <vt:lpstr>Amasis MT Pro Black</vt:lpstr>
      <vt:lpstr>Aptos</vt:lpstr>
      <vt:lpstr>Aptos Display</vt:lpstr>
      <vt:lpstr>Arial</vt:lpstr>
      <vt:lpstr>Arial Black</vt:lpstr>
      <vt:lpstr>Calibri</vt:lpstr>
      <vt:lpstr>Cascadia Code</vt:lpstr>
      <vt:lpstr>Consolas</vt:lpstr>
      <vt:lpstr>Cooper Black</vt:lpstr>
      <vt:lpstr>Segoe UI</vt:lpstr>
      <vt:lpstr>Segoe UI Light</vt:lpstr>
      <vt:lpstr>Office Theme</vt:lpstr>
      <vt:lpstr>1_Office Theme</vt:lpstr>
      <vt:lpstr>SAP BTP Extension Suite Training</vt:lpstr>
      <vt:lpstr>PowerPoint Presentation</vt:lpstr>
      <vt:lpstr>Agenda – Day 22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337</cp:revision>
  <dcterms:created xsi:type="dcterms:W3CDTF">2013-09-12T13:05:01Z</dcterms:created>
  <dcterms:modified xsi:type="dcterms:W3CDTF">2026-08-19T05:25:56Z</dcterms:modified>
</cp:coreProperties>
</file>