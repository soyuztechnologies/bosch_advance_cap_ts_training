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4"/>
  </p:notesMasterIdLst>
  <p:sldIdLst>
    <p:sldId id="276" r:id="rId3"/>
    <p:sldId id="4122" r:id="rId4"/>
    <p:sldId id="277" r:id="rId5"/>
    <p:sldId id="293" r:id="rId6"/>
    <p:sldId id="294" r:id="rId7"/>
    <p:sldId id="432" r:id="rId8"/>
    <p:sldId id="298" r:id="rId9"/>
    <p:sldId id="297" r:id="rId10"/>
    <p:sldId id="434" r:id="rId11"/>
    <p:sldId id="299" r:id="rId12"/>
    <p:sldId id="300" r:id="rId13"/>
    <p:sldId id="301" r:id="rId14"/>
    <p:sldId id="295" r:id="rId15"/>
    <p:sldId id="424" r:id="rId16"/>
    <p:sldId id="425" r:id="rId17"/>
    <p:sldId id="426" r:id="rId18"/>
    <p:sldId id="427" r:id="rId19"/>
    <p:sldId id="428" r:id="rId20"/>
    <p:sldId id="282" r:id="rId21"/>
    <p:sldId id="280" r:id="rId22"/>
    <p:sldId id="4711" r:id="rId2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10" d="100"/>
          <a:sy n="110" d="100"/>
        </p:scale>
        <p:origin x="320" y="7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8/19/2026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8/19/2026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6378C3B-E184-A1ED-97D3-9127CD494699}"/>
              </a:ext>
            </a:extLst>
          </p:cNvPr>
          <p:cNvSpPr>
            <a:spLocks noGrp="1"/>
          </p:cNvSpPr>
          <p:nvPr>
            <p:ph type="pic" sz="quarter" idx="10"/>
          </p:nvPr>
        </p:nvSpPr>
        <p:spPr>
          <a:xfrm>
            <a:off x="6306710" y="1325486"/>
            <a:ext cx="5002372" cy="4247185"/>
          </a:xfrm>
          <a:custGeom>
            <a:avLst/>
            <a:gdLst>
              <a:gd name="connsiteX0" fmla="*/ 2017799 w 5003675"/>
              <a:gd name="connsiteY0" fmla="*/ 3 h 4247185"/>
              <a:gd name="connsiteX1" fmla="*/ 2666935 w 5003675"/>
              <a:gd name="connsiteY1" fmla="*/ 270746 h 4247185"/>
              <a:gd name="connsiteX2" fmla="*/ 5003675 w 5003675"/>
              <a:gd name="connsiteY2" fmla="*/ 2618943 h 4247185"/>
              <a:gd name="connsiteX3" fmla="*/ 3636329 w 5003675"/>
              <a:gd name="connsiteY3" fmla="*/ 3979618 h 4247185"/>
              <a:gd name="connsiteX4" fmla="*/ 2336740 w 5003675"/>
              <a:gd name="connsiteY4" fmla="*/ 3976439 h 4247185"/>
              <a:gd name="connsiteX5" fmla="*/ 0 w 5003675"/>
              <a:gd name="connsiteY5" fmla="*/ 1628243 h 4247185"/>
              <a:gd name="connsiteX6" fmla="*/ 1367347 w 5003675"/>
              <a:gd name="connsiteY6" fmla="*/ 267568 h 4247185"/>
              <a:gd name="connsiteX7" fmla="*/ 2017799 w 5003675"/>
              <a:gd name="connsiteY7" fmla="*/ 3 h 424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675" h="4247185">
                <a:moveTo>
                  <a:pt x="2017799" y="3"/>
                </a:moveTo>
                <a:cubicBezTo>
                  <a:pt x="2252978" y="578"/>
                  <a:pt x="2487938" y="90871"/>
                  <a:pt x="2666935" y="270746"/>
                </a:cubicBezTo>
                <a:lnTo>
                  <a:pt x="5003675" y="2618943"/>
                </a:lnTo>
                <a:lnTo>
                  <a:pt x="3636329" y="3979618"/>
                </a:lnTo>
                <a:cubicBezTo>
                  <a:pt x="3276579" y="4337612"/>
                  <a:pt x="2694734" y="4336189"/>
                  <a:pt x="2336740" y="3976439"/>
                </a:cubicBezTo>
                <a:lnTo>
                  <a:pt x="0" y="1628243"/>
                </a:lnTo>
                <a:lnTo>
                  <a:pt x="1367347" y="267568"/>
                </a:lnTo>
                <a:cubicBezTo>
                  <a:pt x="1547222" y="88571"/>
                  <a:pt x="1782620" y="-572"/>
                  <a:pt x="2017799" y="3"/>
                </a:cubicBezTo>
                <a:close/>
              </a:path>
            </a:pathLst>
          </a:custGeom>
        </p:spPr>
        <p:txBody>
          <a:bodyPr wrap="square">
            <a:noAutofit/>
          </a:bodyPr>
          <a:lstStyle/>
          <a:p>
            <a:endParaRPr lang="en-PK"/>
          </a:p>
        </p:txBody>
      </p:sp>
    </p:spTree>
    <p:extLst>
      <p:ext uri="{BB962C8B-B14F-4D97-AF65-F5344CB8AC3E}">
        <p14:creationId xmlns:p14="http://schemas.microsoft.com/office/powerpoint/2010/main" val="32967538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35D361-ABEE-D79C-865F-AA6BA02832C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3653647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6C5DDD57-31F3-A936-88B6-B56E3475F2DD}"/>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1" name="Picture Placeholder 10">
            <a:extLst>
              <a:ext uri="{FF2B5EF4-FFF2-40B4-BE49-F238E27FC236}">
                <a16:creationId xmlns:a16="http://schemas.microsoft.com/office/drawing/2014/main" id="{45E843CF-E274-2A06-E086-3AB252A4C96D}"/>
              </a:ext>
            </a:extLst>
          </p:cNvPr>
          <p:cNvSpPr>
            <a:spLocks noGrp="1"/>
          </p:cNvSpPr>
          <p:nvPr>
            <p:ph type="pic" sz="quarter" idx="11"/>
          </p:nvPr>
        </p:nvSpPr>
        <p:spPr>
          <a:xfrm>
            <a:off x="7017008" y="680012"/>
            <a:ext cx="4191362" cy="5497976"/>
          </a:xfrm>
          <a:custGeom>
            <a:avLst/>
            <a:gdLst>
              <a:gd name="connsiteX0" fmla="*/ 2096227 w 4192454"/>
              <a:gd name="connsiteY0" fmla="*/ 0 h 5497976"/>
              <a:gd name="connsiteX1" fmla="*/ 4192454 w 4192454"/>
              <a:gd name="connsiteY1" fmla="*/ 0 h 5497976"/>
              <a:gd name="connsiteX2" fmla="*/ 4192454 w 4192454"/>
              <a:gd name="connsiteY2" fmla="*/ 3401749 h 5497976"/>
              <a:gd name="connsiteX3" fmla="*/ 2096227 w 4192454"/>
              <a:gd name="connsiteY3" fmla="*/ 5497976 h 5497976"/>
              <a:gd name="connsiteX4" fmla="*/ 0 w 4192454"/>
              <a:gd name="connsiteY4" fmla="*/ 5497976 h 5497976"/>
              <a:gd name="connsiteX5" fmla="*/ 0 w 4192454"/>
              <a:gd name="connsiteY5" fmla="*/ 2096227 h 5497976"/>
              <a:gd name="connsiteX6" fmla="*/ 2096227 w 4192454"/>
              <a:gd name="connsiteY6" fmla="*/ 0 h 549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2454" h="5497976">
                <a:moveTo>
                  <a:pt x="2096227" y="0"/>
                </a:moveTo>
                <a:lnTo>
                  <a:pt x="4192454" y="0"/>
                </a:lnTo>
                <a:lnTo>
                  <a:pt x="4192454" y="3401749"/>
                </a:lnTo>
                <a:cubicBezTo>
                  <a:pt x="4192454" y="4559463"/>
                  <a:pt x="3253941" y="5497976"/>
                  <a:pt x="2096227" y="5497976"/>
                </a:cubicBezTo>
                <a:lnTo>
                  <a:pt x="0" y="5497976"/>
                </a:lnTo>
                <a:lnTo>
                  <a:pt x="0" y="2096227"/>
                </a:lnTo>
                <a:cubicBezTo>
                  <a:pt x="0" y="938513"/>
                  <a:pt x="938513" y="0"/>
                  <a:pt x="2096227" y="0"/>
                </a:cubicBezTo>
                <a:close/>
              </a:path>
            </a:pathLst>
          </a:custGeom>
        </p:spPr>
        <p:txBody>
          <a:bodyPr wrap="square">
            <a:noAutofit/>
          </a:bodyPr>
          <a:lstStyle/>
          <a:p>
            <a:endParaRPr lang="en-PK"/>
          </a:p>
        </p:txBody>
      </p:sp>
    </p:spTree>
    <p:extLst>
      <p:ext uri="{BB962C8B-B14F-4D97-AF65-F5344CB8AC3E}">
        <p14:creationId xmlns:p14="http://schemas.microsoft.com/office/powerpoint/2010/main" val="3545994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EF7B7BF-954B-E717-9848-38C7072F5E5F}"/>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2" name="Picture Placeholder 11">
            <a:extLst>
              <a:ext uri="{FF2B5EF4-FFF2-40B4-BE49-F238E27FC236}">
                <a16:creationId xmlns:a16="http://schemas.microsoft.com/office/drawing/2014/main" id="{2693CE21-91E7-2D69-9690-1A156A79573C}"/>
              </a:ext>
            </a:extLst>
          </p:cNvPr>
          <p:cNvSpPr>
            <a:spLocks noGrp="1"/>
          </p:cNvSpPr>
          <p:nvPr>
            <p:ph type="pic" sz="quarter" idx="11"/>
          </p:nvPr>
        </p:nvSpPr>
        <p:spPr>
          <a:xfrm>
            <a:off x="839569" y="3871154"/>
            <a:ext cx="4992554" cy="2676124"/>
          </a:xfrm>
          <a:custGeom>
            <a:avLst/>
            <a:gdLst>
              <a:gd name="connsiteX0" fmla="*/ 446030 w 4993854"/>
              <a:gd name="connsiteY0" fmla="*/ 0 h 2676124"/>
              <a:gd name="connsiteX1" fmla="*/ 4993854 w 4993854"/>
              <a:gd name="connsiteY1" fmla="*/ 0 h 2676124"/>
              <a:gd name="connsiteX2" fmla="*/ 4993854 w 4993854"/>
              <a:gd name="connsiteY2" fmla="*/ 2230094 h 2676124"/>
              <a:gd name="connsiteX3" fmla="*/ 4547824 w 4993854"/>
              <a:gd name="connsiteY3" fmla="*/ 2676124 h 2676124"/>
              <a:gd name="connsiteX4" fmla="*/ 0 w 4993854"/>
              <a:gd name="connsiteY4" fmla="*/ 2676124 h 2676124"/>
              <a:gd name="connsiteX5" fmla="*/ 0 w 4993854"/>
              <a:gd name="connsiteY5" fmla="*/ 446030 h 2676124"/>
              <a:gd name="connsiteX6" fmla="*/ 446030 w 4993854"/>
              <a:gd name="connsiteY6" fmla="*/ 0 h 26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854" h="2676124">
                <a:moveTo>
                  <a:pt x="446030" y="0"/>
                </a:moveTo>
                <a:lnTo>
                  <a:pt x="4993854" y="0"/>
                </a:lnTo>
                <a:lnTo>
                  <a:pt x="4993854" y="2230094"/>
                </a:lnTo>
                <a:cubicBezTo>
                  <a:pt x="4993854" y="2476430"/>
                  <a:pt x="4794160" y="2676124"/>
                  <a:pt x="4547824" y="2676124"/>
                </a:cubicBezTo>
                <a:lnTo>
                  <a:pt x="0" y="2676124"/>
                </a:lnTo>
                <a:lnTo>
                  <a:pt x="0" y="446030"/>
                </a:lnTo>
                <a:cubicBezTo>
                  <a:pt x="0" y="199694"/>
                  <a:pt x="199694" y="0"/>
                  <a:pt x="446030"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906181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43F07389-8932-42FB-F708-932E2263F576}"/>
              </a:ext>
            </a:extLst>
          </p:cNvPr>
          <p:cNvSpPr>
            <a:spLocks noGrp="1"/>
          </p:cNvSpPr>
          <p:nvPr>
            <p:ph type="body" sz="quarter" idx="10"/>
          </p:nvPr>
        </p:nvSpPr>
        <p:spPr>
          <a:xfrm>
            <a:off x="839570" y="2307014"/>
            <a:ext cx="3407233" cy="112198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7912221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82ADEE87-6030-E1DA-86A9-0872B31F167E}"/>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231850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5EA10585-713E-0C3F-37FB-777EB8FFEF81}"/>
              </a:ext>
            </a:extLst>
          </p:cNvPr>
          <p:cNvSpPr>
            <a:spLocks noGrp="1"/>
          </p:cNvSpPr>
          <p:nvPr>
            <p:ph type="body" sz="quarter" idx="10"/>
          </p:nvPr>
        </p:nvSpPr>
        <p:spPr>
          <a:xfrm>
            <a:off x="839569" y="971551"/>
            <a:ext cx="5640565"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41170489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680AFC-5A5D-E566-4767-30630FF921DC}"/>
              </a:ext>
            </a:extLst>
          </p:cNvPr>
          <p:cNvSpPr>
            <a:spLocks noGrp="1"/>
          </p:cNvSpPr>
          <p:nvPr>
            <p:ph type="body" sz="quarter" idx="10"/>
          </p:nvPr>
        </p:nvSpPr>
        <p:spPr>
          <a:xfrm>
            <a:off x="839569" y="971551"/>
            <a:ext cx="7225884"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2145939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52D4ED0-A469-1D30-D0B9-075007FDB1D1}"/>
              </a:ext>
            </a:extLst>
          </p:cNvPr>
          <p:cNvSpPr>
            <a:spLocks noGrp="1"/>
          </p:cNvSpPr>
          <p:nvPr>
            <p:ph type="body" sz="quarter" idx="10"/>
          </p:nvPr>
        </p:nvSpPr>
        <p:spPr>
          <a:xfrm>
            <a:off x="839569" y="1443990"/>
            <a:ext cx="3684954" cy="1077218"/>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573057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9D3FF98-2D57-B6D5-34A1-E29FC9D40A22}"/>
              </a:ext>
            </a:extLst>
          </p:cNvPr>
          <p:cNvSpPr>
            <a:spLocks noGrp="1"/>
          </p:cNvSpPr>
          <p:nvPr>
            <p:ph type="body" sz="quarter" idx="10"/>
          </p:nvPr>
        </p:nvSpPr>
        <p:spPr>
          <a:xfrm>
            <a:off x="839569" y="971551"/>
            <a:ext cx="5605271"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791585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53A74ED-76FC-8CC0-D7E9-B3BEDEC06882}"/>
              </a:ext>
            </a:extLst>
          </p:cNvPr>
          <p:cNvSpPr>
            <a:spLocks noGrp="1"/>
          </p:cNvSpPr>
          <p:nvPr>
            <p:ph type="body" sz="quarter" idx="10"/>
          </p:nvPr>
        </p:nvSpPr>
        <p:spPr>
          <a:xfrm>
            <a:off x="839569" y="971551"/>
            <a:ext cx="8255762"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481594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C9C5D43-2BAE-AA68-28A0-B95983F1434F}"/>
              </a:ext>
            </a:extLst>
          </p:cNvPr>
          <p:cNvSpPr>
            <a:spLocks noGrp="1"/>
          </p:cNvSpPr>
          <p:nvPr>
            <p:ph type="pic" sz="quarter" idx="11"/>
          </p:nvPr>
        </p:nvSpPr>
        <p:spPr>
          <a:xfrm>
            <a:off x="137885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7" name="Picture Placeholder 8">
            <a:extLst>
              <a:ext uri="{FF2B5EF4-FFF2-40B4-BE49-F238E27FC236}">
                <a16:creationId xmlns:a16="http://schemas.microsoft.com/office/drawing/2014/main" id="{5C439F7A-5536-B6C0-F563-E47C03FC5E9F}"/>
              </a:ext>
            </a:extLst>
          </p:cNvPr>
          <p:cNvSpPr>
            <a:spLocks noGrp="1"/>
          </p:cNvSpPr>
          <p:nvPr>
            <p:ph type="pic" sz="quarter" idx="12"/>
          </p:nvPr>
        </p:nvSpPr>
        <p:spPr>
          <a:xfrm>
            <a:off x="4093637"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8" name="Picture Placeholder 8">
            <a:extLst>
              <a:ext uri="{FF2B5EF4-FFF2-40B4-BE49-F238E27FC236}">
                <a16:creationId xmlns:a16="http://schemas.microsoft.com/office/drawing/2014/main" id="{CA5EEFA0-64F6-654A-EE27-E4ED44358947}"/>
              </a:ext>
            </a:extLst>
          </p:cNvPr>
          <p:cNvSpPr>
            <a:spLocks noGrp="1"/>
          </p:cNvSpPr>
          <p:nvPr>
            <p:ph type="pic" sz="quarter" idx="13"/>
          </p:nvPr>
        </p:nvSpPr>
        <p:spPr>
          <a:xfrm>
            <a:off x="6808424"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10" name="Picture Placeholder 8">
            <a:extLst>
              <a:ext uri="{FF2B5EF4-FFF2-40B4-BE49-F238E27FC236}">
                <a16:creationId xmlns:a16="http://schemas.microsoft.com/office/drawing/2014/main" id="{B336F180-1189-E865-EC9D-3A737DFE33B9}"/>
              </a:ext>
            </a:extLst>
          </p:cNvPr>
          <p:cNvSpPr>
            <a:spLocks noGrp="1"/>
          </p:cNvSpPr>
          <p:nvPr>
            <p:ph type="pic" sz="quarter" idx="14"/>
          </p:nvPr>
        </p:nvSpPr>
        <p:spPr>
          <a:xfrm>
            <a:off x="952320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6" name="Text Placeholder 7">
            <a:extLst>
              <a:ext uri="{FF2B5EF4-FFF2-40B4-BE49-F238E27FC236}">
                <a16:creationId xmlns:a16="http://schemas.microsoft.com/office/drawing/2014/main" id="{A1681684-B50D-931D-5AC8-80568BFA9AC7}"/>
              </a:ext>
            </a:extLst>
          </p:cNvPr>
          <p:cNvSpPr>
            <a:spLocks noGrp="1"/>
          </p:cNvSpPr>
          <p:nvPr>
            <p:ph type="body" sz="quarter" idx="10"/>
          </p:nvPr>
        </p:nvSpPr>
        <p:spPr>
          <a:xfrm>
            <a:off x="839569" y="971551"/>
            <a:ext cx="5941428"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466895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67BF7C55-2A56-B649-6B81-0CD6A253F1F3}"/>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770D99CB-7D8E-D735-B5D0-393275D617F8}"/>
              </a:ext>
            </a:extLst>
          </p:cNvPr>
          <p:cNvSpPr>
            <a:spLocks noGrp="1"/>
          </p:cNvSpPr>
          <p:nvPr>
            <p:ph type="pic" sz="quarter" idx="11"/>
          </p:nvPr>
        </p:nvSpPr>
        <p:spPr>
          <a:xfrm>
            <a:off x="8175517" y="0"/>
            <a:ext cx="4013310" cy="6858000"/>
          </a:xfrm>
          <a:custGeom>
            <a:avLst/>
            <a:gdLst>
              <a:gd name="connsiteX0" fmla="*/ 0 w 4014355"/>
              <a:gd name="connsiteY0" fmla="*/ 0 h 6858000"/>
              <a:gd name="connsiteX1" fmla="*/ 4014355 w 4014355"/>
              <a:gd name="connsiteY1" fmla="*/ 0 h 6858000"/>
              <a:gd name="connsiteX2" fmla="*/ 4014355 w 4014355"/>
              <a:gd name="connsiteY2" fmla="*/ 6858000 h 6858000"/>
              <a:gd name="connsiteX3" fmla="*/ 0 w 40143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014355" h="6858000">
                <a:moveTo>
                  <a:pt x="0" y="0"/>
                </a:moveTo>
                <a:lnTo>
                  <a:pt x="4014355" y="0"/>
                </a:lnTo>
                <a:lnTo>
                  <a:pt x="4014355" y="6858000"/>
                </a:lnTo>
                <a:lnTo>
                  <a:pt x="0" y="6858000"/>
                </a:lnTo>
                <a:close/>
              </a:path>
            </a:pathLst>
          </a:custGeom>
        </p:spPr>
        <p:txBody>
          <a:bodyPr wrap="square">
            <a:noAutofit/>
          </a:bodyPr>
          <a:lstStyle/>
          <a:p>
            <a:endParaRPr lang="en-PK"/>
          </a:p>
        </p:txBody>
      </p:sp>
    </p:spTree>
    <p:extLst>
      <p:ext uri="{BB962C8B-B14F-4D97-AF65-F5344CB8AC3E}">
        <p14:creationId xmlns:p14="http://schemas.microsoft.com/office/powerpoint/2010/main" val="2499674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BD038D30-D0CE-FB58-3CB7-714B70054F10}"/>
              </a:ext>
            </a:extLst>
          </p:cNvPr>
          <p:cNvSpPr>
            <a:spLocks noGrp="1"/>
          </p:cNvSpPr>
          <p:nvPr>
            <p:ph type="body" sz="quarter" idx="10"/>
          </p:nvPr>
        </p:nvSpPr>
        <p:spPr>
          <a:xfrm>
            <a:off x="839569" y="971551"/>
            <a:ext cx="580334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4164510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FFD9CB8F-45B4-E333-AB67-85836ED65CEF}"/>
              </a:ext>
            </a:extLst>
          </p:cNvPr>
          <p:cNvSpPr>
            <a:spLocks noGrp="1"/>
          </p:cNvSpPr>
          <p:nvPr>
            <p:ph type="body" sz="quarter" idx="10"/>
          </p:nvPr>
        </p:nvSpPr>
        <p:spPr>
          <a:xfrm>
            <a:off x="839570" y="971551"/>
            <a:ext cx="5691609"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6538069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0D4F87C9-AFD5-D11D-A745-9B8F1A936BC0}"/>
              </a:ext>
            </a:extLst>
          </p:cNvPr>
          <p:cNvSpPr>
            <a:spLocks noGrp="1"/>
          </p:cNvSpPr>
          <p:nvPr>
            <p:ph type="body" sz="quarter" idx="10"/>
          </p:nvPr>
        </p:nvSpPr>
        <p:spPr>
          <a:xfrm>
            <a:off x="839569" y="2199501"/>
            <a:ext cx="4234029" cy="553998"/>
          </a:xfrm>
        </p:spPr>
        <p:txBody>
          <a:bodyPr lIns="0" tIns="0" rIns="0" bIns="0">
            <a:sp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CF7E5E00-74B3-AADD-0627-BA27887FE810}"/>
              </a:ext>
            </a:extLst>
          </p:cNvPr>
          <p:cNvSpPr>
            <a:spLocks noGrp="1"/>
          </p:cNvSpPr>
          <p:nvPr>
            <p:ph type="pic" sz="quarter" idx="11"/>
          </p:nvPr>
        </p:nvSpPr>
        <p:spPr>
          <a:xfrm>
            <a:off x="5903962" y="538775"/>
            <a:ext cx="2239697" cy="1783080"/>
          </a:xfrm>
          <a:custGeom>
            <a:avLst/>
            <a:gdLst>
              <a:gd name="connsiteX0" fmla="*/ 125600 w 2240280"/>
              <a:gd name="connsiteY0" fmla="*/ 0 h 1783080"/>
              <a:gd name="connsiteX1" fmla="*/ 2114680 w 2240280"/>
              <a:gd name="connsiteY1" fmla="*/ 0 h 1783080"/>
              <a:gd name="connsiteX2" fmla="*/ 2240280 w 2240280"/>
              <a:gd name="connsiteY2" fmla="*/ 125600 h 1783080"/>
              <a:gd name="connsiteX3" fmla="*/ 2240280 w 2240280"/>
              <a:gd name="connsiteY3" fmla="*/ 1657480 h 1783080"/>
              <a:gd name="connsiteX4" fmla="*/ 2114680 w 2240280"/>
              <a:gd name="connsiteY4" fmla="*/ 1783080 h 1783080"/>
              <a:gd name="connsiteX5" fmla="*/ 125600 w 2240280"/>
              <a:gd name="connsiteY5" fmla="*/ 1783080 h 1783080"/>
              <a:gd name="connsiteX6" fmla="*/ 0 w 2240280"/>
              <a:gd name="connsiteY6" fmla="*/ 1657480 h 1783080"/>
              <a:gd name="connsiteX7" fmla="*/ 0 w 2240280"/>
              <a:gd name="connsiteY7" fmla="*/ 125600 h 1783080"/>
              <a:gd name="connsiteX8" fmla="*/ 125600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5600" y="0"/>
                </a:moveTo>
                <a:lnTo>
                  <a:pt x="2114680" y="0"/>
                </a:lnTo>
                <a:cubicBezTo>
                  <a:pt x="2184047" y="0"/>
                  <a:pt x="2240280" y="56233"/>
                  <a:pt x="2240280" y="125600"/>
                </a:cubicBezTo>
                <a:lnTo>
                  <a:pt x="2240280" y="1657480"/>
                </a:lnTo>
                <a:cubicBezTo>
                  <a:pt x="2240280" y="1726847"/>
                  <a:pt x="2184047" y="1783080"/>
                  <a:pt x="2114680" y="1783080"/>
                </a:cubicBezTo>
                <a:lnTo>
                  <a:pt x="125600" y="1783080"/>
                </a:lnTo>
                <a:cubicBezTo>
                  <a:pt x="56233" y="1783080"/>
                  <a:pt x="0" y="1726847"/>
                  <a:pt x="0" y="1657480"/>
                </a:cubicBezTo>
                <a:lnTo>
                  <a:pt x="0" y="125600"/>
                </a:lnTo>
                <a:cubicBezTo>
                  <a:pt x="0" y="56233"/>
                  <a:pt x="56233" y="0"/>
                  <a:pt x="125600"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88FFE2A-D715-1690-3C75-E65A19C6266F}"/>
              </a:ext>
            </a:extLst>
          </p:cNvPr>
          <p:cNvSpPr>
            <a:spLocks noGrp="1"/>
          </p:cNvSpPr>
          <p:nvPr>
            <p:ph type="pic" sz="quarter" idx="12"/>
          </p:nvPr>
        </p:nvSpPr>
        <p:spPr>
          <a:xfrm>
            <a:off x="5903962" y="2537460"/>
            <a:ext cx="2239697" cy="1783080"/>
          </a:xfrm>
          <a:custGeom>
            <a:avLst/>
            <a:gdLst>
              <a:gd name="connsiteX0" fmla="*/ 118539 w 2240280"/>
              <a:gd name="connsiteY0" fmla="*/ 0 h 1783080"/>
              <a:gd name="connsiteX1" fmla="*/ 2121741 w 2240280"/>
              <a:gd name="connsiteY1" fmla="*/ 0 h 1783080"/>
              <a:gd name="connsiteX2" fmla="*/ 2240280 w 2240280"/>
              <a:gd name="connsiteY2" fmla="*/ 118539 h 1783080"/>
              <a:gd name="connsiteX3" fmla="*/ 2240280 w 2240280"/>
              <a:gd name="connsiteY3" fmla="*/ 1664541 h 1783080"/>
              <a:gd name="connsiteX4" fmla="*/ 2121741 w 2240280"/>
              <a:gd name="connsiteY4" fmla="*/ 1783080 h 1783080"/>
              <a:gd name="connsiteX5" fmla="*/ 118539 w 2240280"/>
              <a:gd name="connsiteY5" fmla="*/ 1783080 h 1783080"/>
              <a:gd name="connsiteX6" fmla="*/ 0 w 2240280"/>
              <a:gd name="connsiteY6" fmla="*/ 1664541 h 1783080"/>
              <a:gd name="connsiteX7" fmla="*/ 0 w 2240280"/>
              <a:gd name="connsiteY7" fmla="*/ 118539 h 1783080"/>
              <a:gd name="connsiteX8" fmla="*/ 11853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18539" y="0"/>
                </a:moveTo>
                <a:lnTo>
                  <a:pt x="2121741" y="0"/>
                </a:lnTo>
                <a:cubicBezTo>
                  <a:pt x="2187208" y="0"/>
                  <a:pt x="2240280" y="53072"/>
                  <a:pt x="2240280" y="118539"/>
                </a:cubicBezTo>
                <a:lnTo>
                  <a:pt x="2240280" y="1664541"/>
                </a:lnTo>
                <a:cubicBezTo>
                  <a:pt x="2240280" y="1730008"/>
                  <a:pt x="2187208" y="1783080"/>
                  <a:pt x="2121741" y="1783080"/>
                </a:cubicBezTo>
                <a:lnTo>
                  <a:pt x="118539" y="1783080"/>
                </a:lnTo>
                <a:cubicBezTo>
                  <a:pt x="53072" y="1783080"/>
                  <a:pt x="0" y="1730008"/>
                  <a:pt x="0" y="1664541"/>
                </a:cubicBezTo>
                <a:lnTo>
                  <a:pt x="0" y="118539"/>
                </a:lnTo>
                <a:cubicBezTo>
                  <a:pt x="0" y="53072"/>
                  <a:pt x="53072" y="0"/>
                  <a:pt x="118539" y="0"/>
                </a:cubicBezTo>
                <a:close/>
              </a:path>
            </a:pathLst>
          </a:custGeom>
        </p:spPr>
        <p:txBody>
          <a:bodyPr wrap="square">
            <a:noAutofit/>
          </a:bodyPr>
          <a:lstStyle/>
          <a:p>
            <a:endParaRPr lang="en-US"/>
          </a:p>
        </p:txBody>
      </p:sp>
      <p:sp>
        <p:nvSpPr>
          <p:cNvPr id="11" name="Picture Placeholder 10">
            <a:extLst>
              <a:ext uri="{FF2B5EF4-FFF2-40B4-BE49-F238E27FC236}">
                <a16:creationId xmlns:a16="http://schemas.microsoft.com/office/drawing/2014/main" id="{69AEC7D6-C7F6-C6DD-7A93-7F15BDB694C2}"/>
              </a:ext>
            </a:extLst>
          </p:cNvPr>
          <p:cNvSpPr>
            <a:spLocks noGrp="1"/>
          </p:cNvSpPr>
          <p:nvPr>
            <p:ph type="pic" sz="quarter" idx="13"/>
          </p:nvPr>
        </p:nvSpPr>
        <p:spPr>
          <a:xfrm>
            <a:off x="5903962" y="4536145"/>
            <a:ext cx="2239697" cy="1783080"/>
          </a:xfrm>
          <a:custGeom>
            <a:avLst/>
            <a:gdLst>
              <a:gd name="connsiteX0" fmla="*/ 124459 w 2240280"/>
              <a:gd name="connsiteY0" fmla="*/ 0 h 1783080"/>
              <a:gd name="connsiteX1" fmla="*/ 2115821 w 2240280"/>
              <a:gd name="connsiteY1" fmla="*/ 0 h 1783080"/>
              <a:gd name="connsiteX2" fmla="*/ 2240280 w 2240280"/>
              <a:gd name="connsiteY2" fmla="*/ 124459 h 1783080"/>
              <a:gd name="connsiteX3" fmla="*/ 2240280 w 2240280"/>
              <a:gd name="connsiteY3" fmla="*/ 1658621 h 1783080"/>
              <a:gd name="connsiteX4" fmla="*/ 2115821 w 2240280"/>
              <a:gd name="connsiteY4" fmla="*/ 1783080 h 1783080"/>
              <a:gd name="connsiteX5" fmla="*/ 124459 w 2240280"/>
              <a:gd name="connsiteY5" fmla="*/ 1783080 h 1783080"/>
              <a:gd name="connsiteX6" fmla="*/ 0 w 2240280"/>
              <a:gd name="connsiteY6" fmla="*/ 1658621 h 1783080"/>
              <a:gd name="connsiteX7" fmla="*/ 0 w 2240280"/>
              <a:gd name="connsiteY7" fmla="*/ 124459 h 1783080"/>
              <a:gd name="connsiteX8" fmla="*/ 12445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4459" y="0"/>
                </a:moveTo>
                <a:lnTo>
                  <a:pt x="2115821" y="0"/>
                </a:lnTo>
                <a:cubicBezTo>
                  <a:pt x="2184558" y="0"/>
                  <a:pt x="2240280" y="55722"/>
                  <a:pt x="2240280" y="124459"/>
                </a:cubicBezTo>
                <a:lnTo>
                  <a:pt x="2240280" y="1658621"/>
                </a:lnTo>
                <a:cubicBezTo>
                  <a:pt x="2240280" y="1727358"/>
                  <a:pt x="2184558" y="1783080"/>
                  <a:pt x="2115821" y="1783080"/>
                </a:cubicBezTo>
                <a:lnTo>
                  <a:pt x="124459" y="1783080"/>
                </a:lnTo>
                <a:cubicBezTo>
                  <a:pt x="55722" y="1783080"/>
                  <a:pt x="0" y="1727358"/>
                  <a:pt x="0" y="1658621"/>
                </a:cubicBezTo>
                <a:lnTo>
                  <a:pt x="0" y="124459"/>
                </a:lnTo>
                <a:cubicBezTo>
                  <a:pt x="0" y="55722"/>
                  <a:pt x="55722" y="0"/>
                  <a:pt x="12445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856985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CEBD1DE8-A38D-041F-7BE7-63EB75067B3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0894CE71-D989-A01B-2541-02035A315D52}"/>
              </a:ext>
            </a:extLst>
          </p:cNvPr>
          <p:cNvSpPr>
            <a:spLocks noGrp="1"/>
          </p:cNvSpPr>
          <p:nvPr>
            <p:ph type="pic" sz="quarter" idx="11"/>
          </p:nvPr>
        </p:nvSpPr>
        <p:spPr>
          <a:xfrm>
            <a:off x="7191136" y="1"/>
            <a:ext cx="4997689" cy="6858000"/>
          </a:xfrm>
          <a:custGeom>
            <a:avLst/>
            <a:gdLst>
              <a:gd name="connsiteX0" fmla="*/ 2276199 w 4998991"/>
              <a:gd name="connsiteY0" fmla="*/ 0 h 6858000"/>
              <a:gd name="connsiteX1" fmla="*/ 4998991 w 4998991"/>
              <a:gd name="connsiteY1" fmla="*/ 0 h 6858000"/>
              <a:gd name="connsiteX2" fmla="*/ 4998991 w 4998991"/>
              <a:gd name="connsiteY2" fmla="*/ 6858000 h 6858000"/>
              <a:gd name="connsiteX3" fmla="*/ 3385646 w 4998991"/>
              <a:gd name="connsiteY3" fmla="*/ 6858000 h 6858000"/>
              <a:gd name="connsiteX4" fmla="*/ 568771 w 4998991"/>
              <a:gd name="connsiteY4" fmla="*/ 5231676 h 6858000"/>
              <a:gd name="connsiteX5" fmla="*/ 152541 w 4998991"/>
              <a:gd name="connsiteY5" fmla="*/ 36782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991" h="6858000">
                <a:moveTo>
                  <a:pt x="2276199" y="0"/>
                </a:moveTo>
                <a:lnTo>
                  <a:pt x="4998991" y="0"/>
                </a:lnTo>
                <a:lnTo>
                  <a:pt x="4998991" y="6858000"/>
                </a:lnTo>
                <a:lnTo>
                  <a:pt x="3385646" y="6858000"/>
                </a:lnTo>
                <a:lnTo>
                  <a:pt x="568771" y="5231676"/>
                </a:lnTo>
                <a:cubicBezTo>
                  <a:pt x="24875" y="4917657"/>
                  <a:pt x="-161478" y="4222181"/>
                  <a:pt x="152541" y="3678285"/>
                </a:cubicBezTo>
                <a:close/>
              </a:path>
            </a:pathLst>
          </a:custGeom>
        </p:spPr>
        <p:txBody>
          <a:bodyPr wrap="square">
            <a:noAutofit/>
          </a:bodyPr>
          <a:lstStyle/>
          <a:p>
            <a:endParaRPr lang="en-PK"/>
          </a:p>
        </p:txBody>
      </p:sp>
    </p:spTree>
    <p:extLst>
      <p:ext uri="{BB962C8B-B14F-4D97-AF65-F5344CB8AC3E}">
        <p14:creationId xmlns:p14="http://schemas.microsoft.com/office/powerpoint/2010/main" val="909203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10C56D3C-4260-8E27-5665-613701086D72}"/>
              </a:ext>
            </a:extLst>
          </p:cNvPr>
          <p:cNvSpPr>
            <a:spLocks noGrp="1"/>
          </p:cNvSpPr>
          <p:nvPr>
            <p:ph type="body" sz="quarter" idx="10"/>
          </p:nvPr>
        </p:nvSpPr>
        <p:spPr>
          <a:xfrm>
            <a:off x="839569" y="1793638"/>
            <a:ext cx="3522950" cy="110799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001657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DB8B3CA3-442F-6635-C547-4290D042B76C}"/>
              </a:ext>
            </a:extLst>
          </p:cNvPr>
          <p:cNvSpPr>
            <a:spLocks noGrp="1"/>
          </p:cNvSpPr>
          <p:nvPr>
            <p:ph type="body" sz="quarter" idx="10"/>
          </p:nvPr>
        </p:nvSpPr>
        <p:spPr>
          <a:xfrm>
            <a:off x="839569" y="971551"/>
            <a:ext cx="630015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027093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37687893-67B4-A936-3437-9722BD427319}"/>
              </a:ext>
            </a:extLst>
          </p:cNvPr>
          <p:cNvSpPr>
            <a:spLocks noGrp="1"/>
          </p:cNvSpPr>
          <p:nvPr>
            <p:ph type="body" sz="quarter" idx="10"/>
          </p:nvPr>
        </p:nvSpPr>
        <p:spPr>
          <a:xfrm>
            <a:off x="839569" y="971551"/>
            <a:ext cx="5715386"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8356636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53227017-0470-41EB-12C4-6E8CCAF5BCF1}"/>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2B77C54E-8E8F-1DF8-C6DB-2862B452F363}"/>
              </a:ext>
            </a:extLst>
          </p:cNvPr>
          <p:cNvSpPr>
            <a:spLocks noGrp="1"/>
          </p:cNvSpPr>
          <p:nvPr>
            <p:ph type="pic" sz="quarter" idx="11"/>
          </p:nvPr>
        </p:nvSpPr>
        <p:spPr>
          <a:xfrm>
            <a:off x="6751447" y="1911755"/>
            <a:ext cx="4597810" cy="3854275"/>
          </a:xfrm>
          <a:custGeom>
            <a:avLst/>
            <a:gdLst>
              <a:gd name="connsiteX0" fmla="*/ 642392 w 4599008"/>
              <a:gd name="connsiteY0" fmla="*/ 0 h 3854275"/>
              <a:gd name="connsiteX1" fmla="*/ 4599008 w 4599008"/>
              <a:gd name="connsiteY1" fmla="*/ 0 h 3854275"/>
              <a:gd name="connsiteX2" fmla="*/ 4599008 w 4599008"/>
              <a:gd name="connsiteY2" fmla="*/ 3211883 h 3854275"/>
              <a:gd name="connsiteX3" fmla="*/ 3956616 w 4599008"/>
              <a:gd name="connsiteY3" fmla="*/ 3854275 h 3854275"/>
              <a:gd name="connsiteX4" fmla="*/ 0 w 4599008"/>
              <a:gd name="connsiteY4" fmla="*/ 3854275 h 3854275"/>
              <a:gd name="connsiteX5" fmla="*/ 0 w 4599008"/>
              <a:gd name="connsiteY5" fmla="*/ 642392 h 3854275"/>
              <a:gd name="connsiteX6" fmla="*/ 642392 w 4599008"/>
              <a:gd name="connsiteY6" fmla="*/ 0 h 38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9008" h="3854275">
                <a:moveTo>
                  <a:pt x="642392" y="0"/>
                </a:moveTo>
                <a:lnTo>
                  <a:pt x="4599008" y="0"/>
                </a:lnTo>
                <a:lnTo>
                  <a:pt x="4599008" y="3211883"/>
                </a:lnTo>
                <a:cubicBezTo>
                  <a:pt x="4599008" y="3566666"/>
                  <a:pt x="4311399" y="3854275"/>
                  <a:pt x="3956616" y="3854275"/>
                </a:cubicBezTo>
                <a:lnTo>
                  <a:pt x="0" y="3854275"/>
                </a:lnTo>
                <a:lnTo>
                  <a:pt x="0" y="642392"/>
                </a:lnTo>
                <a:cubicBezTo>
                  <a:pt x="0" y="287609"/>
                  <a:pt x="287609" y="0"/>
                  <a:pt x="642392"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2169829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49009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37E282-A3FD-8FDF-6938-39CB1940284A}"/>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04E0A95-6555-5CE0-2B04-590BB8885859}"/>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FCD3B31-96C7-188A-7A1F-74625996BDF5}"/>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0145F-FA58-4242-A5B4-590FCCB69A0F}" type="datetimeFigureOut">
              <a:rPr lang="en-PK" smtClean="0"/>
              <a:t>08/19/2026</a:t>
            </a:fld>
            <a:endParaRPr lang="en-PK"/>
          </a:p>
        </p:txBody>
      </p:sp>
      <p:sp>
        <p:nvSpPr>
          <p:cNvPr id="5" name="Footer Placeholder 4">
            <a:extLst>
              <a:ext uri="{FF2B5EF4-FFF2-40B4-BE49-F238E27FC236}">
                <a16:creationId xmlns:a16="http://schemas.microsoft.com/office/drawing/2014/main" id="{62B98D10-484E-D76E-8BED-E65AE3160418}"/>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46E80257-D808-F7F3-9DDC-7F1794A6BA5B}"/>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DDFB9D-E974-4984-B692-DF7D1E2E45AF}" type="slidenum">
              <a:rPr lang="en-PK" smtClean="0"/>
              <a:t>‹#›</a:t>
            </a:fld>
            <a:endParaRPr lang="en-PK"/>
          </a:p>
        </p:txBody>
      </p:sp>
    </p:spTree>
    <p:extLst>
      <p:ext uri="{BB962C8B-B14F-4D97-AF65-F5344CB8AC3E}">
        <p14:creationId xmlns:p14="http://schemas.microsoft.com/office/powerpoint/2010/main" val="301226757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PK"/>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hyperlink" Target="https://www.npmjs.com/package/@openui5/types" TargetMode="External"/><Relationship Id="rId2" Type="http://schemas.openxmlformats.org/officeDocument/2006/relationships/hyperlink" Target="http://definitelytyped.org/" TargetMode="External"/><Relationship Id="rId1" Type="http://schemas.openxmlformats.org/officeDocument/2006/relationships/slideLayout" Target="../slideLayouts/slideLayout33.xml"/><Relationship Id="rId5" Type="http://schemas.openxmlformats.org/officeDocument/2006/relationships/image" Target="../media/image4.png"/><Relationship Id="rId4" Type="http://schemas.openxmlformats.org/officeDocument/2006/relationships/hyperlink" Target="https://github.com/SAP-samples/ui5-cap-event-app/blob/js-with-typescript-support/README.md"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33.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3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hyperlink" Target="http://www.dribbble.com/"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2.tiff"/><Relationship Id="rId5" Type="http://schemas.openxmlformats.org/officeDocument/2006/relationships/image" Target="../media/image21.tiff"/><Relationship Id="rId4" Type="http://schemas.openxmlformats.org/officeDocument/2006/relationships/image" Target="../media/image20.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22</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Introduction to type script</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interfaces and types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Working with classes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F47B6-7C81-D099-56D9-B25C0716EF0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C0E9F38-3F0C-20A9-FDF7-9926CC56A9E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What is Type Script</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F725DD64-2B00-6D77-EF58-4B20D34C8C54}"/>
              </a:ext>
            </a:extLst>
          </p:cNvPr>
          <p:cNvSpPr txBox="1"/>
          <p:nvPr/>
        </p:nvSpPr>
        <p:spPr>
          <a:xfrm>
            <a:off x="142630" y="655071"/>
            <a:ext cx="11483853" cy="5293702"/>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Script is enhanced version of JS, </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is a syntactic superset of JavaScript which adds </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static typing</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We could say its superset of JS</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You can think like C++ is enhanced version of C</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is built upon Java Script only</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TS = JS + Types, Like usually in JS we never provide data types while creating variables but in TS we must</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Also TS offers better syntax to manage the classes and objects</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TS cannot run directly in Browser, so it has to be converted to JS hence we have to write some special file or use modules to convert the TS to JS at runtime</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TS Compiler converts the code from TS to JS</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Benefits</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We can do checks at compile time, So error handling is easy</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Code Completion is better</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Object Oriented programming can be added which offers classes, polymorphism, inheritance etc</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Example when we define return type for the function @ design time which helps us to find compile time</a:t>
            </a:r>
          </a:p>
          <a:p>
            <a:pPr marL="342797" marR="0" lvl="0" indent="-342797" algn="l" defTabSz="914126" rtl="0" eaLnBrk="1" fontAlgn="auto" latinLnBrk="0" hangingPunct="1">
              <a:lnSpc>
                <a:spcPct val="100000"/>
              </a:lnSpc>
              <a:spcBef>
                <a:spcPts val="0"/>
              </a:spcBef>
              <a:spcAft>
                <a:spcPts val="0"/>
              </a:spcAft>
              <a:buClrTx/>
              <a:buSzTx/>
              <a:buFontTx/>
              <a:buAutoNum type="arabicPeriod"/>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History</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Developed by Microsoft by enhancing JS</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First released in Oct-2012 and influenced by JS</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825366F9-2B4D-AFE8-FA33-FE876E2CDA92}"/>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075D4CF-F9E0-5E46-8452-CD3F6D569B09}"/>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E537D3D9-8B87-81D3-673C-C7A55CFD326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1E7691D2-2C0D-60EE-E216-BFE6F7F8515A}"/>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F4438852-C63A-252A-9141-088B065E3CC7}"/>
              </a:ext>
            </a:extLst>
          </p:cNvPr>
          <p:cNvPicPr>
            <a:picLocks noChangeAspect="1"/>
          </p:cNvPicPr>
          <p:nvPr/>
        </p:nvPicPr>
        <p:blipFill>
          <a:blip r:embed="rId3"/>
          <a:stretch>
            <a:fillRect/>
          </a:stretch>
        </p:blipFill>
        <p:spPr>
          <a:xfrm>
            <a:off x="9767758" y="4754619"/>
            <a:ext cx="2023999" cy="1448311"/>
          </a:xfrm>
          <a:prstGeom prst="rect">
            <a:avLst/>
          </a:prstGeom>
        </p:spPr>
      </p:pic>
    </p:spTree>
    <p:extLst>
      <p:ext uri="{BB962C8B-B14F-4D97-AF65-F5344CB8AC3E}">
        <p14:creationId xmlns:p14="http://schemas.microsoft.com/office/powerpoint/2010/main" val="165651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1000"/>
                                        <p:tgtEl>
                                          <p:spTgt spid="3">
                                            <p:txEl>
                                              <p:pRg st="10" end="10"/>
                                            </p:txEl>
                                          </p:spTgt>
                                        </p:tgtEl>
                                      </p:cBhvr>
                                    </p:animEffect>
                                    <p:anim calcmode="lin" valueType="num">
                                      <p:cBhvr>
                                        <p:cTn id="5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1000"/>
                                        <p:tgtEl>
                                          <p:spTgt spid="3">
                                            <p:txEl>
                                              <p:pRg st="11" end="11"/>
                                            </p:txEl>
                                          </p:spTgt>
                                        </p:tgtEl>
                                      </p:cBhvr>
                                    </p:animEffect>
                                    <p:anim calcmode="lin" valueType="num">
                                      <p:cBhvr>
                                        <p:cTn id="5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Effect transition="in" filter="fade">
                                      <p:cBhvr>
                                        <p:cTn id="59" dur="1000"/>
                                        <p:tgtEl>
                                          <p:spTgt spid="3">
                                            <p:txEl>
                                              <p:pRg st="12" end="12"/>
                                            </p:txEl>
                                          </p:spTgt>
                                        </p:tgtEl>
                                      </p:cBhvr>
                                    </p:animEffect>
                                    <p:anim calcmode="lin" valueType="num">
                                      <p:cBhvr>
                                        <p:cTn id="6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Effect transition="in" filter="fade">
                                      <p:cBhvr>
                                        <p:cTn id="64" dur="1000"/>
                                        <p:tgtEl>
                                          <p:spTgt spid="3">
                                            <p:txEl>
                                              <p:pRg st="13" end="13"/>
                                            </p:txEl>
                                          </p:spTgt>
                                        </p:tgtEl>
                                      </p:cBhvr>
                                    </p:animEffect>
                                    <p:anim calcmode="lin" valueType="num">
                                      <p:cBhvr>
                                        <p:cTn id="65"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3">
                                            <p:txEl>
                                              <p:pRg st="14" end="14"/>
                                            </p:txEl>
                                          </p:spTgt>
                                        </p:tgtEl>
                                        <p:attrNameLst>
                                          <p:attrName>style.visibility</p:attrName>
                                        </p:attrNameLst>
                                      </p:cBhvr>
                                      <p:to>
                                        <p:strVal val="visible"/>
                                      </p:to>
                                    </p:set>
                                    <p:animEffect transition="in" filter="fade">
                                      <p:cBhvr>
                                        <p:cTn id="69" dur="1000"/>
                                        <p:tgtEl>
                                          <p:spTgt spid="3">
                                            <p:txEl>
                                              <p:pRg st="14" end="14"/>
                                            </p:txEl>
                                          </p:spTgt>
                                        </p:tgtEl>
                                      </p:cBhvr>
                                    </p:animEffect>
                                    <p:anim calcmode="lin" valueType="num">
                                      <p:cBhvr>
                                        <p:cTn id="70"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3">
                                            <p:txEl>
                                              <p:pRg st="16" end="16"/>
                                            </p:txEl>
                                          </p:spTgt>
                                        </p:tgtEl>
                                        <p:attrNameLst>
                                          <p:attrName>style.visibility</p:attrName>
                                        </p:attrNameLst>
                                      </p:cBhvr>
                                      <p:to>
                                        <p:strVal val="visible"/>
                                      </p:to>
                                    </p:set>
                                    <p:animEffect transition="in" filter="fade">
                                      <p:cBhvr>
                                        <p:cTn id="76" dur="1000"/>
                                        <p:tgtEl>
                                          <p:spTgt spid="3">
                                            <p:txEl>
                                              <p:pRg st="16" end="16"/>
                                            </p:txEl>
                                          </p:spTgt>
                                        </p:tgtEl>
                                      </p:cBhvr>
                                    </p:animEffect>
                                    <p:anim calcmode="lin" valueType="num">
                                      <p:cBhvr>
                                        <p:cTn id="77"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16" end="16"/>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
                                            <p:txEl>
                                              <p:pRg st="17" end="17"/>
                                            </p:txEl>
                                          </p:spTgt>
                                        </p:tgtEl>
                                        <p:attrNameLst>
                                          <p:attrName>style.visibility</p:attrName>
                                        </p:attrNameLst>
                                      </p:cBhvr>
                                      <p:to>
                                        <p:strVal val="visible"/>
                                      </p:to>
                                    </p:set>
                                    <p:animEffect transition="in" filter="fade">
                                      <p:cBhvr>
                                        <p:cTn id="81" dur="1000"/>
                                        <p:tgtEl>
                                          <p:spTgt spid="3">
                                            <p:txEl>
                                              <p:pRg st="17" end="17"/>
                                            </p:txEl>
                                          </p:spTgt>
                                        </p:tgtEl>
                                      </p:cBhvr>
                                    </p:animEffect>
                                    <p:anim calcmode="lin" valueType="num">
                                      <p:cBhvr>
                                        <p:cTn id="82" dur="1000" fill="hold"/>
                                        <p:tgtEl>
                                          <p:spTgt spid="3">
                                            <p:txEl>
                                              <p:pRg st="17" end="17"/>
                                            </p:txEl>
                                          </p:spTgt>
                                        </p:tgtEl>
                                        <p:attrNameLst>
                                          <p:attrName>ppt_x</p:attrName>
                                        </p:attrNameLst>
                                      </p:cBhvr>
                                      <p:tavLst>
                                        <p:tav tm="0">
                                          <p:val>
                                            <p:strVal val="#ppt_x"/>
                                          </p:val>
                                        </p:tav>
                                        <p:tav tm="100000">
                                          <p:val>
                                            <p:strVal val="#ppt_x"/>
                                          </p:val>
                                        </p:tav>
                                      </p:tavLst>
                                    </p:anim>
                                    <p:anim calcmode="lin" valueType="num">
                                      <p:cBhvr>
                                        <p:cTn id="83" dur="1000" fill="hold"/>
                                        <p:tgtEl>
                                          <p:spTgt spid="3">
                                            <p:txEl>
                                              <p:pRg st="17" end="17"/>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3">
                                            <p:txEl>
                                              <p:pRg st="18" end="18"/>
                                            </p:txEl>
                                          </p:spTgt>
                                        </p:tgtEl>
                                        <p:attrNameLst>
                                          <p:attrName>style.visibility</p:attrName>
                                        </p:attrNameLst>
                                      </p:cBhvr>
                                      <p:to>
                                        <p:strVal val="visible"/>
                                      </p:to>
                                    </p:set>
                                    <p:animEffect transition="in" filter="fade">
                                      <p:cBhvr>
                                        <p:cTn id="86" dur="1000"/>
                                        <p:tgtEl>
                                          <p:spTgt spid="3">
                                            <p:txEl>
                                              <p:pRg st="18" end="18"/>
                                            </p:txEl>
                                          </p:spTgt>
                                        </p:tgtEl>
                                      </p:cBhvr>
                                    </p:animEffect>
                                    <p:anim calcmode="lin" valueType="num">
                                      <p:cBhvr>
                                        <p:cTn id="87" dur="1000" fill="hold"/>
                                        <p:tgtEl>
                                          <p:spTgt spid="3">
                                            <p:txEl>
                                              <p:pRg st="18" end="18"/>
                                            </p:txEl>
                                          </p:spTgt>
                                        </p:tgtEl>
                                        <p:attrNameLst>
                                          <p:attrName>ppt_x</p:attrName>
                                        </p:attrNameLst>
                                      </p:cBhvr>
                                      <p:tavLst>
                                        <p:tav tm="0">
                                          <p:val>
                                            <p:strVal val="#ppt_x"/>
                                          </p:val>
                                        </p:tav>
                                        <p:tav tm="100000">
                                          <p:val>
                                            <p:strVal val="#ppt_x"/>
                                          </p:val>
                                        </p:tav>
                                      </p:tavLst>
                                    </p:anim>
                                    <p:anim calcmode="lin" valueType="num">
                                      <p:cBhvr>
                                        <p:cTn id="88" dur="1000" fill="hold"/>
                                        <p:tgtEl>
                                          <p:spTgt spid="3">
                                            <p:txEl>
                                              <p:pRg st="18" end="18"/>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fade">
                                      <p:cBhvr>
                                        <p:cTn id="91" dur="1000"/>
                                        <p:tgtEl>
                                          <p:spTgt spid="9"/>
                                        </p:tgtEl>
                                      </p:cBhvr>
                                    </p:animEffect>
                                    <p:anim calcmode="lin" valueType="num">
                                      <p:cBhvr>
                                        <p:cTn id="92" dur="1000" fill="hold"/>
                                        <p:tgtEl>
                                          <p:spTgt spid="9"/>
                                        </p:tgtEl>
                                        <p:attrNameLst>
                                          <p:attrName>ppt_x</p:attrName>
                                        </p:attrNameLst>
                                      </p:cBhvr>
                                      <p:tavLst>
                                        <p:tav tm="0">
                                          <p:val>
                                            <p:strVal val="#ppt_x"/>
                                          </p:val>
                                        </p:tav>
                                        <p:tav tm="100000">
                                          <p:val>
                                            <p:strVal val="#ppt_x"/>
                                          </p:val>
                                        </p:tav>
                                      </p:tavLst>
                                    </p:anim>
                                    <p:anim calcmode="lin" valueType="num">
                                      <p:cBhvr>
                                        <p:cTn id="9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0619-40C1-1AAF-F549-CF77C15C2EE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382A3FD-CF73-C89A-B105-0E9813383F92}"/>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Variable Creation</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1DE8E74-AF39-656E-EBCB-DE3A61B3FB4D}"/>
              </a:ext>
            </a:extLst>
          </p:cNvPr>
          <p:cNvSpPr txBox="1"/>
          <p:nvPr/>
        </p:nvSpPr>
        <p:spPr>
          <a:xfrm>
            <a:off x="142630" y="655071"/>
            <a:ext cx="11483853" cy="5384665"/>
          </a:xfrm>
          <a:prstGeom prst="rect">
            <a:avLst/>
          </a:prstGeom>
          <a:noFill/>
        </p:spPr>
        <p:txBody>
          <a:bodyPr wrap="square" lIns="121867" tIns="60933" rIns="121867" bIns="60933" rtlCol="0">
            <a:spAutoFit/>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 most basic types in TypeScript are called </a:t>
            </a: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primitives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These types form the building blocks of more complex types in your applications.</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includes all JavaScript primitives plus additional type features.</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Here are the five primitive types you'll use most often:</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varName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datatype = value;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isActive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boolean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true;</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hasPermission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false; // TypeScript infers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boolean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type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decimal: number = 6;</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hex: number = 0xf00d;       // Hexadecimal</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binary: number = 0b1010;     // Binary</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octal: number = 0o744;      // Octal</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float: number = 3.14;      // Floating point</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color: string = "blue";</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fullName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string = 'John Doe';</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age: number = 30;</a:t>
            </a:r>
            <a:b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let sentence: string = `Hello, my name is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fullName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and I'll be ${age + 1} next year.`;</a:t>
            </a:r>
          </a:p>
        </p:txBody>
      </p:sp>
      <p:sp>
        <p:nvSpPr>
          <p:cNvPr id="4" name="TextBox 3">
            <a:extLst>
              <a:ext uri="{FF2B5EF4-FFF2-40B4-BE49-F238E27FC236}">
                <a16:creationId xmlns:a16="http://schemas.microsoft.com/office/drawing/2014/main" id="{0D8B0749-10E3-0FBB-C6FD-994748A2196F}"/>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9E833806-7B26-94E0-3775-6F80FE0CEFA8}"/>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D7B43491-0AB6-2035-4038-CEA7884AD671}"/>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5B4D2C62-36D7-323F-FCBF-BBFD3190794D}"/>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237351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1000"/>
                                        <p:tgtEl>
                                          <p:spTgt spid="3">
                                            <p:txEl>
                                              <p:pRg st="8" end="8"/>
                                            </p:txEl>
                                          </p:spTgt>
                                        </p:tgtEl>
                                      </p:cBhvr>
                                    </p:animEffect>
                                    <p:anim calcmode="lin" valueType="num">
                                      <p:cBhvr>
                                        <p:cTn id="3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61EF-61EC-42FB-83F6-29AE0B651BB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5EB9415-1D12-1F94-DF89-9351330C5C9D}"/>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How to run TS code in VS Code/BAS</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BED232F-AF5B-7663-9E75-CCCA88362B37}"/>
              </a:ext>
            </a:extLst>
          </p:cNvPr>
          <p:cNvSpPr txBox="1"/>
          <p:nvPr/>
        </p:nvSpPr>
        <p:spPr>
          <a:xfrm>
            <a:off x="142630" y="655071"/>
            <a:ext cx="11483853" cy="4555039"/>
          </a:xfrm>
          <a:prstGeom prst="rect">
            <a:avLst/>
          </a:prstGeom>
          <a:noFill/>
        </p:spPr>
        <p:txBody>
          <a:bodyPr wrap="square" lIns="121867" tIns="60933" rIns="121867" bIns="60933" rtlCol="0">
            <a:spAutoFit/>
          </a:bodyPr>
          <a:lstStyle/>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is a superset of JavaScript that adds features such as data types, interfaces, classes, and compile-time error checking. Since browsers and Node.js understand JavaScript, TypeScript code must first be converted (compiled) into JavaScript before it can be executed. Visual Studio Code provides excellent support for TypeScript development, including syntax highlighting, IntelliSense, debugging, and terminal integration. To work with TypeScript, developers typically install Node.js, TypeScript, and optionally </a:t>
            </a:r>
            <a:r>
              <a:rPr kumimoji="0" lang="en-US"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-node, which allows TypeScript files to be executed directly without manually compiling them.</a:t>
            </a:r>
          </a:p>
          <a:p>
            <a:pPr marL="0" marR="0" lvl="0" indent="0" algn="just" defTabSz="914126" rtl="0" eaLnBrk="1" fontAlgn="auto" latinLnBrk="0" hangingPunct="1">
              <a:lnSpc>
                <a:spcPct val="100000"/>
              </a:lnSpc>
              <a:spcBef>
                <a:spcPts val="0"/>
              </a:spcBef>
              <a:spcAft>
                <a:spcPts val="0"/>
              </a:spcAft>
              <a:buClrTx/>
              <a:buSzTx/>
              <a:buFont typeface="Arial"/>
              <a:buNone/>
              <a:tabLst/>
              <a:defRPr/>
            </a:pP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can be installed globally using </a:t>
            </a:r>
            <a:r>
              <a:rPr kumimoji="0" lang="en-US"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npm</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This provides access to the TypeScript Compiler (</a:t>
            </a:r>
            <a:r>
              <a:rPr kumimoji="0" lang="en-US"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from any terminal window.</a:t>
            </a: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npm</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install -g typescript   	</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--Install TypeScript</a:t>
            </a:r>
            <a:endParaRPr kumimoji="0" lang="en-IN" sz="1600" b="0" i="1"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hello.ts</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--The TypeScript Compiler (</a:t>
            </a:r>
            <a:r>
              <a:rPr kumimoji="0" lang="en-IN" sz="1400" b="0" i="1"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 converts .</a:t>
            </a:r>
            <a:r>
              <a:rPr kumimoji="0" lang="en-IN" sz="1400" b="0" i="1"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 files into .</a:t>
            </a:r>
            <a:r>
              <a:rPr kumimoji="0" lang="en-IN" sz="1400" b="0" i="1" u="none" strike="noStrike" kern="1200" cap="none" spc="0" normalizeH="0" baseline="0" noProof="0" dirty="0" err="1">
                <a:ln>
                  <a:noFill/>
                </a:ln>
                <a:solidFill>
                  <a:prstClr val="black"/>
                </a:solidFill>
                <a:effectLst/>
                <a:uLnTx/>
                <a:uFillTx/>
                <a:latin typeface="Aptos" panose="02110004020202020204"/>
                <a:ea typeface="+mn-ea"/>
                <a:cs typeface="Arial"/>
                <a:sym typeface="Arial"/>
              </a:rPr>
              <a:t>js</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 files that can be executed by Node.js.</a:t>
            </a: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node hello.js		</a:t>
            </a:r>
            <a:r>
              <a:rPr kumimoji="0" lang="en-IN" sz="1400"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--Run the Generated JavaScript File:</a:t>
            </a:r>
          </a:p>
          <a:p>
            <a:pPr marL="0" marR="0" lvl="0" indent="0" algn="just" defTabSz="914126" rtl="0" eaLnBrk="1" fontAlgn="auto" latinLnBrk="0" hangingPunct="1">
              <a:lnSpc>
                <a:spcPct val="100000"/>
              </a:lnSpc>
              <a:spcBef>
                <a:spcPts val="0"/>
              </a:spcBef>
              <a:spcAft>
                <a:spcPts val="0"/>
              </a:spcAft>
              <a:buClrTx/>
              <a:buSzTx/>
              <a:buFont typeface="Arial"/>
              <a:buNone/>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Instead of compiling manually every time, developers often use </a:t>
            </a:r>
            <a:r>
              <a:rPr kumimoji="0" lang="en-US"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-node, which compiles and executes TypeScript in a single step.</a:t>
            </a:r>
          </a:p>
          <a:p>
            <a:pPr marL="0" marR="0" lvl="0" indent="0" algn="just" defTabSz="914126" rtl="0" eaLnBrk="1" fontAlgn="auto" latinLnBrk="0" hangingPunct="1">
              <a:lnSpc>
                <a:spcPct val="100000"/>
              </a:lnSpc>
              <a:spcBef>
                <a:spcPts val="0"/>
              </a:spcBef>
              <a:spcAft>
                <a:spcPts val="0"/>
              </a:spcAft>
              <a:buClrTx/>
              <a:buSzTx/>
              <a:buFont typeface="Arial"/>
              <a:buNone/>
              <a:tabLst/>
              <a:defRPr/>
            </a:pP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npm</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install -g </a:t>
            </a: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-node</a:t>
            </a:r>
          </a:p>
          <a:p>
            <a:pPr marL="0" marR="0" lvl="0" indent="0" algn="just" defTabSz="914126" rtl="0" eaLnBrk="1" fontAlgn="auto" latinLnBrk="0" hangingPunct="1">
              <a:lnSpc>
                <a:spcPct val="100000"/>
              </a:lnSpc>
              <a:spcBef>
                <a:spcPts val="0"/>
              </a:spcBef>
              <a:spcAft>
                <a:spcPts val="0"/>
              </a:spcAft>
              <a:buClrTx/>
              <a:buSzTx/>
              <a:buFont typeface="Arial"/>
              <a:buNone/>
              <a:tabLst/>
              <a:defRPr/>
            </a:pP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a:t>
            </a:r>
            <a:r>
              <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-node </a:t>
            </a:r>
            <a:r>
              <a:rPr kumimoji="0" lang="en-IN" sz="16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hello.ts</a:t>
            </a:r>
            <a:endParaRPr kumimoji="0" lang="en-IN" sz="16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696E9FB4-37F0-21A5-A4FE-AA1425E71F64}"/>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4D4C75C8-945A-81A4-78B0-574BD370F08E}"/>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33C121A3-8987-CCB9-6080-7BA13FA6579D}"/>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1E05A7E4-F127-C15D-8FC2-5C8025E6D4BB}"/>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56423B82-ED00-9DF1-96CF-8667A5C22C88}"/>
              </a:ext>
            </a:extLst>
          </p:cNvPr>
          <p:cNvPicPr>
            <a:picLocks noChangeAspect="1"/>
          </p:cNvPicPr>
          <p:nvPr/>
        </p:nvPicPr>
        <p:blipFill>
          <a:blip r:embed="rId3"/>
          <a:stretch>
            <a:fillRect/>
          </a:stretch>
        </p:blipFill>
        <p:spPr>
          <a:xfrm>
            <a:off x="9767758" y="4754619"/>
            <a:ext cx="2023999" cy="1448311"/>
          </a:xfrm>
          <a:prstGeom prst="rect">
            <a:avLst/>
          </a:prstGeom>
        </p:spPr>
      </p:pic>
    </p:spTree>
    <p:extLst>
      <p:ext uri="{BB962C8B-B14F-4D97-AF65-F5344CB8AC3E}">
        <p14:creationId xmlns:p14="http://schemas.microsoft.com/office/powerpoint/2010/main" val="221928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1000"/>
                                        <p:tgtEl>
                                          <p:spTgt spid="3">
                                            <p:txEl>
                                              <p:pRg st="11" end="11"/>
                                            </p:txEl>
                                          </p:spTgt>
                                        </p:tgtEl>
                                      </p:cBhvr>
                                    </p:animEffect>
                                    <p:anim calcmode="lin" valueType="num">
                                      <p:cBhvr>
                                        <p:cTn id="5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1000"/>
                                        <p:tgtEl>
                                          <p:spTgt spid="3">
                                            <p:txEl>
                                              <p:pRg st="12" end="12"/>
                                            </p:txEl>
                                          </p:spTgt>
                                        </p:tgtEl>
                                      </p:cBhvr>
                                    </p:animEffect>
                                    <p:anim calcmode="lin" valueType="num">
                                      <p:cBhvr>
                                        <p:cTn id="5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1000"/>
                                        <p:tgtEl>
                                          <p:spTgt spid="9"/>
                                        </p:tgtEl>
                                      </p:cBhvr>
                                    </p:animEffect>
                                    <p:anim calcmode="lin" valueType="num">
                                      <p:cBhvr>
                                        <p:cTn id="62" dur="1000" fill="hold"/>
                                        <p:tgtEl>
                                          <p:spTgt spid="9"/>
                                        </p:tgtEl>
                                        <p:attrNameLst>
                                          <p:attrName>ppt_x</p:attrName>
                                        </p:attrNameLst>
                                      </p:cBhvr>
                                      <p:tavLst>
                                        <p:tav tm="0">
                                          <p:val>
                                            <p:strVal val="#ppt_x"/>
                                          </p:val>
                                        </p:tav>
                                        <p:tav tm="100000">
                                          <p:val>
                                            <p:strVal val="#ppt_x"/>
                                          </p:val>
                                        </p:tav>
                                      </p:tavLst>
                                    </p:anim>
                                    <p:anim calcmode="lin" valueType="num">
                                      <p:cBhvr>
                                        <p:cTn id="6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7333B-3F5A-1075-F057-D3359D63610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0019707-61F2-4E8E-4EB9-C11B16E77BF0}"/>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Special Types</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D6961807-D204-4416-F887-6F695DBC7607}"/>
              </a:ext>
            </a:extLst>
          </p:cNvPr>
          <p:cNvSpPr txBox="1"/>
          <p:nvPr/>
        </p:nvSpPr>
        <p:spPr>
          <a:xfrm>
            <a:off x="142630" y="655071"/>
            <a:ext cx="11483853" cy="5660469"/>
          </a:xfrm>
          <a:prstGeom prst="rect">
            <a:avLst/>
          </a:prstGeom>
          <a:noFill/>
        </p:spPr>
        <p:txBody>
          <a:bodyPr wrap="square" lIns="121867" tIns="60933" rIns="121867" bIns="60933" rtlCol="0">
            <a:spAutoFit/>
          </a:bodyPr>
          <a:lstStyle/>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 'any' type allows you to opt-out of type checking for a variable. It can hold any value, and you can perform any operation on it without TypeScript raising an error.</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 'unknown' type is similar to 'any' in that it can hold any value, but it is safer because you cannot perform operations on it without first checking its type.</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Working with arrays - let</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arrName</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dataType</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Tuple, </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 tuple is a typed array with a pre-defined length and types for each index. Tuples are great because they allow each element in the array to be a known type of value.</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Object - TypeScript has a specific syntax for typing objects.</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Guard</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 </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Guard </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in TypeScript is a technique used to </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check the type of a variable at runtime </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so that TypeScript can safely narrow the variable's type within a specific block of code.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E7FD553F-2E68-3343-093A-607A73FC536F}"/>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3838F351-4C67-8467-D2B1-8C2BEFCC57E1}"/>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72DC512A-1222-19CE-39EA-D0C2D8C687A6}"/>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54845FDA-EFB2-65B1-04BD-46A223D7B6A8}"/>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298453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3482-03CC-0AD9-5458-285B49E53E4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F63B317-0AF9-F0D5-D83F-D5CCD77BD0DA}"/>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Type Annotations and Inference</a:t>
            </a:r>
          </a:p>
          <a:p>
            <a:pPr marL="0" marR="0" lvl="0" indent="0" algn="l" defTabSz="914126" rtl="0" eaLnBrk="1" fontAlgn="auto" latinLnBrk="0" hangingPunct="1">
              <a:lnSpc>
                <a:spcPct val="90000"/>
              </a:lnSpc>
              <a:spcBef>
                <a:spcPct val="0"/>
              </a:spcBef>
              <a:spcAft>
                <a:spcPts val="0"/>
              </a:spcAft>
              <a:buClrTx/>
              <a:buSzTx/>
              <a:buFont typeface="Arial"/>
              <a:buNone/>
              <a:tabLst/>
              <a:defRPr/>
            </a:pP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ECC3AD2D-3DB3-9393-A882-8634EC90587C}"/>
              </a:ext>
            </a:extLst>
          </p:cNvPr>
          <p:cNvSpPr txBox="1"/>
          <p:nvPr/>
        </p:nvSpPr>
        <p:spPr>
          <a:xfrm>
            <a:off x="142630" y="655071"/>
            <a:ext cx="11483853" cy="5815384"/>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offers two ways to work with types: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Explicit Typing</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You explicitly declare the type of a variable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Inference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TypeScript automatically determines the type based on the assigned value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When to Use Each Approach</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Use </a:t>
            </a: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explicit types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for:</a:t>
            </a:r>
          </a:p>
          <a:p>
            <a:pPr marL="457063" marR="0" lvl="1"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Function parameters and return types</a:t>
            </a:r>
          </a:p>
          <a:p>
            <a:pPr marL="457063" marR="0" lvl="1"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Object literals</a:t>
            </a:r>
          </a:p>
          <a:p>
            <a:pPr marL="457063" marR="0" lvl="1"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When the initial value might not be the final type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Use </a:t>
            </a: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inference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for:</a:t>
            </a:r>
          </a:p>
          <a:p>
            <a:pPr marL="457063" marR="0" lvl="1"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Simple variable declarations with immediate assignment</a:t>
            </a:r>
          </a:p>
          <a:p>
            <a:pPr marL="457063" marR="0" lvl="1"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When the type is obvious from the context</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String</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greeting: string = "Hello, TypeScript!";</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Number</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userCount</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number = 42;</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Boolean</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isLoading</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US" sz="1400"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boolean</a:t>
            </a: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true;</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Array of numbers</a:t>
            </a:r>
            <a:b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scores: number[] = [100, 95, 98];</a:t>
            </a:r>
          </a:p>
        </p:txBody>
      </p:sp>
      <p:sp>
        <p:nvSpPr>
          <p:cNvPr id="4" name="TextBox 3">
            <a:extLst>
              <a:ext uri="{FF2B5EF4-FFF2-40B4-BE49-F238E27FC236}">
                <a16:creationId xmlns:a16="http://schemas.microsoft.com/office/drawing/2014/main" id="{40550172-C8FC-E014-6A77-35031BFEC2B6}"/>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F5A34E66-E449-02B7-36A7-30A06BF2A5A2}"/>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E5567AF1-F694-2A5A-D968-591789833BB0}"/>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50754381-0491-3243-83A1-04ED30D37FAE}"/>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
        <p:nvSpPr>
          <p:cNvPr id="9" name="TextBox 8">
            <a:extLst>
              <a:ext uri="{FF2B5EF4-FFF2-40B4-BE49-F238E27FC236}">
                <a16:creationId xmlns:a16="http://schemas.microsoft.com/office/drawing/2014/main" id="{8E5CA562-8113-7900-B865-C181FE7E88FB}"/>
              </a:ext>
            </a:extLst>
          </p:cNvPr>
          <p:cNvSpPr txBox="1"/>
          <p:nvPr/>
        </p:nvSpPr>
        <p:spPr>
          <a:xfrm>
            <a:off x="5182182" y="4716586"/>
            <a:ext cx="6095434" cy="1753869"/>
          </a:xfrm>
          <a:prstGeom prst="rect">
            <a:avLst/>
          </a:prstGeom>
          <a:noFill/>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t>// Function with explicit parameter and return types</a:t>
            </a:r>
            <a:b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br>
            <a:r>
              <a:rPr kumimoji="0" lang="en-US" sz="1200" b="0" i="0" u="none" strike="noStrike" kern="1200" cap="none" spc="0" normalizeH="0" baseline="0" noProof="0" dirty="0">
                <a:ln>
                  <a:noFill/>
                </a:ln>
                <a:solidFill>
                  <a:srgbClr val="005CC5"/>
                </a:solidFill>
                <a:effectLst/>
                <a:uLnTx/>
                <a:uFillTx/>
                <a:latin typeface="Consolas" panose="020B0609020204030204" pitchFamily="49" charset="0"/>
                <a:ea typeface="+mn-ea"/>
                <a:cs typeface="Arial"/>
                <a:sym typeface="Arial"/>
              </a:rPr>
              <a:t>function</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 greet(name: string): string {</a:t>
            </a:r>
            <a:b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200" b="0" i="0" u="none" strike="noStrike" kern="1200" cap="none" spc="0" normalizeH="0" baseline="0" noProof="0" dirty="0">
                <a:ln>
                  <a:noFill/>
                </a:ln>
                <a:solidFill>
                  <a:srgbClr val="005CC5"/>
                </a:solidFill>
                <a:effectLst/>
                <a:uLnTx/>
                <a:uFillTx/>
                <a:latin typeface="Consolas" panose="020B0609020204030204" pitchFamily="49" charset="0"/>
                <a:ea typeface="+mn-ea"/>
                <a:cs typeface="Arial"/>
                <a:sym typeface="Arial"/>
              </a:rPr>
              <a:t>return</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 </a:t>
            </a:r>
            <a:r>
              <a:rPr kumimoji="0" lang="en-US" sz="1200" b="0" i="0" u="none" strike="noStrike" kern="1200" cap="none" spc="0" normalizeH="0" baseline="0" noProof="0" dirty="0">
                <a:ln>
                  <a:noFill/>
                </a:ln>
                <a:solidFill>
                  <a:srgbClr val="FF5500"/>
                </a:solidFill>
                <a:effectLst/>
                <a:uLnTx/>
                <a:uFillTx/>
                <a:latin typeface="Consolas" panose="020B0609020204030204" pitchFamily="49" charset="0"/>
                <a:ea typeface="+mn-ea"/>
                <a:cs typeface="Arial"/>
                <a:sym typeface="Arial"/>
              </a:rPr>
              <a:t>`Hello, ${name}!`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a:t>
            </a:r>
            <a:b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a:t>
            </a:r>
            <a:b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b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br>
            <a: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t>// TypeScript will ensure you pass the correct argument type</a:t>
            </a:r>
            <a:b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b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greet(</a:t>
            </a:r>
            <a:r>
              <a:rPr kumimoji="0" lang="en-US" sz="1200" b="0" i="0" u="none" strike="noStrike" kern="1200" cap="none" spc="0" normalizeH="0" baseline="0" noProof="0" dirty="0">
                <a:ln>
                  <a:noFill/>
                </a:ln>
                <a:solidFill>
                  <a:srgbClr val="008000"/>
                </a:solidFill>
                <a:effectLst/>
                <a:uLnTx/>
                <a:uFillTx/>
                <a:latin typeface="Consolas" panose="020B0609020204030204" pitchFamily="49" charset="0"/>
                <a:ea typeface="+mn-ea"/>
                <a:cs typeface="Arial"/>
                <a:sym typeface="Arial"/>
              </a:rPr>
              <a:t>"Alice"</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 </a:t>
            </a:r>
            <a: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t>// OK</a:t>
            </a:r>
            <a:b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b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greet(</a:t>
            </a:r>
            <a:r>
              <a:rPr kumimoji="0" lang="en-US" sz="1200" b="0" i="0" u="none" strike="noStrike" kern="1200" cap="none" spc="0" normalizeH="0" baseline="0" noProof="0" dirty="0">
                <a:ln>
                  <a:noFill/>
                </a:ln>
                <a:solidFill>
                  <a:srgbClr val="990055"/>
                </a:solidFill>
                <a:effectLst/>
                <a:uLnTx/>
                <a:uFillTx/>
                <a:latin typeface="Consolas" panose="020B0609020204030204" pitchFamily="49" charset="0"/>
                <a:ea typeface="+mn-ea"/>
                <a:cs typeface="Arial"/>
                <a:sym typeface="Arial"/>
              </a:rPr>
              <a:t>42</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a:sym typeface="Arial"/>
              </a:rPr>
              <a:t>);     </a:t>
            </a:r>
            <a:r>
              <a:rPr kumimoji="0" lang="en-US" sz="1200" b="0" i="0" u="none" strike="noStrike" kern="1200" cap="none" spc="0" normalizeH="0" baseline="0" noProof="0" dirty="0">
                <a:ln>
                  <a:noFill/>
                </a:ln>
                <a:solidFill>
                  <a:srgbClr val="708090"/>
                </a:solidFill>
                <a:effectLst/>
                <a:uLnTx/>
                <a:uFillTx/>
                <a:latin typeface="Consolas" panose="020B0609020204030204" pitchFamily="49" charset="0"/>
                <a:ea typeface="+mn-ea"/>
                <a:cs typeface="Arial"/>
                <a:sym typeface="Arial"/>
              </a:rPr>
              <a:t>// Error: Argument of type '42' is not assignable to parameter of type 'string'</a:t>
            </a:r>
            <a:endParaRPr kumimoji="0" lang="en-IN" sz="12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379879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0" end="10"/>
                                            </p:txEl>
                                          </p:spTgt>
                                        </p:tgtEl>
                                        <p:attrNameLst>
                                          <p:attrName>style.visibility</p:attrName>
                                        </p:attrNameLst>
                                      </p:cBhvr>
                                      <p:to>
                                        <p:strVal val="visible"/>
                                      </p:to>
                                    </p:set>
                                    <p:animEffect transition="in" filter="fade">
                                      <p:cBhvr>
                                        <p:cTn id="54" dur="1000"/>
                                        <p:tgtEl>
                                          <p:spTgt spid="3">
                                            <p:txEl>
                                              <p:pRg st="10" end="10"/>
                                            </p:txEl>
                                          </p:spTgt>
                                        </p:tgtEl>
                                      </p:cBhvr>
                                    </p:animEffect>
                                    <p:anim calcmode="lin" valueType="num">
                                      <p:cBhvr>
                                        <p:cTn id="5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animEffect transition="in" filter="fade">
                                      <p:cBhvr>
                                        <p:cTn id="59" dur="1000"/>
                                        <p:tgtEl>
                                          <p:spTgt spid="3">
                                            <p:txEl>
                                              <p:pRg st="11" end="11"/>
                                            </p:txEl>
                                          </p:spTgt>
                                        </p:tgtEl>
                                      </p:cBhvr>
                                    </p:animEffect>
                                    <p:anim calcmode="lin" valueType="num">
                                      <p:cBhvr>
                                        <p:cTn id="6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3">
                                            <p:txEl>
                                              <p:pRg st="12" end="12"/>
                                            </p:txEl>
                                          </p:spTgt>
                                        </p:tgtEl>
                                        <p:attrNameLst>
                                          <p:attrName>style.visibility</p:attrName>
                                        </p:attrNameLst>
                                      </p:cBhvr>
                                      <p:to>
                                        <p:strVal val="visible"/>
                                      </p:to>
                                    </p:set>
                                    <p:animEffect transition="in" filter="fade">
                                      <p:cBhvr>
                                        <p:cTn id="66" dur="1000"/>
                                        <p:tgtEl>
                                          <p:spTgt spid="3">
                                            <p:txEl>
                                              <p:pRg st="12" end="12"/>
                                            </p:txEl>
                                          </p:spTgt>
                                        </p:tgtEl>
                                      </p:cBhvr>
                                    </p:animEffect>
                                    <p:anim calcmode="lin" valueType="num">
                                      <p:cBhvr>
                                        <p:cTn id="6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fade">
                                      <p:cBhvr>
                                        <p:cTn id="73" dur="1000"/>
                                        <p:tgtEl>
                                          <p:spTgt spid="9"/>
                                        </p:tgtEl>
                                      </p:cBhvr>
                                    </p:animEffect>
                                    <p:anim calcmode="lin" valueType="num">
                                      <p:cBhvr>
                                        <p:cTn id="74" dur="1000" fill="hold"/>
                                        <p:tgtEl>
                                          <p:spTgt spid="9"/>
                                        </p:tgtEl>
                                        <p:attrNameLst>
                                          <p:attrName>ppt_x</p:attrName>
                                        </p:attrNameLst>
                                      </p:cBhvr>
                                      <p:tavLst>
                                        <p:tav tm="0">
                                          <p:val>
                                            <p:strVal val="#ppt_x"/>
                                          </p:val>
                                        </p:tav>
                                        <p:tav tm="100000">
                                          <p:val>
                                            <p:strVal val="#ppt_x"/>
                                          </p:val>
                                        </p:tav>
                                      </p:tavLst>
                                    </p:anim>
                                    <p:anim calcmode="lin" valueType="num">
                                      <p:cBhvr>
                                        <p:cTn id="7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F324-E191-0FC6-270F-965A95AAEE4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60D839F-4A8C-8A28-A48F-C595C9D342B6}"/>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Type Guard</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FCA04FE5-85CB-C94A-ACE1-281515ABB900}"/>
              </a:ext>
            </a:extLst>
          </p:cNvPr>
          <p:cNvSpPr txBox="1"/>
          <p:nvPr/>
        </p:nvSpPr>
        <p:spPr>
          <a:xfrm>
            <a:off x="142630" y="655071"/>
            <a:ext cx="11483853" cy="2338021"/>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 </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Guard </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in TypeScript is a technique used to </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check the type of a variable at runtime </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so that TypeScript can safely narrow the variable's type within a specific block of code.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A4E084BC-193E-6BB2-AD06-E9AB077CB992}"/>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1A5E4B26-7AB5-CE11-C06A-F43A4BEAA432}"/>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9C5CFB5F-40AE-F979-C149-46D60BF3AE1E}"/>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6698E95-17D8-EA85-0023-8A9888F953F4}"/>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2AB83868-E03C-0C93-D382-FBA06CCDB46C}"/>
              </a:ext>
            </a:extLst>
          </p:cNvPr>
          <p:cNvPicPr>
            <a:picLocks noChangeAspect="1"/>
          </p:cNvPicPr>
          <p:nvPr/>
        </p:nvPicPr>
        <p:blipFill>
          <a:blip r:embed="rId3"/>
          <a:stretch>
            <a:fillRect/>
          </a:stretch>
        </p:blipFill>
        <p:spPr>
          <a:xfrm>
            <a:off x="837623" y="1328111"/>
            <a:ext cx="3787524" cy="2522647"/>
          </a:xfrm>
          <a:prstGeom prst="rect">
            <a:avLst/>
          </a:prstGeom>
        </p:spPr>
      </p:pic>
      <p:pic>
        <p:nvPicPr>
          <p:cNvPr id="10" name="Picture 9">
            <a:extLst>
              <a:ext uri="{FF2B5EF4-FFF2-40B4-BE49-F238E27FC236}">
                <a16:creationId xmlns:a16="http://schemas.microsoft.com/office/drawing/2014/main" id="{ED91BB59-7AF6-76BE-C3C8-870BD23A5476}"/>
              </a:ext>
            </a:extLst>
          </p:cNvPr>
          <p:cNvPicPr>
            <a:picLocks noChangeAspect="1"/>
          </p:cNvPicPr>
          <p:nvPr/>
        </p:nvPicPr>
        <p:blipFill>
          <a:blip r:embed="rId4"/>
          <a:stretch>
            <a:fillRect/>
          </a:stretch>
        </p:blipFill>
        <p:spPr>
          <a:xfrm>
            <a:off x="5355373" y="1328111"/>
            <a:ext cx="5058968" cy="5313116"/>
          </a:xfrm>
          <a:prstGeom prst="rect">
            <a:avLst/>
          </a:prstGeom>
        </p:spPr>
      </p:pic>
      <p:pic>
        <p:nvPicPr>
          <p:cNvPr id="12" name="Picture 11">
            <a:extLst>
              <a:ext uri="{FF2B5EF4-FFF2-40B4-BE49-F238E27FC236}">
                <a16:creationId xmlns:a16="http://schemas.microsoft.com/office/drawing/2014/main" id="{7200AC5F-1501-5DA6-8A71-B20C826B291A}"/>
              </a:ext>
            </a:extLst>
          </p:cNvPr>
          <p:cNvPicPr>
            <a:picLocks noChangeAspect="1"/>
          </p:cNvPicPr>
          <p:nvPr/>
        </p:nvPicPr>
        <p:blipFill>
          <a:blip r:embed="rId5"/>
          <a:stretch>
            <a:fillRect/>
          </a:stretch>
        </p:blipFill>
        <p:spPr>
          <a:xfrm>
            <a:off x="836038" y="3901964"/>
            <a:ext cx="3789109" cy="2754391"/>
          </a:xfrm>
          <a:prstGeom prst="rect">
            <a:avLst/>
          </a:prstGeom>
        </p:spPr>
      </p:pic>
    </p:spTree>
    <p:extLst>
      <p:ext uri="{BB962C8B-B14F-4D97-AF65-F5344CB8AC3E}">
        <p14:creationId xmlns:p14="http://schemas.microsoft.com/office/powerpoint/2010/main" val="278380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0F81-44B1-80D5-E0EB-3FD96C8DFC3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9DE3B7D-434D-16AF-87CF-BE021BAD9DB3}"/>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TypeScript Type Aliases and Interfaces</a:t>
            </a:r>
          </a:p>
        </p:txBody>
      </p:sp>
      <p:sp>
        <p:nvSpPr>
          <p:cNvPr id="3" name="TextBox 2">
            <a:extLst>
              <a:ext uri="{FF2B5EF4-FFF2-40B4-BE49-F238E27FC236}">
                <a16:creationId xmlns:a16="http://schemas.microsoft.com/office/drawing/2014/main" id="{47972995-9FAA-FB0C-EA39-324BC62639D0}"/>
              </a:ext>
            </a:extLst>
          </p:cNvPr>
          <p:cNvSpPr txBox="1"/>
          <p:nvPr/>
        </p:nvSpPr>
        <p:spPr>
          <a:xfrm>
            <a:off x="142630" y="655071"/>
            <a:ext cx="11483853" cy="4276116"/>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Extending:</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Both can be extended, but interfaces support declaration merging.</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Unions/Intersections: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Only type aliases support union and intersection types.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Implements: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Classes can implement either.</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Recommendation: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Use interface for objects, type for everything else.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Best Practices:</a:t>
            </a: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Use interface for defining object shapes and public APIs.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Use type for unions, intersections, and primitives.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Favor composition over inheritance for types.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Document your types and interfaces for clarity.</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Common Pitfalls:</a:t>
            </a: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Using type when you need declaration merging (use interface).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Overcomplicating types-keep them simple and focused.</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Forgetting to update types/interfaces as code evolves.</a:t>
            </a:r>
          </a:p>
        </p:txBody>
      </p:sp>
      <p:sp>
        <p:nvSpPr>
          <p:cNvPr id="4" name="TextBox 3">
            <a:extLst>
              <a:ext uri="{FF2B5EF4-FFF2-40B4-BE49-F238E27FC236}">
                <a16:creationId xmlns:a16="http://schemas.microsoft.com/office/drawing/2014/main" id="{19501F94-EF83-CAA0-D953-6A5D8C8A12AA}"/>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8AD7142A-E97A-1A71-4A82-CD69E0238C41}"/>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5C3249FD-A198-9F37-BF6A-BF6B0054802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E2A8E718-DA37-F45D-F908-7DEB7754008B}"/>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201196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1000"/>
                                        <p:tgtEl>
                                          <p:spTgt spid="3">
                                            <p:txEl>
                                              <p:pRg st="12" end="12"/>
                                            </p:txEl>
                                          </p:spTgt>
                                        </p:tgtEl>
                                      </p:cBhvr>
                                    </p:animEffect>
                                    <p:anim calcmode="lin" valueType="num">
                                      <p:cBhvr>
                                        <p:cTn id="6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
                                            <p:txEl>
                                              <p:pRg st="13" end="13"/>
                                            </p:txEl>
                                          </p:spTgt>
                                        </p:tgtEl>
                                        <p:attrNameLst>
                                          <p:attrName>style.visibility</p:attrName>
                                        </p:attrNameLst>
                                      </p:cBhvr>
                                      <p:to>
                                        <p:strVal val="visible"/>
                                      </p:to>
                                    </p:set>
                                    <p:animEffect transition="in" filter="fade">
                                      <p:cBhvr>
                                        <p:cTn id="66" dur="1000"/>
                                        <p:tgtEl>
                                          <p:spTgt spid="3">
                                            <p:txEl>
                                              <p:pRg st="13" end="13"/>
                                            </p:txEl>
                                          </p:spTgt>
                                        </p:tgtEl>
                                      </p:cBhvr>
                                    </p:animEffect>
                                    <p:anim calcmode="lin" valueType="num">
                                      <p:cBhvr>
                                        <p:cTn id="6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
                                            <p:txEl>
                                              <p:pRg st="14" end="14"/>
                                            </p:txEl>
                                          </p:spTgt>
                                        </p:tgtEl>
                                        <p:attrNameLst>
                                          <p:attrName>style.visibility</p:attrName>
                                        </p:attrNameLst>
                                      </p:cBhvr>
                                      <p:to>
                                        <p:strVal val="visible"/>
                                      </p:to>
                                    </p:set>
                                    <p:animEffect transition="in" filter="fade">
                                      <p:cBhvr>
                                        <p:cTn id="71" dur="1000"/>
                                        <p:tgtEl>
                                          <p:spTgt spid="3">
                                            <p:txEl>
                                              <p:pRg st="14" end="14"/>
                                            </p:txEl>
                                          </p:spTgt>
                                        </p:tgtEl>
                                      </p:cBhvr>
                                    </p:animEffect>
                                    <p:anim calcmode="lin" valueType="num">
                                      <p:cBhvr>
                                        <p:cTn id="7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508F-295E-3DC4-A064-3E284A081E8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2210074-1A05-FAF6-B3D4-9F4FE1A1DD0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TypeScript Definitely Typed</a:t>
            </a:r>
          </a:p>
          <a:p>
            <a:pPr marL="0" marR="0" lvl="0" indent="0" algn="l" defTabSz="914126" rtl="0" eaLnBrk="1" fontAlgn="auto" latinLnBrk="0" hangingPunct="1">
              <a:lnSpc>
                <a:spcPct val="90000"/>
              </a:lnSpc>
              <a:spcBef>
                <a:spcPct val="0"/>
              </a:spcBef>
              <a:spcAft>
                <a:spcPts val="0"/>
              </a:spcAft>
              <a:buClrTx/>
              <a:buSzTx/>
              <a:buFont typeface="Arial"/>
              <a:buNone/>
              <a:tabLst/>
              <a:defRPr/>
            </a:pP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6DEE9A0-C1F1-F751-FA84-80BBD7FB698D}"/>
              </a:ext>
            </a:extLst>
          </p:cNvPr>
          <p:cNvSpPr txBox="1"/>
          <p:nvPr/>
        </p:nvSpPr>
        <p:spPr>
          <a:xfrm>
            <a:off x="142630" y="655071"/>
            <a:ext cx="11483853" cy="5938518"/>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NPM packages in the broad JavaScript ecosystem don't always have types available.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Sometimes the projects are no longer maintained, and other times they aren't interested in, agree with, or have time to use TypeScript.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Using untyped NPM packages with TypeScript is not type-safe because types are missing.</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To help TypeScript developers use such packages, there is a community-maintained project called </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hlinkClick r:id="rId2"/>
              </a:rPr>
              <a:t>Definitely Typed</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hlinkClick r:id="rId3"/>
              </a:rPr>
              <a:t>https://www.npmjs.com/package/@openui5/types</a:t>
            </a: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This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npm</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package contains the TypeScript type definitions based on ES modules for all the OpenUI5 libraries. </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These definitions can be used to:</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Enable advanced content assist in IDEs,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e.g</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VSCode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 IntelliJ /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Webstorm</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for OpenUI5.</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Integrate type checking for OpenUI5 applications using the TypeScript compiler.</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These capabilities are available not only for OpenUI5 apps written in TypeScript, but to some degree also </a:t>
            </a: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hlinkClick r:id="rId4"/>
              </a:rPr>
              <a:t>in JavaScript</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NOTE: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US" sz="1799" b="0" i="1" u="none" strike="noStrike" kern="1200" cap="none" spc="0" normalizeH="0" baseline="0" noProof="0" dirty="0">
                <a:ln>
                  <a:noFill/>
                </a:ln>
                <a:solidFill>
                  <a:prstClr val="black"/>
                </a:solidFill>
                <a:effectLst/>
                <a:uLnTx/>
                <a:uFillTx/>
                <a:latin typeface="Aptos" panose="02110004020202020204"/>
                <a:ea typeface="+mn-ea"/>
                <a:cs typeface="Arial"/>
                <a:sym typeface="Arial"/>
              </a:rPr>
              <a:t>based on ES modules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means that the application code needs to load UI5 modules using the ES6 modules syntax and needs to be transformed to standard UI5 require/define syntax before it is executed. This is the recommended approach!</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0A5EA6C8-606C-0E76-B733-C2A8153DF18E}"/>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04F10913-E4BE-BEA7-1A55-ABE6FAE44B10}"/>
              </a:ext>
            </a:extLst>
          </p:cNvPr>
          <p:cNvPicPr>
            <a:picLocks noChangeAspect="1"/>
          </p:cNvPicPr>
          <p:nvPr/>
        </p:nvPicPr>
        <p:blipFill>
          <a:blip r:embed="rId5"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DE2B4D7D-2761-BB65-0D88-03269DC36E10}"/>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166D60F4-C508-BDA5-7E86-74926F981BC4}"/>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54328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1000"/>
                                        <p:tgtEl>
                                          <p:spTgt spid="3">
                                            <p:txEl>
                                              <p:pRg st="7" end="7"/>
                                            </p:txEl>
                                          </p:spTgt>
                                        </p:tgtEl>
                                      </p:cBhvr>
                                    </p:animEffect>
                                    <p:anim calcmode="lin" valueType="num">
                                      <p:cBhvr>
                                        <p:cTn id="3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1000"/>
                                        <p:tgtEl>
                                          <p:spTgt spid="3">
                                            <p:txEl>
                                              <p:pRg st="10" end="10"/>
                                            </p:txEl>
                                          </p:spTgt>
                                        </p:tgtEl>
                                      </p:cBhvr>
                                    </p:animEffect>
                                    <p:anim calcmode="lin" valueType="num">
                                      <p:cBhvr>
                                        <p:cTn id="4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Effect transition="in" filter="fade">
                                      <p:cBhvr>
                                        <p:cTn id="49" dur="1000"/>
                                        <p:tgtEl>
                                          <p:spTgt spid="3">
                                            <p:txEl>
                                              <p:pRg st="11" end="11"/>
                                            </p:txEl>
                                          </p:spTgt>
                                        </p:tgtEl>
                                      </p:cBhvr>
                                    </p:animEffect>
                                    <p:anim calcmode="lin" valueType="num">
                                      <p:cBhvr>
                                        <p:cTn id="50"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
                                            <p:txEl>
                                              <p:pRg st="12" end="12"/>
                                            </p:txEl>
                                          </p:spTgt>
                                        </p:tgtEl>
                                        <p:attrNameLst>
                                          <p:attrName>style.visibility</p:attrName>
                                        </p:attrNameLst>
                                      </p:cBhvr>
                                      <p:to>
                                        <p:strVal val="visible"/>
                                      </p:to>
                                    </p:set>
                                    <p:animEffect transition="in" filter="fade">
                                      <p:cBhvr>
                                        <p:cTn id="54" dur="1000"/>
                                        <p:tgtEl>
                                          <p:spTgt spid="3">
                                            <p:txEl>
                                              <p:pRg st="12" end="12"/>
                                            </p:txEl>
                                          </p:spTgt>
                                        </p:tgtEl>
                                      </p:cBhvr>
                                    </p:animEffect>
                                    <p:anim calcmode="lin" valueType="num">
                                      <p:cBhvr>
                                        <p:cTn id="55"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3">
                                            <p:txEl>
                                              <p:pRg st="14" end="14"/>
                                            </p:txEl>
                                          </p:spTgt>
                                        </p:tgtEl>
                                        <p:attrNameLst>
                                          <p:attrName>style.visibility</p:attrName>
                                        </p:attrNameLst>
                                      </p:cBhvr>
                                      <p:to>
                                        <p:strVal val="visible"/>
                                      </p:to>
                                    </p:set>
                                    <p:animEffect transition="in" filter="fade">
                                      <p:cBhvr>
                                        <p:cTn id="61" dur="1000"/>
                                        <p:tgtEl>
                                          <p:spTgt spid="3">
                                            <p:txEl>
                                              <p:pRg st="14" end="14"/>
                                            </p:txEl>
                                          </p:spTgt>
                                        </p:tgtEl>
                                      </p:cBhvr>
                                    </p:animEffect>
                                    <p:anim calcmode="lin" valueType="num">
                                      <p:cBhvr>
                                        <p:cTn id="6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DEAC-5215-EAA1-8A20-C3F96F4BA84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5442564-B480-63C8-7356-9951A340C076}"/>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TypeScript Configuration – </a:t>
            </a:r>
            <a:r>
              <a:rPr kumimoji="0" lang="en-US" sz="3199" b="0" i="0" u="none" strike="noStrike" kern="1200" cap="none" spc="0" normalizeH="0" baseline="0" noProof="0" dirty="0" err="1">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tsconfig.json</a:t>
            </a:r>
            <a:endPar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a:p>
            <a:pPr marL="0" marR="0" lvl="0" indent="0" algn="l" defTabSz="914126" rtl="0" eaLnBrk="1" fontAlgn="auto" latinLnBrk="0" hangingPunct="1">
              <a:lnSpc>
                <a:spcPct val="90000"/>
              </a:lnSpc>
              <a:spcBef>
                <a:spcPct val="0"/>
              </a:spcBef>
              <a:spcAft>
                <a:spcPts val="0"/>
              </a:spcAft>
              <a:buClrTx/>
              <a:buSzTx/>
              <a:buFont typeface="Arial"/>
              <a:buNone/>
              <a:tabLst/>
              <a:defRPr/>
            </a:pP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A89DD576-62AB-4147-025C-C8CA963C788D}"/>
              </a:ext>
            </a:extLst>
          </p:cNvPr>
          <p:cNvSpPr txBox="1"/>
          <p:nvPr/>
        </p:nvSpPr>
        <p:spPr>
          <a:xfrm>
            <a:off x="142630" y="655071"/>
            <a:ext cx="11483853" cy="3723104"/>
          </a:xfrm>
          <a:prstGeom prst="rect">
            <a:avLst/>
          </a:prstGeom>
          <a:noFill/>
        </p:spPr>
        <p:txBody>
          <a:bodyPr wrap="square" lIns="121867" tIns="60933" rIns="121867" bIns="60933" rtlCol="0">
            <a:spAutoFit/>
          </a:bodyPr>
          <a:lstStyle/>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The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tsconfig.json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file is the heart of every TypeScript project.</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It tells the TypeScript compiler how to process your code, which files to include, and which features to enable or disable.</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A well-configured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tsconfig.json</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ensures a smooth developer experience and reliable builds.</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compilerOptions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Controls how TypeScript compiles your code (e.g., target, module, strictness).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include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Files or folders to include in the compilation.</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exclude</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Files or folders to exclude.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files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Explicit list of files to include (rarely used with include).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extends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Inherit options from another config file.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references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Enable project references for </a:t>
            </a:r>
            <a:r>
              <a:rPr kumimoji="0" lang="en-US"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monorepos</a:t>
            </a: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or multi-package setups.</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Use command </a:t>
            </a:r>
            <a:r>
              <a:rPr kumimoji="0" lang="en-IN" sz="1799" b="1"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799" b="1"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init</a:t>
            </a:r>
            <a:r>
              <a:rPr kumimoji="0" lang="en-IN" sz="1799" b="1" i="0" u="none" strike="noStrike" kern="1200" cap="none" spc="0" normalizeH="0" baseline="0" noProof="0" dirty="0">
                <a:ln>
                  <a:noFill/>
                </a:ln>
                <a:solidFill>
                  <a:prstClr val="black"/>
                </a:solidFill>
                <a:effectLst/>
                <a:uLnTx/>
                <a:uFillTx/>
                <a:latin typeface="Aptos" panose="02110004020202020204"/>
                <a:ea typeface="+mn-ea"/>
                <a:cs typeface="Arial"/>
                <a:sym typeface="Arial"/>
              </a:rPr>
              <a:t> </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generate the </a:t>
            </a:r>
            <a:r>
              <a:rPr kumimoji="0" lang="en-IN" sz="1799" b="0" i="0" u="none" strike="noStrike" kern="1200" cap="none" spc="0" normalizeH="0" baseline="0" noProof="0" dirty="0" err="1">
                <a:ln>
                  <a:noFill/>
                </a:ln>
                <a:solidFill>
                  <a:prstClr val="black"/>
                </a:solidFill>
                <a:effectLst/>
                <a:uLnTx/>
                <a:uFillTx/>
                <a:latin typeface="Aptos" panose="02110004020202020204"/>
                <a:ea typeface="+mn-ea"/>
                <a:cs typeface="Arial"/>
                <a:sym typeface="Arial"/>
              </a:rPr>
              <a:t>tsconfig.json</a:t>
            </a: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 file</a:t>
            </a:r>
            <a:endParaRPr kumimoji="0" lang="en-US"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8BB5D258-38D7-CD40-A5A1-34E08462690F}"/>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47412777-C56F-37F1-CDF7-70A5C0E48F49}"/>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6C66A549-56DD-AD4D-ECB5-F49CA746255E}"/>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B1510434-9946-EBAD-BC57-0574D5FEA366}"/>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23447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1000"/>
                                        <p:tgtEl>
                                          <p:spTgt spid="3">
                                            <p:txEl>
                                              <p:pRg st="11" end="11"/>
                                            </p:txEl>
                                          </p:spTgt>
                                        </p:tgtEl>
                                      </p:cBhvr>
                                    </p:animEffect>
                                    <p:anim calcmode="lin" valueType="num">
                                      <p:cBhvr>
                                        <p:cTn id="5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E40C5-B7F0-2F8F-98AD-37195EF959C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C087EDC-D62A-866D-037C-620E771D78A0}"/>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Why Use TypeScript with Node.js?</a:t>
            </a:r>
          </a:p>
          <a:p>
            <a:pPr marL="0" marR="0" lvl="0" indent="0" algn="l" defTabSz="914126" rtl="0" eaLnBrk="1" fontAlgn="auto" latinLnBrk="0" hangingPunct="1">
              <a:lnSpc>
                <a:spcPct val="90000"/>
              </a:lnSpc>
              <a:spcBef>
                <a:spcPct val="0"/>
              </a:spcBef>
              <a:spcAft>
                <a:spcPts val="0"/>
              </a:spcAft>
              <a:buClrTx/>
              <a:buSzTx/>
              <a:buFont typeface="Arial"/>
              <a:buNone/>
              <a:tabLst/>
              <a:defRPr/>
            </a:pP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AD3E04FC-AAF3-AAC9-8860-390477212A26}"/>
              </a:ext>
            </a:extLst>
          </p:cNvPr>
          <p:cNvSpPr txBox="1"/>
          <p:nvPr/>
        </p:nvSpPr>
        <p:spPr>
          <a:xfrm>
            <a:off x="142630" y="655071"/>
            <a:ext cx="11483853" cy="4246188"/>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TypeScript brings static typing to Node.js development, providing better tooling, improved code quality, and enhanced developer experience.</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Key benefits include:</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Type safety for JavaScript code</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Better IDE support with autocompletion</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Early error detection during development</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Improved code maintainability and documentation</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Easier refactoring</a:t>
            </a:r>
          </a:p>
          <a:p>
            <a:pPr marL="285664" marR="0" lvl="0" indent="-285664"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mkdir</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my-</a:t>
            </a: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ts</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-node-app</a:t>
            </a:r>
            <a:b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b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cd my-</a:t>
            </a: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ts</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-node-app</a:t>
            </a:r>
            <a:b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b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npm</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a:t>
            </a: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init</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-y</a:t>
            </a:r>
            <a:b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b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npm</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install typescript @types/node --save-dev</a:t>
            </a:r>
            <a:b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b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npx</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a:t>
            </a: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tsc</a:t>
            </a:r>
            <a:r>
              <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 –</a:t>
            </a:r>
            <a:r>
              <a:rPr kumimoji="0" lang="en-IN" sz="1400" b="0" i="0" u="none" strike="noStrike" kern="1200" cap="none" spc="0" normalizeH="0" baseline="0" noProof="0" dirty="0" err="1">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rPr>
              <a:t>init</a:t>
            </a:r>
            <a:endParaRPr kumimoji="0" lang="en-IN" sz="14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sym typeface="Arial"/>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8C2205E2-4842-2F5B-2AB6-A7577ABDDD09}"/>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F9D7F6E5-9726-86A4-131E-E9DDA9650FB7}"/>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24B8872D-FD14-FC67-423B-B1282B22F602}"/>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BE7A0ED9-BBA4-B0D4-0C6D-D55C245C4DCA}"/>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70068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1000"/>
                                        <p:tgtEl>
                                          <p:spTgt spid="3">
                                            <p:txEl>
                                              <p:pRg st="9" end="9"/>
                                            </p:txEl>
                                          </p:spTgt>
                                        </p:tgtEl>
                                      </p:cBhvr>
                                    </p:animEffect>
                                    <p:anim calcmode="lin" valueType="num">
                                      <p:cBhvr>
                                        <p:cTn id="4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B0702-1181-ED7A-4F5A-61CE49492D6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96E1733-6EDA-5A65-BC4D-CA7F600990D2}"/>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Decorators and Metadata reflection</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832865A0-2AEB-B623-2E72-0DD6FCBFFBE4}"/>
              </a:ext>
            </a:extLst>
          </p:cNvPr>
          <p:cNvSpPr txBox="1"/>
          <p:nvPr/>
        </p:nvSpPr>
        <p:spPr>
          <a:xfrm>
            <a:off x="142630" y="655071"/>
            <a:ext cx="11483853" cy="1784921"/>
          </a:xfrm>
          <a:prstGeom prst="rect">
            <a:avLst/>
          </a:prstGeom>
          <a:noFill/>
        </p:spPr>
        <p:txBody>
          <a:bodyPr wrap="square" lIns="121867" tIns="60933" rIns="121867" bIns="60933"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0000"/>
                </a:solidFill>
                <a:effectLst/>
                <a:uLnTx/>
                <a:uFillTx/>
                <a:latin typeface="Arial"/>
                <a:cs typeface="Arial"/>
                <a:sym typeface="Arial"/>
              </a:rPr>
              <a:t>Decorators</a:t>
            </a:r>
            <a:r>
              <a:rPr kumimoji="0" lang="en-IN" sz="1800" b="0" i="0" u="none" strike="noStrike" kern="0" cap="none" spc="0" normalizeH="0" baseline="0" noProof="0" dirty="0">
                <a:ln>
                  <a:noFill/>
                </a:ln>
                <a:solidFill>
                  <a:srgbClr val="000000"/>
                </a:solidFill>
                <a:effectLst/>
                <a:uLnTx/>
                <a:uFillTx/>
                <a:latin typeface="Arial"/>
                <a:cs typeface="Arial"/>
                <a:sym typeface="Arial"/>
              </a:rPr>
              <a:t> are special functions prefixed with </a:t>
            </a:r>
            <a:r>
              <a:rPr kumimoji="0" lang="en-IN" sz="1400" b="0" i="0" u="none" strike="noStrike" kern="0" cap="none" spc="0" normalizeH="0" baseline="0" noProof="0" dirty="0">
                <a:ln>
                  <a:noFill/>
                </a:ln>
                <a:solidFill>
                  <a:srgbClr val="000000"/>
                </a:solidFill>
                <a:effectLst/>
                <a:uLnTx/>
                <a:uFillTx/>
                <a:latin typeface="Arial"/>
                <a:cs typeface="Arial"/>
                <a:sym typeface="Arial"/>
              </a:rPr>
              <a:t>@</a:t>
            </a:r>
            <a:r>
              <a:rPr kumimoji="0" lang="en-IN" sz="1800" b="0" i="0" u="none" strike="noStrike" kern="0" cap="none" spc="0" normalizeH="0" baseline="0" noProof="0" dirty="0">
                <a:ln>
                  <a:noFill/>
                </a:ln>
                <a:solidFill>
                  <a:srgbClr val="000000"/>
                </a:solidFill>
                <a:effectLst/>
                <a:uLnTx/>
                <a:uFillTx/>
                <a:latin typeface="Arial"/>
                <a:cs typeface="Arial"/>
                <a:sym typeface="Arial"/>
              </a:rPr>
              <a:t> that attach to classes, methods, properties, or parameters and add behavior without modifying the original code — similar to Java Annotations or Python Decorators.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1" i="0" u="none" strike="noStrike" kern="0" cap="none" spc="0" normalizeH="0" baseline="0" noProof="0" dirty="0">
                <a:ln>
                  <a:noFill/>
                </a:ln>
                <a:solidFill>
                  <a:srgbClr val="000000"/>
                </a:solidFill>
                <a:effectLst/>
                <a:uLnTx/>
                <a:uFillTx/>
                <a:latin typeface="Arial"/>
                <a:cs typeface="Arial"/>
                <a:sym typeface="Arial"/>
              </a:rPr>
              <a:t>Metadata Reflection</a:t>
            </a:r>
            <a:r>
              <a:rPr kumimoji="0" lang="en-IN" sz="1800" b="0" i="0" u="none" strike="noStrike" kern="0" cap="none" spc="0" normalizeH="0" baseline="0" noProof="0" dirty="0">
                <a:ln>
                  <a:noFill/>
                </a:ln>
                <a:solidFill>
                  <a:srgbClr val="000000"/>
                </a:solidFill>
                <a:effectLst/>
                <a:uLnTx/>
                <a:uFillTx/>
                <a:latin typeface="Arial"/>
                <a:cs typeface="Arial"/>
                <a:sym typeface="Arial"/>
              </a:rPr>
              <a:t> (</a:t>
            </a:r>
            <a:r>
              <a:rPr kumimoji="0" lang="en-IN" sz="1400" b="0" i="0" u="none" strike="noStrike" kern="0" cap="none" spc="0" normalizeH="0" baseline="0" noProof="0" dirty="0">
                <a:ln>
                  <a:noFill/>
                </a:ln>
                <a:solidFill>
                  <a:srgbClr val="000000"/>
                </a:solidFill>
                <a:effectLst/>
                <a:uLnTx/>
                <a:uFillTx/>
                <a:latin typeface="Arial"/>
                <a:cs typeface="Arial"/>
                <a:sym typeface="Arial"/>
              </a:rPr>
              <a:t>reflect-metadata</a:t>
            </a:r>
            <a:r>
              <a:rPr kumimoji="0" lang="en-IN" sz="1800" b="0" i="0" u="none" strike="noStrike" kern="0" cap="none" spc="0" normalizeH="0" baseline="0" noProof="0" dirty="0">
                <a:ln>
                  <a:noFill/>
                </a:ln>
                <a:solidFill>
                  <a:srgbClr val="000000"/>
                </a:solidFill>
                <a:effectLst/>
                <a:uLnTx/>
                <a:uFillTx/>
                <a:latin typeface="Arial"/>
                <a:cs typeface="Arial"/>
                <a:sym typeface="Arial"/>
              </a:rPr>
              <a:t>) lets decorators read/write hidden metadata about classes at runtime — used heavily by frameworks like </a:t>
            </a:r>
            <a:r>
              <a:rPr kumimoji="0" lang="en-IN" sz="1800" b="0" i="0" u="none" strike="noStrike" kern="0" cap="none" spc="0" normalizeH="0" baseline="0" noProof="0" dirty="0" err="1">
                <a:ln>
                  <a:noFill/>
                </a:ln>
                <a:solidFill>
                  <a:srgbClr val="000000"/>
                </a:solidFill>
                <a:effectLst/>
                <a:uLnTx/>
                <a:uFillTx/>
                <a:latin typeface="Arial"/>
                <a:cs typeface="Arial"/>
                <a:sym typeface="Arial"/>
              </a:rPr>
              <a:t>NestJS</a:t>
            </a:r>
            <a:r>
              <a:rPr kumimoji="0" lang="en-IN" sz="1800" b="0" i="0" u="none" strike="noStrike" kern="0" cap="none" spc="0" normalizeH="0" baseline="0" noProof="0" dirty="0">
                <a:ln>
                  <a:noFill/>
                </a:ln>
                <a:solidFill>
                  <a:srgbClr val="000000"/>
                </a:solidFill>
                <a:effectLst/>
                <a:uLnTx/>
                <a:uFillTx/>
                <a:latin typeface="Arial"/>
                <a:cs typeface="Arial"/>
                <a:sym typeface="Arial"/>
              </a:rPr>
              <a:t>, </a:t>
            </a:r>
            <a:r>
              <a:rPr kumimoji="0" lang="en-IN" sz="1800" b="0" i="0" u="none" strike="noStrike" kern="0" cap="none" spc="0" normalizeH="0" baseline="0" noProof="0" dirty="0" err="1">
                <a:ln>
                  <a:noFill/>
                </a:ln>
                <a:solidFill>
                  <a:srgbClr val="000000"/>
                </a:solidFill>
                <a:effectLst/>
                <a:uLnTx/>
                <a:uFillTx/>
                <a:latin typeface="Arial"/>
                <a:cs typeface="Arial"/>
                <a:sym typeface="Arial"/>
              </a:rPr>
              <a:t>TypeORM</a:t>
            </a:r>
            <a:r>
              <a:rPr kumimoji="0" lang="en-IN" sz="1800" b="0" i="0" u="none" strike="noStrike" kern="0" cap="none" spc="0" normalizeH="0" baseline="0" noProof="0" dirty="0">
                <a:ln>
                  <a:noFill/>
                </a:ln>
                <a:solidFill>
                  <a:srgbClr val="000000"/>
                </a:solidFill>
                <a:effectLst/>
                <a:uLnTx/>
                <a:uFillTx/>
                <a:latin typeface="Arial"/>
                <a:cs typeface="Arial"/>
                <a:sym typeface="Arial"/>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79340446-C47C-368C-A5D5-DC6113DFF60D}"/>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83124F4-F45F-955D-2CB3-4DF470CC6EE5}"/>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84A4F28-26D6-984F-651A-BE13F35DB6D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3BE59D52-D349-DFA3-A09E-E94FFE6532F5}"/>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776C19F5-9770-2214-4519-4E4EF07FF417}"/>
              </a:ext>
            </a:extLst>
          </p:cNvPr>
          <p:cNvPicPr>
            <a:picLocks noChangeAspect="1"/>
          </p:cNvPicPr>
          <p:nvPr/>
        </p:nvPicPr>
        <p:blipFill>
          <a:blip r:embed="rId3"/>
          <a:stretch>
            <a:fillRect/>
          </a:stretch>
        </p:blipFill>
        <p:spPr>
          <a:xfrm>
            <a:off x="230069" y="2361084"/>
            <a:ext cx="6305743" cy="3284004"/>
          </a:xfrm>
          <a:prstGeom prst="rect">
            <a:avLst/>
          </a:prstGeom>
        </p:spPr>
      </p:pic>
    </p:spTree>
    <p:extLst>
      <p:ext uri="{BB962C8B-B14F-4D97-AF65-F5344CB8AC3E}">
        <p14:creationId xmlns:p14="http://schemas.microsoft.com/office/powerpoint/2010/main" val="85037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F22A-ED5F-19DB-C6E6-DB4A526F879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74E6F4E-1B26-9923-1CE7-E904005CC2E3}"/>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Utility types</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FEC8B4B3-B2C1-FA9E-C6AD-38583D421B6E}"/>
              </a:ext>
            </a:extLst>
          </p:cNvPr>
          <p:cNvSpPr txBox="1"/>
          <p:nvPr/>
        </p:nvSpPr>
        <p:spPr>
          <a:xfrm>
            <a:off x="142630" y="655071"/>
            <a:ext cx="11483853" cy="2338919"/>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800" b="0" i="0" u="none" strike="noStrike" kern="0" cap="none" spc="0" normalizeH="0" baseline="0" noProof="0" dirty="0">
                <a:ln>
                  <a:noFill/>
                </a:ln>
                <a:solidFill>
                  <a:srgbClr val="000000"/>
                </a:solidFill>
                <a:effectLst/>
                <a:uLnTx/>
                <a:uFillTx/>
                <a:latin typeface="Arial"/>
                <a:cs typeface="Arial"/>
                <a:sym typeface="Arial"/>
              </a:rPr>
              <a:t>Utility types are </a:t>
            </a:r>
            <a:r>
              <a:rPr kumimoji="0" lang="en-IN" sz="1800" b="1" i="0" u="none" strike="noStrike" kern="0" cap="none" spc="0" normalizeH="0" baseline="0" noProof="0" dirty="0">
                <a:ln>
                  <a:noFill/>
                </a:ln>
                <a:solidFill>
                  <a:srgbClr val="000000"/>
                </a:solidFill>
                <a:effectLst/>
                <a:uLnTx/>
                <a:uFillTx/>
                <a:latin typeface="Arial"/>
                <a:cs typeface="Arial"/>
                <a:sym typeface="Arial"/>
              </a:rPr>
              <a:t>built-in generic types</a:t>
            </a:r>
            <a:r>
              <a:rPr kumimoji="0" lang="en-IN" sz="1800" b="0" i="0" u="none" strike="noStrike" kern="0" cap="none" spc="0" normalizeH="0" baseline="0" noProof="0" dirty="0">
                <a:ln>
                  <a:noFill/>
                </a:ln>
                <a:solidFill>
                  <a:srgbClr val="000000"/>
                </a:solidFill>
                <a:effectLst/>
                <a:uLnTx/>
                <a:uFillTx/>
                <a:latin typeface="Arial"/>
                <a:cs typeface="Arial"/>
                <a:sym typeface="Arial"/>
              </a:rPr>
              <a:t> that transform existing types into new ones — no need to rewrite interfaces from scratch.</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800"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Arial"/>
                <a:cs typeface="Arial"/>
                <a:sym typeface="Arial"/>
              </a:rPr>
              <a:t>They're like type factories—you feed in a type, and out comes a new type with different properties.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800" b="0" i="0" u="none" strike="noStrike" kern="0" cap="none" spc="0" normalizeH="0" baseline="0" noProof="0" dirty="0">
                <a:ln>
                  <a:noFill/>
                </a:ln>
                <a:solidFill>
                  <a:srgbClr val="000000"/>
                </a:solidFill>
                <a:effectLst/>
                <a:uLnTx/>
                <a:uFillTx/>
                <a:latin typeface="Arial"/>
                <a:cs typeface="Arial"/>
                <a:sym typeface="Arial"/>
              </a:rPr>
              <a:t>Think of it like this: if you have a blueprint for a house, utility types let you create variations—a blueprint with fewer rooms, optional walls, </a:t>
            </a:r>
            <a:r>
              <a:rPr kumimoji="0" lang="en-IN" sz="1800" b="0" i="0" u="none" strike="noStrike" kern="0" cap="none" spc="0" normalizeH="0" baseline="0" noProof="0" dirty="0" err="1">
                <a:ln>
                  <a:noFill/>
                </a:ln>
                <a:solidFill>
                  <a:srgbClr val="000000"/>
                </a:solidFill>
                <a:effectLst/>
                <a:uLnTx/>
                <a:uFillTx/>
                <a:latin typeface="Arial"/>
                <a:cs typeface="Arial"/>
                <a:sym typeface="Arial"/>
              </a:rPr>
              <a:t>readonly</a:t>
            </a:r>
            <a:r>
              <a:rPr kumimoji="0" lang="en-IN" sz="1800" b="0" i="0" u="none" strike="noStrike" kern="0" cap="none" spc="0" normalizeH="0" baseline="0" noProof="0" dirty="0">
                <a:ln>
                  <a:noFill/>
                </a:ln>
                <a:solidFill>
                  <a:srgbClr val="000000"/>
                </a:solidFill>
                <a:effectLst/>
                <a:uLnTx/>
                <a:uFillTx/>
                <a:latin typeface="Arial"/>
                <a:cs typeface="Arial"/>
                <a:sym typeface="Arial"/>
              </a:rPr>
              <a:t> doors, etc.—without rewriting everything from scratch.</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B1FCC746-7E15-3804-B444-402B79CA2E02}"/>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B4C17AE5-47AE-7205-F5D5-D2609F3A13DD}"/>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99ED7B7-7102-3EC7-77D8-46C9C026B5C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DD59A12F-CE3C-9466-2D41-C78D2D9F0F2D}"/>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308783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CC22-9394-ACCF-5DC2-E4DA586A211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9A00D44-33DF-8A5B-79D8-646DDDCD3E48}"/>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Partial, Required, Pick</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3B07EAC5-5390-E172-20DD-A31D46621D9D}"/>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Text</a:t>
            </a:r>
          </a:p>
        </p:txBody>
      </p:sp>
      <p:sp>
        <p:nvSpPr>
          <p:cNvPr id="4" name="TextBox 3">
            <a:extLst>
              <a:ext uri="{FF2B5EF4-FFF2-40B4-BE49-F238E27FC236}">
                <a16:creationId xmlns:a16="http://schemas.microsoft.com/office/drawing/2014/main" id="{D6B3B871-260F-E430-BFBE-D3B54822222B}"/>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C5DDD0B-AFA8-4C3F-FFA2-08EE5D685BA6}"/>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17BFADA8-E1AD-F056-B711-75AA1E152E00}"/>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95E6A19C-43DA-D632-FB08-344FDAE1F355}"/>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22592F77-7AD8-9FFD-3956-F765331024F6}"/>
              </a:ext>
            </a:extLst>
          </p:cNvPr>
          <p:cNvPicPr>
            <a:picLocks noChangeAspect="1"/>
          </p:cNvPicPr>
          <p:nvPr/>
        </p:nvPicPr>
        <p:blipFill>
          <a:blip r:embed="rId3"/>
          <a:stretch>
            <a:fillRect/>
          </a:stretch>
        </p:blipFill>
        <p:spPr>
          <a:xfrm>
            <a:off x="230070" y="643048"/>
            <a:ext cx="3838250" cy="5967903"/>
          </a:xfrm>
          <a:prstGeom prst="rect">
            <a:avLst/>
          </a:prstGeom>
        </p:spPr>
      </p:pic>
      <p:pic>
        <p:nvPicPr>
          <p:cNvPr id="11" name="Picture 10">
            <a:extLst>
              <a:ext uri="{FF2B5EF4-FFF2-40B4-BE49-F238E27FC236}">
                <a16:creationId xmlns:a16="http://schemas.microsoft.com/office/drawing/2014/main" id="{CB164E33-B154-9DD5-E38E-BF830BF934A1}"/>
              </a:ext>
            </a:extLst>
          </p:cNvPr>
          <p:cNvPicPr>
            <a:picLocks noChangeAspect="1"/>
          </p:cNvPicPr>
          <p:nvPr/>
        </p:nvPicPr>
        <p:blipFill>
          <a:blip r:embed="rId4"/>
          <a:stretch>
            <a:fillRect/>
          </a:stretch>
        </p:blipFill>
        <p:spPr>
          <a:xfrm>
            <a:off x="4180131" y="632995"/>
            <a:ext cx="4465679" cy="5916417"/>
          </a:xfrm>
          <a:prstGeom prst="rect">
            <a:avLst/>
          </a:prstGeom>
        </p:spPr>
      </p:pic>
      <p:pic>
        <p:nvPicPr>
          <p:cNvPr id="13" name="Picture 12">
            <a:extLst>
              <a:ext uri="{FF2B5EF4-FFF2-40B4-BE49-F238E27FC236}">
                <a16:creationId xmlns:a16="http://schemas.microsoft.com/office/drawing/2014/main" id="{DEFD9FA4-23EA-80E1-2004-9BFF0E90299B}"/>
              </a:ext>
            </a:extLst>
          </p:cNvPr>
          <p:cNvPicPr>
            <a:picLocks noChangeAspect="1"/>
          </p:cNvPicPr>
          <p:nvPr/>
        </p:nvPicPr>
        <p:blipFill>
          <a:blip r:embed="rId5"/>
          <a:stretch>
            <a:fillRect/>
          </a:stretch>
        </p:blipFill>
        <p:spPr>
          <a:xfrm>
            <a:off x="8688180" y="632995"/>
            <a:ext cx="4768779" cy="5916395"/>
          </a:xfrm>
          <a:prstGeom prst="rect">
            <a:avLst/>
          </a:prstGeom>
        </p:spPr>
      </p:pic>
    </p:spTree>
    <p:extLst>
      <p:ext uri="{BB962C8B-B14F-4D97-AF65-F5344CB8AC3E}">
        <p14:creationId xmlns:p14="http://schemas.microsoft.com/office/powerpoint/2010/main" val="3342458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702A-8C10-19E0-FBA1-6FD7A619919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04F07F1-AA66-4370-A792-9C5C8F9E416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Omit and </a:t>
            </a:r>
            <a:r>
              <a:rPr kumimoji="0" lang="en-US" sz="3199" b="0" i="0" u="none" strike="noStrike" kern="1200" cap="none" spc="0" normalizeH="0" baseline="0" noProof="0" dirty="0" err="1">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ReadOnly</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8AD9308-FBD6-0FC5-3E5F-6FD307AE2C96}"/>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1B0178DD-5A7C-29E4-85F3-28687C0A93BD}"/>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5DE86D9-BA52-CDFA-194E-433DAF44F30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162C130-2087-82D0-7E3A-0DB88DFF1C1B}"/>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BBA8AF95-156B-2E8F-029B-4B02199A1066}"/>
              </a:ext>
            </a:extLst>
          </p:cNvPr>
          <p:cNvPicPr>
            <a:picLocks noChangeAspect="1"/>
          </p:cNvPicPr>
          <p:nvPr/>
        </p:nvPicPr>
        <p:blipFill>
          <a:blip r:embed="rId3"/>
          <a:stretch>
            <a:fillRect/>
          </a:stretch>
        </p:blipFill>
        <p:spPr>
          <a:xfrm>
            <a:off x="230069" y="655071"/>
            <a:ext cx="3636249" cy="5969000"/>
          </a:xfrm>
          <a:prstGeom prst="rect">
            <a:avLst/>
          </a:prstGeom>
        </p:spPr>
      </p:pic>
      <p:pic>
        <p:nvPicPr>
          <p:cNvPr id="11" name="Picture 10">
            <a:extLst>
              <a:ext uri="{FF2B5EF4-FFF2-40B4-BE49-F238E27FC236}">
                <a16:creationId xmlns:a16="http://schemas.microsoft.com/office/drawing/2014/main" id="{03E8CD24-B408-C624-8844-6AB70FE74EBB}"/>
              </a:ext>
            </a:extLst>
          </p:cNvPr>
          <p:cNvPicPr>
            <a:picLocks noChangeAspect="1"/>
          </p:cNvPicPr>
          <p:nvPr/>
        </p:nvPicPr>
        <p:blipFill>
          <a:blip r:embed="rId4"/>
          <a:stretch>
            <a:fillRect/>
          </a:stretch>
        </p:blipFill>
        <p:spPr>
          <a:xfrm>
            <a:off x="4021881" y="648511"/>
            <a:ext cx="3679619" cy="5907461"/>
          </a:xfrm>
          <a:prstGeom prst="rect">
            <a:avLst/>
          </a:prstGeom>
        </p:spPr>
      </p:pic>
      <p:pic>
        <p:nvPicPr>
          <p:cNvPr id="8" name="Picture 7">
            <a:extLst>
              <a:ext uri="{FF2B5EF4-FFF2-40B4-BE49-F238E27FC236}">
                <a16:creationId xmlns:a16="http://schemas.microsoft.com/office/drawing/2014/main" id="{8A10D05F-D1B9-7910-F2E4-6B496B597812}"/>
              </a:ext>
            </a:extLst>
          </p:cNvPr>
          <p:cNvPicPr>
            <a:picLocks noChangeAspect="1"/>
          </p:cNvPicPr>
          <p:nvPr/>
        </p:nvPicPr>
        <p:blipFill>
          <a:blip r:embed="rId5"/>
          <a:stretch>
            <a:fillRect/>
          </a:stretch>
        </p:blipFill>
        <p:spPr>
          <a:xfrm>
            <a:off x="7745568" y="655071"/>
            <a:ext cx="4213188" cy="3314870"/>
          </a:xfrm>
          <a:prstGeom prst="rect">
            <a:avLst/>
          </a:prstGeom>
        </p:spPr>
      </p:pic>
    </p:spTree>
    <p:extLst>
      <p:ext uri="{BB962C8B-B14F-4D97-AF65-F5344CB8AC3E}">
        <p14:creationId xmlns:p14="http://schemas.microsoft.com/office/powerpoint/2010/main" val="3644529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CE11-3054-8F8D-BC7E-44F60BD8B11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76BEE75-5FBA-2AF7-FD09-61D9740C77E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Summary</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4" name="TextBox 3">
            <a:extLst>
              <a:ext uri="{FF2B5EF4-FFF2-40B4-BE49-F238E27FC236}">
                <a16:creationId xmlns:a16="http://schemas.microsoft.com/office/drawing/2014/main" id="{AEF3ECF1-4F84-BF9C-5D8E-C1E9F328145A}"/>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87BB65FB-9B11-4E7F-DB6A-9303E3D12C84}"/>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5A0AB5B6-DA56-A01A-74EF-1BEB2EB90BD4}"/>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4C404FEF-D202-6D81-2563-E2290EC1F0F4}"/>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54E4B9FF-57E0-86F0-DE67-D3E4BE8C31DC}"/>
              </a:ext>
            </a:extLst>
          </p:cNvPr>
          <p:cNvPicPr>
            <a:picLocks noChangeAspect="1"/>
          </p:cNvPicPr>
          <p:nvPr/>
        </p:nvPicPr>
        <p:blipFill>
          <a:blip r:embed="rId3"/>
          <a:stretch>
            <a:fillRect/>
          </a:stretch>
        </p:blipFill>
        <p:spPr>
          <a:xfrm>
            <a:off x="341880" y="822593"/>
            <a:ext cx="7137767" cy="2514729"/>
          </a:xfrm>
          <a:prstGeom prst="rect">
            <a:avLst/>
          </a:prstGeom>
        </p:spPr>
      </p:pic>
    </p:spTree>
    <p:extLst>
      <p:ext uri="{BB962C8B-B14F-4D97-AF65-F5344CB8AC3E}">
        <p14:creationId xmlns:p14="http://schemas.microsoft.com/office/powerpoint/2010/main" val="2019063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51">
      <a:dk1>
        <a:sysClr val="windowText" lastClr="000000"/>
      </a:dk1>
      <a:lt1>
        <a:sysClr val="window" lastClr="FFFFFF"/>
      </a:lt1>
      <a:dk2>
        <a:srgbClr val="0E2841"/>
      </a:dk2>
      <a:lt2>
        <a:srgbClr val="E8E8E8"/>
      </a:lt2>
      <a:accent1>
        <a:srgbClr val="3B31A9"/>
      </a:accent1>
      <a:accent2>
        <a:srgbClr val="5047C9"/>
      </a:accent2>
      <a:accent3>
        <a:srgbClr val="625ACE"/>
      </a:accent3>
      <a:accent4>
        <a:srgbClr val="817AD8"/>
      </a:accent4>
      <a:accent5>
        <a:srgbClr val="AAA5E5"/>
      </a:accent5>
      <a:accent6>
        <a:srgbClr val="CAC7EF"/>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8756</TotalTime>
  <Words>1955</Words>
  <Application>Microsoft Office PowerPoint</Application>
  <PresentationFormat>Custom</PresentationFormat>
  <Paragraphs>232</Paragraphs>
  <Slides>21</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21</vt:i4>
      </vt:variant>
    </vt:vector>
  </HeadingPairs>
  <TitlesOfParts>
    <vt:vector size="34" baseType="lpstr">
      <vt:lpstr>Amasis MT Pro Black</vt:lpstr>
      <vt:lpstr>Aptos</vt:lpstr>
      <vt:lpstr>Aptos Display</vt:lpstr>
      <vt:lpstr>Arial</vt:lpstr>
      <vt:lpstr>Arial Black</vt:lpstr>
      <vt:lpstr>Calibri</vt:lpstr>
      <vt:lpstr>Cascadia Code</vt:lpstr>
      <vt:lpstr>Consolas</vt:lpstr>
      <vt:lpstr>Cooper Black</vt:lpstr>
      <vt:lpstr>Segoe UI</vt:lpstr>
      <vt:lpstr>Segoe UI Light</vt:lpstr>
      <vt:lpstr>Office Theme</vt:lpstr>
      <vt:lpstr>1_Office Theme</vt:lpstr>
      <vt:lpstr>SAP BTP Extension Suite Training</vt:lpstr>
      <vt:lpstr>PowerPoint Presentation</vt:lpstr>
      <vt:lpstr>Agenda – Day 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338</cp:revision>
  <dcterms:created xsi:type="dcterms:W3CDTF">2013-09-12T13:05:01Z</dcterms:created>
  <dcterms:modified xsi:type="dcterms:W3CDTF">2026-08-19T09:55:41Z</dcterms:modified>
</cp:coreProperties>
</file>