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76" r:id="rId2"/>
    <p:sldId id="4122" r:id="rId3"/>
    <p:sldId id="277" r:id="rId4"/>
    <p:sldId id="4777" r:id="rId5"/>
    <p:sldId id="4769" r:id="rId6"/>
    <p:sldId id="4757" r:id="rId7"/>
    <p:sldId id="4787" r:id="rId8"/>
    <p:sldId id="4759" r:id="rId9"/>
    <p:sldId id="4788" r:id="rId10"/>
    <p:sldId id="4799" r:id="rId11"/>
    <p:sldId id="282" r:id="rId12"/>
    <p:sldId id="280" r:id="rId13"/>
    <p:sldId id="4711" r:id="rId14"/>
    <p:sldId id="4773" r:id="rId15"/>
  </p:sldIdLst>
  <p:sldSz cx="12188825" cy="6858000"/>
  <p:notesSz cx="6858000" cy="9144000"/>
  <p:defaultText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F817DAF-671E-40FA-9B34-C817E16E6842}">
          <p14:sldIdLst>
            <p14:sldId id="276"/>
            <p14:sldId id="4122"/>
            <p14:sldId id="277"/>
            <p14:sldId id="4777"/>
            <p14:sldId id="4769"/>
            <p14:sldId id="4757"/>
            <p14:sldId id="4787"/>
            <p14:sldId id="4759"/>
            <p14:sldId id="4788"/>
            <p14:sldId id="4799"/>
          </p14:sldIdLst>
        </p14:section>
        <p14:section name="Untitled Section" id="{3D25B6DE-2864-4657-B43E-6916E185213C}">
          <p14:sldIdLst>
            <p14:sldId id="282"/>
            <p14:sldId id="280"/>
            <p14:sldId id="4711"/>
            <p14:sldId id="4773"/>
          </p14:sldIdLst>
        </p14:section>
      </p14:sectionLst>
    </p:ext>
    <p:ext uri="{EFAFB233-063F-42B5-8137-9DF3F51BA10A}">
      <p15:sldGuideLst xmlns:p15="http://schemas.microsoft.com/office/powerpoint/2012/main">
        <p15:guide id="1" orient="horz" pos="2160">
          <p15:clr>
            <a:srgbClr val="A4A3A4"/>
          </p15:clr>
        </p15:guide>
        <p15:guide id="2" pos="383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8E8E8"/>
    <a:srgbClr val="074D92"/>
    <a:srgbClr val="E0E0E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09" autoAdjust="0"/>
    <p:restoredTop sz="95250" autoAdjust="0"/>
  </p:normalViewPr>
  <p:slideViewPr>
    <p:cSldViewPr>
      <p:cViewPr varScale="1">
        <p:scale>
          <a:sx n="105" d="100"/>
          <a:sy n="105" d="100"/>
        </p:scale>
        <p:origin x="368" y="76"/>
      </p:cViewPr>
      <p:guideLst>
        <p:guide orient="horz" pos="2160"/>
        <p:guide pos="383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12T09:52:46.021"/>
    </inkml:context>
    <inkml:brush xml:id="br0">
      <inkml:brushProperty name="width" value="0.05" units="cm"/>
      <inkml:brushProperty name="height" value="0.05" units="cm"/>
      <inkml:brushProperty name="color" value="#FF0066"/>
    </inkml:brush>
  </inkml:definitions>
  <inkml:trace contextRef="#ctx0" brushRef="#br0">0 0 24575,'0'0'-8191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12T10:11:12.044"/>
    </inkml:context>
    <inkml:brush xml:id="br0">
      <inkml:brushProperty name="width" value="0.05" units="cm"/>
      <inkml:brushProperty name="height" value="0.05" units="cm"/>
      <inkml:brushProperty name="color" value="#FF0066"/>
    </inkml:brush>
  </inkml:definitions>
  <inkml:trace contextRef="#ctx0" brushRef="#br0">0 1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AB488F7-1FAC-40D2-BB7E-BA3CE28D8950}" type="datetimeFigureOut">
              <a:rPr lang="en-US" smtClean="0"/>
              <a:pPr/>
              <a:t>7/13/2026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CA2D21D1-52E2-420B-B491-CFF6D7BB79FB}" type="slidenum">
              <a:rPr lang="en-US" smtClean="0"/>
              <a:pPr/>
              <a:t>‹#›</a:t>
            </a:fld>
            <a:endParaRPr lang="en-US"/>
          </a:p>
        </p:txBody>
      </p:sp>
    </p:spTree>
    <p:extLst>
      <p:ext uri="{BB962C8B-B14F-4D97-AF65-F5344CB8AC3E}">
        <p14:creationId xmlns:p14="http://schemas.microsoft.com/office/powerpoint/2010/main" val="2239478695"/>
      </p:ext>
    </p:extLst>
  </p:cSld>
  <p:clrMap bg1="lt1" tx1="dk1" bg2="lt2" tx2="dk2" accent1="accent1" accent2="accent2" accent3="accent3" accent4="accent4" accent5="accent5" accent6="accent6" hlink="hlink" folHlink="folHlink"/>
  <p:notesStyle>
    <a:lvl1pPr marL="0" algn="l" defTabSz="1218987" rtl="0" eaLnBrk="1" latinLnBrk="0" hangingPunct="1">
      <a:defRPr sz="1600" kern="1200">
        <a:solidFill>
          <a:schemeClr val="tx1"/>
        </a:solidFill>
        <a:latin typeface="+mn-lt"/>
        <a:ea typeface="+mn-ea"/>
        <a:cs typeface="+mn-cs"/>
      </a:defRPr>
    </a:lvl1pPr>
    <a:lvl2pPr marL="609493" algn="l" defTabSz="1218987" rtl="0" eaLnBrk="1" latinLnBrk="0" hangingPunct="1">
      <a:defRPr sz="1600" kern="1200">
        <a:solidFill>
          <a:schemeClr val="tx1"/>
        </a:solidFill>
        <a:latin typeface="+mn-lt"/>
        <a:ea typeface="+mn-ea"/>
        <a:cs typeface="+mn-cs"/>
      </a:defRPr>
    </a:lvl2pPr>
    <a:lvl3pPr marL="1218987" algn="l" defTabSz="1218987" rtl="0" eaLnBrk="1" latinLnBrk="0" hangingPunct="1">
      <a:defRPr sz="1600" kern="1200">
        <a:solidFill>
          <a:schemeClr val="tx1"/>
        </a:solidFill>
        <a:latin typeface="+mn-lt"/>
        <a:ea typeface="+mn-ea"/>
        <a:cs typeface="+mn-cs"/>
      </a:defRPr>
    </a:lvl3pPr>
    <a:lvl4pPr marL="1828480" algn="l" defTabSz="1218987" rtl="0" eaLnBrk="1" latinLnBrk="0" hangingPunct="1">
      <a:defRPr sz="1600" kern="1200">
        <a:solidFill>
          <a:schemeClr val="tx1"/>
        </a:solidFill>
        <a:latin typeface="+mn-lt"/>
        <a:ea typeface="+mn-ea"/>
        <a:cs typeface="+mn-cs"/>
      </a:defRPr>
    </a:lvl4pPr>
    <a:lvl5pPr marL="2437973" algn="l" defTabSz="1218987" rtl="0" eaLnBrk="1" latinLnBrk="0" hangingPunct="1">
      <a:defRPr sz="1600" kern="1200">
        <a:solidFill>
          <a:schemeClr val="tx1"/>
        </a:solidFill>
        <a:latin typeface="+mn-lt"/>
        <a:ea typeface="+mn-ea"/>
        <a:cs typeface="+mn-cs"/>
      </a:defRPr>
    </a:lvl5pPr>
    <a:lvl6pPr marL="3047467" algn="l" defTabSz="1218987" rtl="0" eaLnBrk="1" latinLnBrk="0" hangingPunct="1">
      <a:defRPr sz="1600" kern="1200">
        <a:solidFill>
          <a:schemeClr val="tx1"/>
        </a:solidFill>
        <a:latin typeface="+mn-lt"/>
        <a:ea typeface="+mn-ea"/>
        <a:cs typeface="+mn-cs"/>
      </a:defRPr>
    </a:lvl6pPr>
    <a:lvl7pPr marL="3656960" algn="l" defTabSz="1218987" rtl="0" eaLnBrk="1" latinLnBrk="0" hangingPunct="1">
      <a:defRPr sz="1600" kern="1200">
        <a:solidFill>
          <a:schemeClr val="tx1"/>
        </a:solidFill>
        <a:latin typeface="+mn-lt"/>
        <a:ea typeface="+mn-ea"/>
        <a:cs typeface="+mn-cs"/>
      </a:defRPr>
    </a:lvl7pPr>
    <a:lvl8pPr marL="4266453" algn="l" defTabSz="1218987" rtl="0" eaLnBrk="1" latinLnBrk="0" hangingPunct="1">
      <a:defRPr sz="1600" kern="1200">
        <a:solidFill>
          <a:schemeClr val="tx1"/>
        </a:solidFill>
        <a:latin typeface="+mn-lt"/>
        <a:ea typeface="+mn-ea"/>
        <a:cs typeface="+mn-cs"/>
      </a:defRPr>
    </a:lvl8pPr>
    <a:lvl9pPr marL="4875947" algn="l" defTabSz="1218987"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66B8D726-D0BC-B240-A677-46F99704B744}" type="slidenum">
              <a:rPr lang="en-US" smtClean="0"/>
              <a:pPr/>
              <a:t>13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1541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7/13/2026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19003832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7/13/2026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63090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7/13/2026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531430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7/13/2026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13924982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7/13/2026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17143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7/13/2026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10423616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7/13/2026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8652853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7/13/2026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1002194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44841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3644077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7/13/2026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4508044"/>
      </p:ext>
    </p:extLst>
  </p:cSld>
  <p:clrMap bg1="lt1" tx1="dk1" bg2="lt2" tx2="dk2" accent1="accent1" accent2="accent2" accent3="accent3" accent4="accent4" accent5="accent5" accent6="accent6" hlink="hlink" folHlink="folHlink"/>
  <p:sldLayoutIdLst>
    <p:sldLayoutId id="2147483661" r:id="rId1"/>
    <p:sldLayoutId id="2147483664" r:id="rId2"/>
    <p:sldLayoutId id="2147483663" r:id="rId3"/>
    <p:sldLayoutId id="2147483666" r:id="rId4"/>
    <p:sldLayoutId id="2147483668" r:id="rId5"/>
    <p:sldLayoutId id="2147483669" r:id="rId6"/>
    <p:sldLayoutId id="2147483667" r:id="rId7"/>
    <p:sldLayoutId id="2147483670" r:id="rId8"/>
    <p:sldLayoutId id="2147483665" r:id="rId9"/>
    <p:sldLayoutId id="2147483671" r:id="rId10"/>
    <p:sldLayoutId id="2147483672"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customXml" Target="../ink/ink1.xml"/><Relationship Id="rId1" Type="http://schemas.openxmlformats.org/officeDocument/2006/relationships/slideLayout" Target="../slideLayouts/slideLayout2.xml"/><Relationship Id="rId177" Type="http://schemas.openxmlformats.org/officeDocument/2006/relationships/image" Target="../media/image217.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github.com/soyuztechnologies/SAP_BTP_Training_CLD200/blob/master/Day%203/01%20db.zip"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customXml" Target="../ink/ink2.xml"/><Relationship Id="rId2" Type="http://schemas.openxmlformats.org/officeDocument/2006/relationships/hyperlink" Target="https://github.com/soyuztechnologies/SAP_BTP_Training_CLD200/blob/master/Day%203/01%20db/01db/CDSViews.cds" TargetMode="External"/><Relationship Id="rId1" Type="http://schemas.openxmlformats.org/officeDocument/2006/relationships/slideLayout" Target="../slideLayouts/slideLayout2.xml"/><Relationship Id="rId4" Type="http://schemas.openxmlformats.org/officeDocument/2006/relationships/image" Target="../media/image217.png"/></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soyuztechnologies/SAP_BTP_Training_CLD200/blob/master/Day%203/02%20srv.zip" TargetMode="External"/><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soyuztechnologies/SAP_BTP_Training_CLD200/blob/master/Day%203/02srv/tester.http" TargetMode="External"/><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9.xml"/><Relationship Id="rId5" Type="http://schemas.openxmlformats.org/officeDocument/2006/relationships/image" Target="../media/image8.png"/><Relationship Id="rId4" Type="http://schemas.openxmlformats.org/officeDocument/2006/relationships/hyperlink" Target="http://www.dribbble.com/" TargetMode="External"/></Relationships>
</file>

<file path=ppt/slides/_rels/slide13.xml.rels><?xml version="1.0" encoding="UTF-8" standalone="yes"?>
<Relationships xmlns="http://schemas.openxmlformats.org/package/2006/relationships"><Relationship Id="rId8" Type="http://schemas.openxmlformats.org/officeDocument/2006/relationships/image" Target="../media/image14.jpeg"/><Relationship Id="rId3" Type="http://schemas.openxmlformats.org/officeDocument/2006/relationships/image" Target="../media/image9.jpeg"/><Relationship Id="rId7" Type="http://schemas.openxmlformats.org/officeDocument/2006/relationships/image" Target="../media/image13.tiff"/><Relationship Id="rId2" Type="http://schemas.openxmlformats.org/officeDocument/2006/relationships/notesSlide" Target="../notesSlides/notesSlide1.xml"/><Relationship Id="rId1" Type="http://schemas.openxmlformats.org/officeDocument/2006/relationships/slideLayout" Target="../slideLayouts/slideLayout11.xml"/><Relationship Id="rId6" Type="http://schemas.openxmlformats.org/officeDocument/2006/relationships/image" Target="../media/image12.tiff"/><Relationship Id="rId5" Type="http://schemas.openxmlformats.org/officeDocument/2006/relationships/image" Target="../media/image11.tiff"/><Relationship Id="rId4" Type="http://schemas.openxmlformats.org/officeDocument/2006/relationships/image" Target="../media/image10.tiff"/><Relationship Id="rId9"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36" name="Title 735">
            <a:extLst>
              <a:ext uri="{FF2B5EF4-FFF2-40B4-BE49-F238E27FC236}">
                <a16:creationId xmlns:a16="http://schemas.microsoft.com/office/drawing/2014/main" id="{CE57EBF5-7CB4-4746-AB9E-3E8717897D0F}"/>
              </a:ext>
            </a:extLst>
          </p:cNvPr>
          <p:cNvSpPr>
            <a:spLocks noGrp="1"/>
          </p:cNvSpPr>
          <p:nvPr>
            <p:ph type="ctrTitle"/>
          </p:nvPr>
        </p:nvSpPr>
        <p:spPr>
          <a:xfrm>
            <a:off x="3530893" y="2601545"/>
            <a:ext cx="5086633" cy="827455"/>
          </a:xfrm>
        </p:spPr>
        <p:txBody>
          <a:bodyPr anchor="ctr"/>
          <a:lstStyle/>
          <a:p>
            <a:r>
              <a:rPr lang="en-US" sz="4800" dirty="0">
                <a:solidFill>
                  <a:schemeClr val="bg1"/>
                </a:solidFill>
                <a:latin typeface="Arial Black" panose="020B0A04020102020204" pitchFamily="34" charset="0"/>
              </a:rPr>
              <a:t>SAP BTP Architect Training</a:t>
            </a:r>
            <a:endParaRPr lang="en-IN" dirty="0">
              <a:solidFill>
                <a:schemeClr val="bg1"/>
              </a:solidFill>
              <a:latin typeface="Arial Black" panose="020B0A04020102020204" pitchFamily="34" charset="0"/>
            </a:endParaRPr>
          </a:p>
        </p:txBody>
      </p:sp>
      <p:sp>
        <p:nvSpPr>
          <p:cNvPr id="737" name="Subtitle 736">
            <a:extLst>
              <a:ext uri="{FF2B5EF4-FFF2-40B4-BE49-F238E27FC236}">
                <a16:creationId xmlns:a16="http://schemas.microsoft.com/office/drawing/2014/main" id="{700EA347-9CC8-4879-9255-16687B0BED48}"/>
              </a:ext>
            </a:extLst>
          </p:cNvPr>
          <p:cNvSpPr>
            <a:spLocks noGrp="1"/>
          </p:cNvSpPr>
          <p:nvPr>
            <p:ph type="subTitle" idx="1"/>
          </p:nvPr>
        </p:nvSpPr>
        <p:spPr/>
        <p:txBody>
          <a:bodyPr/>
          <a:lstStyle/>
          <a:p>
            <a:r>
              <a:rPr lang="en-IN" spc="100" dirty="0">
                <a:latin typeface="Cooper Black" panose="0208090404030B020404" pitchFamily="18" charset="0"/>
              </a:rPr>
              <a:t>www.AnubhavTrainings.com</a:t>
            </a:r>
          </a:p>
        </p:txBody>
      </p:sp>
      <p:sp>
        <p:nvSpPr>
          <p:cNvPr id="4" name="Subtitle 736">
            <a:extLst>
              <a:ext uri="{FF2B5EF4-FFF2-40B4-BE49-F238E27FC236}">
                <a16:creationId xmlns:a16="http://schemas.microsoft.com/office/drawing/2014/main" id="{3F065217-DE63-4532-8B57-61ED049613CD}"/>
              </a:ext>
            </a:extLst>
          </p:cNvPr>
          <p:cNvSpPr txBox="1">
            <a:spLocks/>
          </p:cNvSpPr>
          <p:nvPr/>
        </p:nvSpPr>
        <p:spPr>
          <a:xfrm>
            <a:off x="3296764" y="3933056"/>
            <a:ext cx="5595296"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r>
              <a:rPr lang="en-IN" sz="2000" dirty="0">
                <a:solidFill>
                  <a:srgbClr val="00B0F0"/>
                </a:solidFill>
                <a:latin typeface="Amasis MT Pro Black" panose="02040A04050005020304" pitchFamily="18" charset="0"/>
              </a:rPr>
              <a:t>Anubhav Oberoy</a:t>
            </a:r>
          </a:p>
        </p:txBody>
      </p:sp>
      <p:sp>
        <p:nvSpPr>
          <p:cNvPr id="2" name="TextBox 1">
            <a:extLst>
              <a:ext uri="{FF2B5EF4-FFF2-40B4-BE49-F238E27FC236}">
                <a16:creationId xmlns:a16="http://schemas.microsoft.com/office/drawing/2014/main" id="{66565992-7E12-89E4-D7DB-B3B44A1FB17D}"/>
              </a:ext>
            </a:extLst>
          </p:cNvPr>
          <p:cNvSpPr txBox="1"/>
          <p:nvPr/>
        </p:nvSpPr>
        <p:spPr>
          <a:xfrm>
            <a:off x="5230316" y="4968381"/>
            <a:ext cx="3963274" cy="338554"/>
          </a:xfrm>
          <a:prstGeom prst="rect">
            <a:avLst/>
          </a:prstGeom>
          <a:noFill/>
        </p:spPr>
        <p:txBody>
          <a:bodyPr wrap="square" rtlCol="0">
            <a:spAutoFit/>
          </a:bodyPr>
          <a:lstStyle/>
          <a:p>
            <a:r>
              <a:rPr lang="en-US" sz="1600" dirty="0">
                <a:solidFill>
                  <a:srgbClr val="FFFF00"/>
                </a:solidFill>
              </a:rPr>
              <a:t>Follow excellence with sheer passion</a:t>
            </a:r>
          </a:p>
        </p:txBody>
      </p:sp>
      <p:sp>
        <p:nvSpPr>
          <p:cNvPr id="3" name="Rectangle 2">
            <a:extLst>
              <a:ext uri="{FF2B5EF4-FFF2-40B4-BE49-F238E27FC236}">
                <a16:creationId xmlns:a16="http://schemas.microsoft.com/office/drawing/2014/main" id="{2BBA527F-59AB-2E34-6331-8D67B5F5CA3E}"/>
              </a:ext>
            </a:extLst>
          </p:cNvPr>
          <p:cNvSpPr/>
          <p:nvPr/>
        </p:nvSpPr>
        <p:spPr>
          <a:xfrm>
            <a:off x="3530893" y="1196752"/>
            <a:ext cx="2059463" cy="64807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chemeClr val="accent2">
                    <a:lumMod val="50000"/>
                  </a:schemeClr>
                </a:solidFill>
              </a:rPr>
              <a:t>Day 6</a:t>
            </a:r>
          </a:p>
        </p:txBody>
      </p:sp>
    </p:spTree>
    <p:extLst>
      <p:ext uri="{BB962C8B-B14F-4D97-AF65-F5344CB8AC3E}">
        <p14:creationId xmlns:p14="http://schemas.microsoft.com/office/powerpoint/2010/main" val="686416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846940" y="0"/>
            <a:ext cx="1173316" cy="11588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31916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Rounded Corners 18">
            <a:extLst>
              <a:ext uri="{FF2B5EF4-FFF2-40B4-BE49-F238E27FC236}">
                <a16:creationId xmlns:a16="http://schemas.microsoft.com/office/drawing/2014/main" id="{44CCC398-65A7-46D8-A239-10DEF44C09D8}"/>
              </a:ext>
            </a:extLst>
          </p:cNvPr>
          <p:cNvSpPr/>
          <p:nvPr/>
        </p:nvSpPr>
        <p:spPr>
          <a:xfrm>
            <a:off x="2998068" y="1340768"/>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25" name="Rectangle: Rounded Corners 1124">
            <a:extLst>
              <a:ext uri="{FF2B5EF4-FFF2-40B4-BE49-F238E27FC236}">
                <a16:creationId xmlns:a16="http://schemas.microsoft.com/office/drawing/2014/main" id="{DD83FDAB-84C0-4E56-A834-5F4759E4D1B1}"/>
              </a:ext>
            </a:extLst>
          </p:cNvPr>
          <p:cNvSpPr/>
          <p:nvPr/>
        </p:nvSpPr>
        <p:spPr>
          <a:xfrm>
            <a:off x="2998068" y="3096490"/>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26" name="Rectangle: Rounded Corners 1125">
            <a:extLst>
              <a:ext uri="{FF2B5EF4-FFF2-40B4-BE49-F238E27FC236}">
                <a16:creationId xmlns:a16="http://schemas.microsoft.com/office/drawing/2014/main" id="{FED1BB6A-A9A9-4E0A-A8CD-EEFB5750C983}"/>
              </a:ext>
            </a:extLst>
          </p:cNvPr>
          <p:cNvSpPr/>
          <p:nvPr/>
        </p:nvSpPr>
        <p:spPr>
          <a:xfrm>
            <a:off x="2998068" y="4852213"/>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1" name="Group 20">
            <a:extLst>
              <a:ext uri="{FF2B5EF4-FFF2-40B4-BE49-F238E27FC236}">
                <a16:creationId xmlns:a16="http://schemas.microsoft.com/office/drawing/2014/main" id="{21E75565-DE97-493A-B6B7-3FEC1D7EC345}"/>
              </a:ext>
            </a:extLst>
          </p:cNvPr>
          <p:cNvGrpSpPr/>
          <p:nvPr/>
        </p:nvGrpSpPr>
        <p:grpSpPr>
          <a:xfrm>
            <a:off x="3662754" y="1593781"/>
            <a:ext cx="3951680" cy="922336"/>
            <a:chOff x="1395616" y="871285"/>
            <a:chExt cx="3825734" cy="1064137"/>
          </a:xfrm>
        </p:grpSpPr>
        <p:sp>
          <p:nvSpPr>
            <p:cNvPr id="1136" name="TextBox 1135">
              <a:extLst>
                <a:ext uri="{FF2B5EF4-FFF2-40B4-BE49-F238E27FC236}">
                  <a16:creationId xmlns:a16="http://schemas.microsoft.com/office/drawing/2014/main" id="{19597974-6BD9-4F46-93D5-8E798AE68BD9}"/>
                </a:ext>
              </a:extLst>
            </p:cNvPr>
            <p:cNvSpPr txBox="1"/>
            <p:nvPr/>
          </p:nvSpPr>
          <p:spPr>
            <a:xfrm>
              <a:off x="2984420" y="1243564"/>
              <a:ext cx="2236930" cy="319585"/>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Create Data Models</a:t>
              </a:r>
            </a:p>
          </p:txBody>
        </p:sp>
        <p:sp>
          <p:nvSpPr>
            <p:cNvPr id="1137" name="TextBox 1136">
              <a:extLst>
                <a:ext uri="{FF2B5EF4-FFF2-40B4-BE49-F238E27FC236}">
                  <a16:creationId xmlns:a16="http://schemas.microsoft.com/office/drawing/2014/main" id="{F9DA7F84-AF3C-4C6B-8FBC-ADC07F02F13B}"/>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01</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38" name="Group 1137">
            <a:extLst>
              <a:ext uri="{FF2B5EF4-FFF2-40B4-BE49-F238E27FC236}">
                <a16:creationId xmlns:a16="http://schemas.microsoft.com/office/drawing/2014/main" id="{1689CC76-F5C8-4D9A-940D-D0E9511DAD27}"/>
              </a:ext>
            </a:extLst>
          </p:cNvPr>
          <p:cNvGrpSpPr/>
          <p:nvPr/>
        </p:nvGrpSpPr>
        <p:grpSpPr>
          <a:xfrm>
            <a:off x="3662754" y="3349500"/>
            <a:ext cx="3951680" cy="922336"/>
            <a:chOff x="1395616" y="871285"/>
            <a:chExt cx="3825734" cy="1064137"/>
          </a:xfrm>
        </p:grpSpPr>
        <p:sp>
          <p:nvSpPr>
            <p:cNvPr id="1139" name="TextBox 1138">
              <a:extLst>
                <a:ext uri="{FF2B5EF4-FFF2-40B4-BE49-F238E27FC236}">
                  <a16:creationId xmlns:a16="http://schemas.microsoft.com/office/drawing/2014/main" id="{0EC594F9-42AA-48F0-91E3-A523A590A6A2}"/>
                </a:ext>
              </a:extLst>
            </p:cNvPr>
            <p:cNvSpPr txBox="1"/>
            <p:nvPr/>
          </p:nvSpPr>
          <p:spPr>
            <a:xfrm>
              <a:off x="2984420" y="1243564"/>
              <a:ext cx="2236930" cy="319585"/>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Segoe UI" panose="020B0502040204020203" pitchFamily="34" charset="0"/>
                  <a:ea typeface="Calibri Light" panose="020F0302020204030204" pitchFamily="34" charset="0"/>
                  <a:cs typeface="Segoe UI" panose="020B0502040204020203" pitchFamily="34" charset="0"/>
                </a:rPr>
                <a:t>Working with aspects</a:t>
              </a:r>
              <a:endPar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sp>
          <p:nvSpPr>
            <p:cNvPr id="1140" name="TextBox 1139">
              <a:extLst>
                <a:ext uri="{FF2B5EF4-FFF2-40B4-BE49-F238E27FC236}">
                  <a16:creationId xmlns:a16="http://schemas.microsoft.com/office/drawing/2014/main" id="{958156DC-3EA6-4EBE-BADE-2321E29D81DE}"/>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a:solidFill>
                    <a:schemeClr val="bg1"/>
                  </a:solidFill>
                  <a:latin typeface="Segoe UI" panose="020B0502040204020203" pitchFamily="34" charset="0"/>
                  <a:ea typeface="Calibri Light" charset="0"/>
                  <a:cs typeface="Segoe UI" panose="020B0502040204020203" pitchFamily="34" charset="0"/>
                </a:rPr>
                <a:t>02</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47" name="Group 1146">
            <a:extLst>
              <a:ext uri="{FF2B5EF4-FFF2-40B4-BE49-F238E27FC236}">
                <a16:creationId xmlns:a16="http://schemas.microsoft.com/office/drawing/2014/main" id="{17C38255-E89D-4911-9EAA-F048C7DFE484}"/>
              </a:ext>
            </a:extLst>
          </p:cNvPr>
          <p:cNvGrpSpPr/>
          <p:nvPr/>
        </p:nvGrpSpPr>
        <p:grpSpPr>
          <a:xfrm>
            <a:off x="3662754" y="5105223"/>
            <a:ext cx="3951680" cy="922336"/>
            <a:chOff x="1395616" y="871285"/>
            <a:chExt cx="3825734" cy="1064137"/>
          </a:xfrm>
        </p:grpSpPr>
        <p:sp>
          <p:nvSpPr>
            <p:cNvPr id="1148" name="TextBox 1147">
              <a:extLst>
                <a:ext uri="{FF2B5EF4-FFF2-40B4-BE49-F238E27FC236}">
                  <a16:creationId xmlns:a16="http://schemas.microsoft.com/office/drawing/2014/main" id="{E50F2C64-4496-4A40-ACCB-C5159AEC70D5}"/>
                </a:ext>
              </a:extLst>
            </p:cNvPr>
            <p:cNvSpPr txBox="1"/>
            <p:nvPr/>
          </p:nvSpPr>
          <p:spPr>
            <a:xfrm>
              <a:off x="2984420" y="1083771"/>
              <a:ext cx="2236930" cy="639170"/>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Translations and CDS views</a:t>
              </a:r>
            </a:p>
          </p:txBody>
        </p:sp>
        <p:sp>
          <p:nvSpPr>
            <p:cNvPr id="1149" name="TextBox 1148">
              <a:extLst>
                <a:ext uri="{FF2B5EF4-FFF2-40B4-BE49-F238E27FC236}">
                  <a16:creationId xmlns:a16="http://schemas.microsoft.com/office/drawing/2014/main" id="{0B9CA9D5-F695-4802-BE21-8B05D2B75909}"/>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03</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sp>
        <p:nvSpPr>
          <p:cNvPr id="23" name="Title 22">
            <a:extLst>
              <a:ext uri="{FF2B5EF4-FFF2-40B4-BE49-F238E27FC236}">
                <a16:creationId xmlns:a16="http://schemas.microsoft.com/office/drawing/2014/main" id="{C261B0E4-159A-4067-AFE4-41EEF3B38F9B}"/>
              </a:ext>
            </a:extLst>
          </p:cNvPr>
          <p:cNvSpPr>
            <a:spLocks noGrp="1"/>
          </p:cNvSpPr>
          <p:nvPr>
            <p:ph type="title"/>
          </p:nvPr>
        </p:nvSpPr>
        <p:spPr/>
        <p:txBody>
          <a:bodyPr/>
          <a:lstStyle/>
          <a:p>
            <a:pPr algn="l"/>
            <a:r>
              <a:rPr lang="en-US" dirty="0">
                <a:solidFill>
                  <a:schemeClr val="bg1"/>
                </a:solidFill>
                <a:latin typeface="Cooper Black" panose="0208090404030B020404" pitchFamily="18" charset="0"/>
              </a:rPr>
              <a:t>Agenda – Day </a:t>
            </a:r>
            <a:r>
              <a:rPr lang="en-US" dirty="0"/>
              <a:t>6</a:t>
            </a:r>
            <a:endParaRPr lang="en-IN" dirty="0">
              <a:solidFill>
                <a:schemeClr val="bg1"/>
              </a:solidFill>
              <a:latin typeface="Cooper Black" panose="0208090404030B020404" pitchFamily="18" charset="0"/>
            </a:endParaRPr>
          </a:p>
        </p:txBody>
      </p:sp>
    </p:spTree>
    <p:extLst>
      <p:ext uri="{BB962C8B-B14F-4D97-AF65-F5344CB8AC3E}">
        <p14:creationId xmlns:p14="http://schemas.microsoft.com/office/powerpoint/2010/main" val="3976199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DB Design</a:t>
            </a:r>
          </a:p>
        </p:txBody>
      </p:sp>
      <p:sp>
        <p:nvSpPr>
          <p:cNvPr id="3" name="Rectangle 2">
            <a:extLst>
              <a:ext uri="{FF2B5EF4-FFF2-40B4-BE49-F238E27FC236}">
                <a16:creationId xmlns:a16="http://schemas.microsoft.com/office/drawing/2014/main" id="{EA20F50A-CB9E-23E1-DC37-E78CCBD617BA}"/>
              </a:ext>
            </a:extLst>
          </p:cNvPr>
          <p:cNvSpPr/>
          <p:nvPr/>
        </p:nvSpPr>
        <p:spPr>
          <a:xfrm>
            <a:off x="449806" y="2889216"/>
            <a:ext cx="2448272" cy="1296144"/>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Business partner</a:t>
            </a:r>
          </a:p>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a:t>
            </a:r>
            <a:r>
              <a:rPr kumimoji="0" lang="en-US" sz="1800" b="0" i="0" u="none" strike="noStrike" kern="1200" cap="none" spc="0" normalizeH="0" baseline="0" noProof="0" dirty="0">
                <a:ln>
                  <a:noFill/>
                </a:ln>
                <a:solidFill>
                  <a:prstClr val="white"/>
                </a:solidFill>
                <a:effectLst/>
                <a:uLnTx/>
                <a:uFillTx/>
                <a:latin typeface="Segoe UI"/>
                <a:ea typeface="+mn-ea"/>
                <a:cs typeface="+mn-cs"/>
              </a:rPr>
              <a:t>Customers, Suppliers)</a:t>
            </a:r>
            <a:endParaRPr kumimoji="0" lang="en-US" sz="2400" b="0" i="0" u="none" strike="noStrike" kern="1200" cap="none" spc="0" normalizeH="0" baseline="0" noProof="0" dirty="0">
              <a:ln>
                <a:noFill/>
              </a:ln>
              <a:solidFill>
                <a:prstClr val="white"/>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3C70A250-995E-4FAE-671E-12D15849E10E}"/>
              </a:ext>
            </a:extLst>
          </p:cNvPr>
          <p:cNvSpPr/>
          <p:nvPr/>
        </p:nvSpPr>
        <p:spPr>
          <a:xfrm>
            <a:off x="449806" y="1310939"/>
            <a:ext cx="2448272" cy="786189"/>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Addresses</a:t>
            </a:r>
          </a:p>
        </p:txBody>
      </p:sp>
      <p:cxnSp>
        <p:nvCxnSpPr>
          <p:cNvPr id="5" name="Straight Connector 4">
            <a:extLst>
              <a:ext uri="{FF2B5EF4-FFF2-40B4-BE49-F238E27FC236}">
                <a16:creationId xmlns:a16="http://schemas.microsoft.com/office/drawing/2014/main" id="{23CAA533-07B7-451A-408E-566D8082B1EF}"/>
              </a:ext>
            </a:extLst>
          </p:cNvPr>
          <p:cNvCxnSpPr>
            <a:stCxn id="4" idx="2"/>
            <a:endCxn id="3" idx="0"/>
          </p:cNvCxnSpPr>
          <p:nvPr/>
        </p:nvCxnSpPr>
        <p:spPr>
          <a:xfrm>
            <a:off x="1673942" y="2097128"/>
            <a:ext cx="0" cy="792088"/>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85EE02F7-7DF6-2EE9-BEA7-743EC18A42AE}"/>
              </a:ext>
            </a:extLst>
          </p:cNvPr>
          <p:cNvSpPr/>
          <p:nvPr/>
        </p:nvSpPr>
        <p:spPr>
          <a:xfrm>
            <a:off x="4122214" y="2924944"/>
            <a:ext cx="2448272" cy="822507"/>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Purchase order</a:t>
            </a:r>
          </a:p>
        </p:txBody>
      </p:sp>
      <p:cxnSp>
        <p:nvCxnSpPr>
          <p:cNvPr id="7" name="Connector: Elbow 6">
            <a:extLst>
              <a:ext uri="{FF2B5EF4-FFF2-40B4-BE49-F238E27FC236}">
                <a16:creationId xmlns:a16="http://schemas.microsoft.com/office/drawing/2014/main" id="{F917C211-2860-8724-D9F5-9329ABAE0B00}"/>
              </a:ext>
            </a:extLst>
          </p:cNvPr>
          <p:cNvCxnSpPr>
            <a:cxnSpLocks/>
            <a:stCxn id="3" idx="3"/>
            <a:endCxn id="6" idx="1"/>
          </p:cNvCxnSpPr>
          <p:nvPr/>
        </p:nvCxnSpPr>
        <p:spPr>
          <a:xfrm flipV="1">
            <a:off x="2898078" y="3336198"/>
            <a:ext cx="1224136" cy="201090"/>
          </a:xfrm>
          <a:prstGeom prst="bentConnector3">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42F37EE8-FC34-37D5-E210-AFE042B15CA9}"/>
              </a:ext>
            </a:extLst>
          </p:cNvPr>
          <p:cNvSpPr/>
          <p:nvPr/>
        </p:nvSpPr>
        <p:spPr>
          <a:xfrm>
            <a:off x="4103572" y="4703191"/>
            <a:ext cx="2448272" cy="822507"/>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Purchase order Items</a:t>
            </a:r>
          </a:p>
        </p:txBody>
      </p:sp>
      <p:cxnSp>
        <p:nvCxnSpPr>
          <p:cNvPr id="9" name="Connector: Elbow 8">
            <a:extLst>
              <a:ext uri="{FF2B5EF4-FFF2-40B4-BE49-F238E27FC236}">
                <a16:creationId xmlns:a16="http://schemas.microsoft.com/office/drawing/2014/main" id="{B5AE692E-309C-6D07-FB96-3BDA7FC1B78D}"/>
              </a:ext>
            </a:extLst>
          </p:cNvPr>
          <p:cNvCxnSpPr>
            <a:stCxn id="6" idx="2"/>
            <a:endCxn id="8" idx="0"/>
          </p:cNvCxnSpPr>
          <p:nvPr/>
        </p:nvCxnSpPr>
        <p:spPr>
          <a:xfrm rot="5400000">
            <a:off x="4859159" y="4216000"/>
            <a:ext cx="955740" cy="18642"/>
          </a:xfrm>
          <a:prstGeom prst="bentConnector3">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DDDE7273-06D2-D315-6382-B8DD1BF36F53}"/>
              </a:ext>
            </a:extLst>
          </p:cNvPr>
          <p:cNvSpPr/>
          <p:nvPr/>
        </p:nvSpPr>
        <p:spPr>
          <a:xfrm>
            <a:off x="8442694" y="4617408"/>
            <a:ext cx="2736304" cy="1015663"/>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Product</a:t>
            </a:r>
          </a:p>
        </p:txBody>
      </p:sp>
      <p:cxnSp>
        <p:nvCxnSpPr>
          <p:cNvPr id="11" name="Connector: Elbow 10">
            <a:extLst>
              <a:ext uri="{FF2B5EF4-FFF2-40B4-BE49-F238E27FC236}">
                <a16:creationId xmlns:a16="http://schemas.microsoft.com/office/drawing/2014/main" id="{6ECB2D63-79EE-1B31-E55B-79CAEC7FF367}"/>
              </a:ext>
            </a:extLst>
          </p:cNvPr>
          <p:cNvCxnSpPr>
            <a:stCxn id="8" idx="3"/>
            <a:endCxn id="10" idx="1"/>
          </p:cNvCxnSpPr>
          <p:nvPr/>
        </p:nvCxnSpPr>
        <p:spPr>
          <a:xfrm>
            <a:off x="6551844" y="5114445"/>
            <a:ext cx="1890850" cy="10795"/>
          </a:xfrm>
          <a:prstGeom prst="bentConnector3">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09DF3925-FFE3-01C8-92A3-82EA23EC9784}"/>
              </a:ext>
            </a:extLst>
          </p:cNvPr>
          <p:cNvSpPr/>
          <p:nvPr/>
        </p:nvSpPr>
        <p:spPr>
          <a:xfrm>
            <a:off x="8457382" y="2828365"/>
            <a:ext cx="2736304" cy="1015663"/>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Product Text</a:t>
            </a:r>
          </a:p>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(localized)</a:t>
            </a:r>
          </a:p>
        </p:txBody>
      </p:sp>
      <p:cxnSp>
        <p:nvCxnSpPr>
          <p:cNvPr id="13" name="Connector: Elbow 12">
            <a:extLst>
              <a:ext uri="{FF2B5EF4-FFF2-40B4-BE49-F238E27FC236}">
                <a16:creationId xmlns:a16="http://schemas.microsoft.com/office/drawing/2014/main" id="{EBDD0C4B-85D4-E4B5-4A6C-6D11C2F9A5D5}"/>
              </a:ext>
            </a:extLst>
          </p:cNvPr>
          <p:cNvCxnSpPr>
            <a:stCxn id="12" idx="2"/>
            <a:endCxn id="10" idx="0"/>
          </p:cNvCxnSpPr>
          <p:nvPr/>
        </p:nvCxnSpPr>
        <p:spPr>
          <a:xfrm rot="5400000">
            <a:off x="9431500" y="4223374"/>
            <a:ext cx="773380" cy="14688"/>
          </a:xfrm>
          <a:prstGeom prst="bentConnector3">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F3DC6AFA-1A63-88AE-E9CA-25885343CC64}"/>
              </a:ext>
            </a:extLst>
          </p:cNvPr>
          <p:cNvSpPr txBox="1"/>
          <p:nvPr/>
        </p:nvSpPr>
        <p:spPr>
          <a:xfrm>
            <a:off x="1853963" y="2241144"/>
            <a:ext cx="1116122" cy="461665"/>
          </a:xfrm>
          <a:prstGeom prst="rect">
            <a:avLst/>
          </a:prstGeom>
          <a:noFill/>
          <a:ln>
            <a:noFill/>
          </a:ln>
        </p:spPr>
        <p:txBody>
          <a:bodyPr wrap="square"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1..1</a:t>
            </a:r>
          </a:p>
        </p:txBody>
      </p:sp>
      <p:sp>
        <p:nvSpPr>
          <p:cNvPr id="15" name="TextBox 14">
            <a:extLst>
              <a:ext uri="{FF2B5EF4-FFF2-40B4-BE49-F238E27FC236}">
                <a16:creationId xmlns:a16="http://schemas.microsoft.com/office/drawing/2014/main" id="{E3F4B239-2E8C-B6BF-1237-BF1705B90805}"/>
              </a:ext>
            </a:extLst>
          </p:cNvPr>
          <p:cNvSpPr txBox="1"/>
          <p:nvPr/>
        </p:nvSpPr>
        <p:spPr>
          <a:xfrm>
            <a:off x="3096377" y="2895202"/>
            <a:ext cx="881821" cy="461665"/>
          </a:xfrm>
          <a:prstGeom prst="rect">
            <a:avLst/>
          </a:prstGeom>
          <a:noFill/>
          <a:ln>
            <a:noFill/>
          </a:ln>
        </p:spPr>
        <p:txBody>
          <a:bodyPr wrap="square">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1..*</a:t>
            </a:r>
          </a:p>
        </p:txBody>
      </p:sp>
      <p:sp>
        <p:nvSpPr>
          <p:cNvPr id="16" name="TextBox 15">
            <a:extLst>
              <a:ext uri="{FF2B5EF4-FFF2-40B4-BE49-F238E27FC236}">
                <a16:creationId xmlns:a16="http://schemas.microsoft.com/office/drawing/2014/main" id="{4FAE37F6-701D-F062-A38D-693DE4C4C026}"/>
              </a:ext>
            </a:extLst>
          </p:cNvPr>
          <p:cNvSpPr txBox="1"/>
          <p:nvPr/>
        </p:nvSpPr>
        <p:spPr>
          <a:xfrm>
            <a:off x="5571790" y="3994488"/>
            <a:ext cx="881821" cy="461665"/>
          </a:xfrm>
          <a:prstGeom prst="rect">
            <a:avLst/>
          </a:prstGeom>
          <a:noFill/>
          <a:ln>
            <a:noFill/>
          </a:ln>
        </p:spPr>
        <p:txBody>
          <a:bodyPr wrap="square">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1..*</a:t>
            </a:r>
          </a:p>
        </p:txBody>
      </p:sp>
      <p:sp>
        <p:nvSpPr>
          <p:cNvPr id="17" name="TextBox 16">
            <a:extLst>
              <a:ext uri="{FF2B5EF4-FFF2-40B4-BE49-F238E27FC236}">
                <a16:creationId xmlns:a16="http://schemas.microsoft.com/office/drawing/2014/main" id="{8B15D7C1-BF60-5530-53BD-C009CCE0D8F0}"/>
              </a:ext>
            </a:extLst>
          </p:cNvPr>
          <p:cNvSpPr txBox="1"/>
          <p:nvPr/>
        </p:nvSpPr>
        <p:spPr>
          <a:xfrm>
            <a:off x="7218558" y="4730269"/>
            <a:ext cx="881821" cy="461665"/>
          </a:xfrm>
          <a:prstGeom prst="rect">
            <a:avLst/>
          </a:prstGeom>
          <a:noFill/>
          <a:ln>
            <a:noFill/>
          </a:ln>
        </p:spPr>
        <p:txBody>
          <a:bodyPr wrap="square">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1..1</a:t>
            </a:r>
          </a:p>
        </p:txBody>
      </p:sp>
      <p:sp>
        <p:nvSpPr>
          <p:cNvPr id="18" name="TextBox 17">
            <a:extLst>
              <a:ext uri="{FF2B5EF4-FFF2-40B4-BE49-F238E27FC236}">
                <a16:creationId xmlns:a16="http://schemas.microsoft.com/office/drawing/2014/main" id="{DAB2FCD0-92E2-B406-33F3-FB25960B1291}"/>
              </a:ext>
            </a:extLst>
          </p:cNvPr>
          <p:cNvSpPr txBox="1"/>
          <p:nvPr/>
        </p:nvSpPr>
        <p:spPr>
          <a:xfrm>
            <a:off x="9954862" y="3985420"/>
            <a:ext cx="881821" cy="461665"/>
          </a:xfrm>
          <a:prstGeom prst="rect">
            <a:avLst/>
          </a:prstGeom>
          <a:noFill/>
          <a:ln>
            <a:noFill/>
          </a:ln>
        </p:spPr>
        <p:txBody>
          <a:bodyPr wrap="square">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1..*</a:t>
            </a:r>
          </a:p>
        </p:txBody>
      </p:sp>
      <mc:AlternateContent xmlns:mc="http://schemas.openxmlformats.org/markup-compatibility/2006" xmlns:p14="http://schemas.microsoft.com/office/powerpoint/2010/main">
        <mc:Choice Requires="p14">
          <p:contentPart p14:bwMode="auto" r:id="rId2">
            <p14:nvContentPartPr>
              <p14:cNvPr id="121" name="Ink 120">
                <a:extLst>
                  <a:ext uri="{FF2B5EF4-FFF2-40B4-BE49-F238E27FC236}">
                    <a16:creationId xmlns:a16="http://schemas.microsoft.com/office/drawing/2014/main" id="{3CB2F287-2F5F-4C15-FCB4-145BE73B7353}"/>
                  </a:ext>
                </a:extLst>
              </p14:cNvPr>
              <p14:cNvContentPartPr/>
              <p14:nvPr/>
            </p14:nvContentPartPr>
            <p14:xfrm>
              <a:off x="7440112" y="4117892"/>
              <a:ext cx="360" cy="360"/>
            </p14:xfrm>
          </p:contentPart>
        </mc:Choice>
        <mc:Fallback xmlns="">
          <p:pic>
            <p:nvPicPr>
              <p:cNvPr id="121" name="Ink 120">
                <a:extLst>
                  <a:ext uri="{FF2B5EF4-FFF2-40B4-BE49-F238E27FC236}">
                    <a16:creationId xmlns:a16="http://schemas.microsoft.com/office/drawing/2014/main" id="{3CB2F287-2F5F-4C15-FCB4-145BE73B7353}"/>
                  </a:ext>
                </a:extLst>
              </p:cNvPr>
              <p:cNvPicPr/>
              <p:nvPr/>
            </p:nvPicPr>
            <p:blipFill>
              <a:blip r:embed="rId177"/>
              <a:stretch>
                <a:fillRect/>
              </a:stretch>
            </p:blipFill>
            <p:spPr>
              <a:xfrm>
                <a:off x="7431112" y="4108892"/>
                <a:ext cx="18000" cy="18000"/>
              </a:xfrm>
              <a:prstGeom prst="rect">
                <a:avLst/>
              </a:prstGeom>
            </p:spPr>
          </p:pic>
        </mc:Fallback>
      </mc:AlternateContent>
    </p:spTree>
    <p:extLst>
      <p:ext uri="{BB962C8B-B14F-4D97-AF65-F5344CB8AC3E}">
        <p14:creationId xmlns:p14="http://schemas.microsoft.com/office/powerpoint/2010/main" val="1845492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Hands on: Create DB Module</a:t>
            </a:r>
            <a:endParaRPr lang="en-US" dirty="0"/>
          </a:p>
        </p:txBody>
      </p:sp>
      <p:sp>
        <p:nvSpPr>
          <p:cNvPr id="5" name="TextBox 4">
            <a:extLst>
              <a:ext uri="{FF2B5EF4-FFF2-40B4-BE49-F238E27FC236}">
                <a16:creationId xmlns:a16="http://schemas.microsoft.com/office/drawing/2014/main" id="{C21469E4-175F-C0F0-122A-A58E62C81574}"/>
              </a:ext>
            </a:extLst>
          </p:cNvPr>
          <p:cNvSpPr txBox="1"/>
          <p:nvPr/>
        </p:nvSpPr>
        <p:spPr>
          <a:xfrm>
            <a:off x="189756" y="980728"/>
            <a:ext cx="11665296" cy="1200329"/>
          </a:xfrm>
          <a:prstGeom prst="rect">
            <a:avLst/>
          </a:prstGeom>
          <a:noFill/>
          <a:ln>
            <a:solidFill>
              <a:schemeClr val="bg1"/>
            </a:solidFill>
          </a:ln>
        </p:spPr>
        <p:txBody>
          <a:bodyPr wrap="square"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Solution:</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Segoe UI"/>
                <a:ea typeface="+mn-ea"/>
                <a:cs typeface="+mn-cs"/>
                <a:hlinkClick r:id="rId2"/>
              </a:rPr>
              <a:t>https://github.com/soyuztechnologies/SAP_BTP_Training_CLD200/blob/master/Day%203/01%20db.zip</a:t>
            </a:r>
            <a:endParaRPr kumimoji="0" lang="en-US" sz="2400" b="0" i="0" u="none" strike="noStrike" kern="1200" cap="none" spc="0" normalizeH="0" baseline="0" noProof="0" dirty="0">
              <a:ln>
                <a:noFill/>
              </a:ln>
              <a:solidFill>
                <a:prstClr val="black"/>
              </a:solidFill>
              <a:effectLst/>
              <a:uLnTx/>
              <a:uFillTx/>
              <a:latin typeface="Segoe UI"/>
              <a:ea typeface="+mn-ea"/>
              <a:cs typeface="+mn-cs"/>
            </a:endParaRPr>
          </a:p>
        </p:txBody>
      </p:sp>
      <p:pic>
        <p:nvPicPr>
          <p:cNvPr id="1026" name="Picture 2" descr="Database icons for free download | Freepik">
            <a:extLst>
              <a:ext uri="{FF2B5EF4-FFF2-40B4-BE49-F238E27FC236}">
                <a16:creationId xmlns:a16="http://schemas.microsoft.com/office/drawing/2014/main" id="{53697E66-CE08-835A-8815-829DBD6ED94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34172" y="2708920"/>
            <a:ext cx="3580656" cy="3580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231520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Reuse Types and aspects</a:t>
            </a:r>
            <a:endParaRPr lang="en-US" dirty="0"/>
          </a:p>
        </p:txBody>
      </p:sp>
      <p:sp>
        <p:nvSpPr>
          <p:cNvPr id="3" name="TextBox 2">
            <a:extLst>
              <a:ext uri="{FF2B5EF4-FFF2-40B4-BE49-F238E27FC236}">
                <a16:creationId xmlns:a16="http://schemas.microsoft.com/office/drawing/2014/main" id="{7D710071-42A0-95C3-A71A-A66D7DB444D3}"/>
              </a:ext>
            </a:extLst>
          </p:cNvPr>
          <p:cNvSpPr txBox="1"/>
          <p:nvPr/>
        </p:nvSpPr>
        <p:spPr>
          <a:xfrm>
            <a:off x="189756" y="791728"/>
            <a:ext cx="11809312" cy="3170099"/>
          </a:xfrm>
          <a:prstGeom prst="rect">
            <a:avLst/>
          </a:prstGeom>
          <a:noFill/>
        </p:spPr>
        <p:txBody>
          <a:bodyPr wrap="square" rtlCol="0">
            <a:spAutoFit/>
          </a:bodyPr>
          <a:lstStyle/>
          <a:p>
            <a:r>
              <a:rPr lang="en-US" sz="2000" dirty="0">
                <a:solidFill>
                  <a:schemeClr val="bg1"/>
                </a:solidFill>
              </a:rPr>
              <a:t>When we design database artefacts, at times we have many similar objects and their data types. Instead of hardcoding the type as primitive type, it is recommended to create custom data types. Using custom data type increase reusability and reduce maintenance.</a:t>
            </a:r>
          </a:p>
          <a:p>
            <a:r>
              <a:rPr lang="en-US" sz="2000" dirty="0">
                <a:solidFill>
                  <a:schemeClr val="bg1"/>
                </a:solidFill>
              </a:rPr>
              <a:t>When we create a separate CDS file for reuse purpose and consume it. This file contain types, enumerators and aspects.</a:t>
            </a:r>
          </a:p>
          <a:p>
            <a:endParaRPr lang="en-US" sz="2000" dirty="0">
              <a:solidFill>
                <a:schemeClr val="bg1"/>
              </a:solidFill>
            </a:endParaRPr>
          </a:p>
          <a:p>
            <a:r>
              <a:rPr lang="en-US" sz="2000" dirty="0">
                <a:solidFill>
                  <a:schemeClr val="bg1"/>
                </a:solidFill>
              </a:rPr>
              <a:t>Every project would need some common aspects and types related to primary key generation, admin data (created by, created on, changed by, changed on) – temporal, Currency.</a:t>
            </a:r>
          </a:p>
          <a:p>
            <a:endParaRPr lang="en-IN" sz="2000" dirty="0">
              <a:solidFill>
                <a:schemeClr val="bg1"/>
              </a:solidFill>
            </a:endParaRPr>
          </a:p>
          <a:p>
            <a:r>
              <a:rPr lang="en-IN" sz="2000" dirty="0">
                <a:solidFill>
                  <a:schemeClr val="bg1"/>
                </a:solidFill>
              </a:rPr>
              <a:t>Aspect (structures in </a:t>
            </a:r>
            <a:r>
              <a:rPr lang="en-IN" sz="2000" dirty="0" err="1">
                <a:solidFill>
                  <a:schemeClr val="bg1"/>
                </a:solidFill>
              </a:rPr>
              <a:t>abap</a:t>
            </a:r>
            <a:r>
              <a:rPr lang="en-IN" sz="2000" dirty="0">
                <a:solidFill>
                  <a:schemeClr val="bg1"/>
                </a:solidFill>
              </a:rPr>
              <a:t>) is combination of many fields.</a:t>
            </a:r>
          </a:p>
        </p:txBody>
      </p:sp>
    </p:spTree>
    <p:extLst>
      <p:ext uri="{BB962C8B-B14F-4D97-AF65-F5344CB8AC3E}">
        <p14:creationId xmlns:p14="http://schemas.microsoft.com/office/powerpoint/2010/main" val="33397932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E71F3-7223-6535-6631-0650302FAD8B}"/>
              </a:ext>
            </a:extLst>
          </p:cNvPr>
          <p:cNvSpPr>
            <a:spLocks noGrp="1"/>
          </p:cNvSpPr>
          <p:nvPr>
            <p:ph type="title"/>
          </p:nvPr>
        </p:nvSpPr>
        <p:spPr/>
        <p:txBody>
          <a:bodyPr/>
          <a:lstStyle/>
          <a:p>
            <a:r>
              <a:rPr lang="en-US" dirty="0"/>
              <a:t>Introduction to CDS Views</a:t>
            </a:r>
          </a:p>
        </p:txBody>
      </p:sp>
      <p:sp>
        <p:nvSpPr>
          <p:cNvPr id="4" name="TextBox 3">
            <a:extLst>
              <a:ext uri="{FF2B5EF4-FFF2-40B4-BE49-F238E27FC236}">
                <a16:creationId xmlns:a16="http://schemas.microsoft.com/office/drawing/2014/main" id="{F93B2F40-10EC-C526-D717-5D1C55DAF2E7}"/>
              </a:ext>
            </a:extLst>
          </p:cNvPr>
          <p:cNvSpPr txBox="1"/>
          <p:nvPr/>
        </p:nvSpPr>
        <p:spPr>
          <a:xfrm>
            <a:off x="130881" y="784925"/>
            <a:ext cx="11927061" cy="2862322"/>
          </a:xfrm>
          <a:prstGeom prst="rect">
            <a:avLst/>
          </a:prstGeom>
          <a:noFill/>
        </p:spPr>
        <p:txBody>
          <a:bodyPr wrap="square">
            <a:spAutoFit/>
          </a:bodyPr>
          <a:lstStyle/>
          <a:p>
            <a:r>
              <a:rPr lang="en-US" sz="2000" dirty="0">
                <a:solidFill>
                  <a:schemeClr val="bg1"/>
                </a:solidFill>
              </a:rPr>
              <a:t>1. Usually we have all our data distributed across multiple tables, and if we need to get this data out, we need to write complex queries with joins. It becomes very complex to handle the maintenance of these large queries. Views will simplify the consumption and make it easy to maintenance.</a:t>
            </a:r>
          </a:p>
          <a:p>
            <a:r>
              <a:rPr lang="en-US" sz="2000" dirty="0">
                <a:solidFill>
                  <a:schemeClr val="bg1"/>
                </a:solidFill>
              </a:rPr>
              <a:t>2. We can perform operations like aggregation on the view.</a:t>
            </a:r>
          </a:p>
          <a:p>
            <a:r>
              <a:rPr lang="en-US" sz="2000" dirty="0">
                <a:solidFill>
                  <a:schemeClr val="bg1"/>
                </a:solidFill>
              </a:rPr>
              <a:t>3. Security</a:t>
            </a:r>
          </a:p>
          <a:p>
            <a:r>
              <a:rPr lang="en-US" sz="2000" dirty="0">
                <a:solidFill>
                  <a:schemeClr val="bg1"/>
                </a:solidFill>
              </a:rPr>
              <a:t>4. CDS views are also the contracts for data consumption</a:t>
            </a:r>
          </a:p>
          <a:p>
            <a:r>
              <a:rPr lang="en-US" sz="2000" dirty="0">
                <a:solidFill>
                  <a:schemeClr val="bg1"/>
                </a:solidFill>
              </a:rPr>
              <a:t>5. They include annotations which drive functionality.</a:t>
            </a:r>
          </a:p>
          <a:p>
            <a:r>
              <a:rPr lang="en-US" sz="2000" dirty="0">
                <a:solidFill>
                  <a:schemeClr val="bg1"/>
                </a:solidFill>
              </a:rPr>
              <a:t>6. View provide lose coupling to load data. Whereas when we use queries and joins, they are always tight coupling.</a:t>
            </a:r>
            <a:endParaRPr lang="en-IN" sz="2000" dirty="0">
              <a:solidFill>
                <a:schemeClr val="bg1"/>
              </a:solidFill>
            </a:endParaRPr>
          </a:p>
        </p:txBody>
      </p:sp>
      <p:sp>
        <p:nvSpPr>
          <p:cNvPr id="5" name="Rectangle 4">
            <a:extLst>
              <a:ext uri="{FF2B5EF4-FFF2-40B4-BE49-F238E27FC236}">
                <a16:creationId xmlns:a16="http://schemas.microsoft.com/office/drawing/2014/main" id="{F0D287AE-20B2-4CAD-0046-02C2B69712EA}"/>
              </a:ext>
            </a:extLst>
          </p:cNvPr>
          <p:cNvSpPr/>
          <p:nvPr/>
        </p:nvSpPr>
        <p:spPr>
          <a:xfrm>
            <a:off x="5446340" y="3789040"/>
            <a:ext cx="1800200" cy="2160240"/>
          </a:xfrm>
          <a:prstGeom prst="rect">
            <a:avLst/>
          </a:prstGeom>
          <a:solidFill>
            <a:srgbClr val="92D05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Purchase order</a:t>
            </a:r>
          </a:p>
        </p:txBody>
      </p:sp>
      <p:sp>
        <p:nvSpPr>
          <p:cNvPr id="6" name="Arrow: Right 5">
            <a:extLst>
              <a:ext uri="{FF2B5EF4-FFF2-40B4-BE49-F238E27FC236}">
                <a16:creationId xmlns:a16="http://schemas.microsoft.com/office/drawing/2014/main" id="{2000159E-ACDA-6DBB-DC5F-1AC1515897A5}"/>
              </a:ext>
            </a:extLst>
          </p:cNvPr>
          <p:cNvSpPr/>
          <p:nvPr/>
        </p:nvSpPr>
        <p:spPr>
          <a:xfrm>
            <a:off x="7179342" y="4213674"/>
            <a:ext cx="1944216" cy="936104"/>
          </a:xfrm>
          <a:prstGeom prst="rightArrow">
            <a:avLst/>
          </a:prstGeom>
          <a:solidFill>
            <a:srgbClr val="92D05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Load what is needed</a:t>
            </a:r>
          </a:p>
        </p:txBody>
      </p:sp>
      <p:sp>
        <p:nvSpPr>
          <p:cNvPr id="7" name="Rectangle 6">
            <a:extLst>
              <a:ext uri="{FF2B5EF4-FFF2-40B4-BE49-F238E27FC236}">
                <a16:creationId xmlns:a16="http://schemas.microsoft.com/office/drawing/2014/main" id="{F745815F-5E17-7D9A-42DC-0AA3D9422CB3}"/>
              </a:ext>
            </a:extLst>
          </p:cNvPr>
          <p:cNvSpPr/>
          <p:nvPr/>
        </p:nvSpPr>
        <p:spPr>
          <a:xfrm>
            <a:off x="9123558" y="3853634"/>
            <a:ext cx="2664296" cy="1872208"/>
          </a:xfrm>
          <a:prstGeom prst="rect">
            <a:avLst/>
          </a:prstGeom>
          <a:solidFill>
            <a:srgbClr val="92D05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Purchase order items</a:t>
            </a:r>
          </a:p>
        </p:txBody>
      </p:sp>
      <p:sp>
        <p:nvSpPr>
          <p:cNvPr id="8" name="Rectangle 7">
            <a:extLst>
              <a:ext uri="{FF2B5EF4-FFF2-40B4-BE49-F238E27FC236}">
                <a16:creationId xmlns:a16="http://schemas.microsoft.com/office/drawing/2014/main" id="{24B7DD77-5F7E-3374-6366-C97D3A0D58E3}"/>
              </a:ext>
            </a:extLst>
          </p:cNvPr>
          <p:cNvSpPr/>
          <p:nvPr/>
        </p:nvSpPr>
        <p:spPr>
          <a:xfrm>
            <a:off x="189756" y="3789040"/>
            <a:ext cx="4968552" cy="2284035"/>
          </a:xfrm>
          <a:prstGeom prst="rect">
            <a:avLst/>
          </a:prstGeom>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Exercise:</a:t>
            </a:r>
          </a:p>
          <a:p>
            <a:r>
              <a:rPr lang="en-US" dirty="0">
                <a:hlinkClick r:id="rId2"/>
              </a:rPr>
              <a:t>https://github.com/soyuztechnologies/SAP_BTP_Training_CLD200/blob/master/Day%203/01%20db/01db/CDSViews.cds</a:t>
            </a:r>
            <a:endParaRPr lang="en-US" dirty="0"/>
          </a:p>
        </p:txBody>
      </p:sp>
      <mc:AlternateContent xmlns:mc="http://schemas.openxmlformats.org/markup-compatibility/2006" xmlns:p14="http://schemas.microsoft.com/office/powerpoint/2010/main">
        <mc:Choice Requires="p14">
          <p:contentPart p14:bwMode="auto" r:id="rId3">
            <p14:nvContentPartPr>
              <p14:cNvPr id="3" name="Ink 2">
                <a:extLst>
                  <a:ext uri="{FF2B5EF4-FFF2-40B4-BE49-F238E27FC236}">
                    <a16:creationId xmlns:a16="http://schemas.microsoft.com/office/drawing/2014/main" id="{331A7E74-7ACA-2784-0EF5-08882F676870}"/>
                  </a:ext>
                </a:extLst>
              </p14:cNvPr>
              <p14:cNvContentPartPr/>
              <p14:nvPr/>
            </p14:nvContentPartPr>
            <p14:xfrm>
              <a:off x="6881032" y="5334692"/>
              <a:ext cx="360" cy="360"/>
            </p14:xfrm>
          </p:contentPart>
        </mc:Choice>
        <mc:Fallback xmlns="">
          <p:pic>
            <p:nvPicPr>
              <p:cNvPr id="3" name="Ink 2">
                <a:extLst>
                  <a:ext uri="{FF2B5EF4-FFF2-40B4-BE49-F238E27FC236}">
                    <a16:creationId xmlns:a16="http://schemas.microsoft.com/office/drawing/2014/main" id="{331A7E74-7ACA-2784-0EF5-08882F676870}"/>
                  </a:ext>
                </a:extLst>
              </p:cNvPr>
              <p:cNvPicPr/>
              <p:nvPr/>
            </p:nvPicPr>
            <p:blipFill>
              <a:blip r:embed="rId4"/>
              <a:stretch>
                <a:fillRect/>
              </a:stretch>
            </p:blipFill>
            <p:spPr>
              <a:xfrm>
                <a:off x="6872032" y="5326052"/>
                <a:ext cx="18000" cy="18000"/>
              </a:xfrm>
              <a:prstGeom prst="rect">
                <a:avLst/>
              </a:prstGeom>
            </p:spPr>
          </p:pic>
        </mc:Fallback>
      </mc:AlternateContent>
    </p:spTree>
    <p:extLst>
      <p:ext uri="{BB962C8B-B14F-4D97-AF65-F5344CB8AC3E}">
        <p14:creationId xmlns:p14="http://schemas.microsoft.com/office/powerpoint/2010/main" val="3839630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fade">
                                      <p:cBhvr>
                                        <p:cTn id="14" dur="1000"/>
                                        <p:tgtEl>
                                          <p:spTgt spid="4">
                                            <p:txEl>
                                              <p:pRg st="1" end="1"/>
                                            </p:txEl>
                                          </p:spTgt>
                                        </p:tgtEl>
                                      </p:cBhvr>
                                    </p:animEffect>
                                    <p:anim calcmode="lin" valueType="num">
                                      <p:cBhvr>
                                        <p:cTn id="15"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animEffect transition="in" filter="fade">
                                      <p:cBhvr>
                                        <p:cTn id="21" dur="1000"/>
                                        <p:tgtEl>
                                          <p:spTgt spid="4">
                                            <p:txEl>
                                              <p:pRg st="2" end="2"/>
                                            </p:txEl>
                                          </p:spTgt>
                                        </p:tgtEl>
                                      </p:cBhvr>
                                    </p:animEffect>
                                    <p:anim calcmode="lin" valueType="num">
                                      <p:cBhvr>
                                        <p:cTn id="22"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4">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4">
                                            <p:txEl>
                                              <p:pRg st="3" end="3"/>
                                            </p:txEl>
                                          </p:spTgt>
                                        </p:tgtEl>
                                        <p:attrNameLst>
                                          <p:attrName>style.visibility</p:attrName>
                                        </p:attrNameLst>
                                      </p:cBhvr>
                                      <p:to>
                                        <p:strVal val="visible"/>
                                      </p:to>
                                    </p:set>
                                    <p:animEffect transition="in" filter="fade">
                                      <p:cBhvr>
                                        <p:cTn id="28" dur="1000"/>
                                        <p:tgtEl>
                                          <p:spTgt spid="4">
                                            <p:txEl>
                                              <p:pRg st="3" end="3"/>
                                            </p:txEl>
                                          </p:spTgt>
                                        </p:tgtEl>
                                      </p:cBhvr>
                                    </p:animEffect>
                                    <p:anim calcmode="lin" valueType="num">
                                      <p:cBhvr>
                                        <p:cTn id="29"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4">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4">
                                            <p:txEl>
                                              <p:pRg st="4" end="4"/>
                                            </p:txEl>
                                          </p:spTgt>
                                        </p:tgtEl>
                                        <p:attrNameLst>
                                          <p:attrName>style.visibility</p:attrName>
                                        </p:attrNameLst>
                                      </p:cBhvr>
                                      <p:to>
                                        <p:strVal val="visible"/>
                                      </p:to>
                                    </p:set>
                                    <p:animEffect transition="in" filter="fade">
                                      <p:cBhvr>
                                        <p:cTn id="35" dur="1000"/>
                                        <p:tgtEl>
                                          <p:spTgt spid="4">
                                            <p:txEl>
                                              <p:pRg st="4" end="4"/>
                                            </p:txEl>
                                          </p:spTgt>
                                        </p:tgtEl>
                                      </p:cBhvr>
                                    </p:animEffect>
                                    <p:anim calcmode="lin" valueType="num">
                                      <p:cBhvr>
                                        <p:cTn id="36"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4">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nodeType="clickEffect">
                                  <p:stCondLst>
                                    <p:cond delay="0"/>
                                  </p:stCondLst>
                                  <p:childTnLst>
                                    <p:set>
                                      <p:cBhvr>
                                        <p:cTn id="41" dur="1" fill="hold">
                                          <p:stCondLst>
                                            <p:cond delay="0"/>
                                          </p:stCondLst>
                                        </p:cTn>
                                        <p:tgtEl>
                                          <p:spTgt spid="4">
                                            <p:txEl>
                                              <p:pRg st="5" end="5"/>
                                            </p:txEl>
                                          </p:spTgt>
                                        </p:tgtEl>
                                        <p:attrNameLst>
                                          <p:attrName>style.visibility</p:attrName>
                                        </p:attrNameLst>
                                      </p:cBhvr>
                                      <p:to>
                                        <p:strVal val="visible"/>
                                      </p:to>
                                    </p:set>
                                    <p:animEffect transition="in" filter="fade">
                                      <p:cBhvr>
                                        <p:cTn id="42" dur="1000"/>
                                        <p:tgtEl>
                                          <p:spTgt spid="4">
                                            <p:txEl>
                                              <p:pRg st="5" end="5"/>
                                            </p:txEl>
                                          </p:spTgt>
                                        </p:tgtEl>
                                      </p:cBhvr>
                                    </p:animEffect>
                                    <p:anim calcmode="lin" valueType="num">
                                      <p:cBhvr>
                                        <p:cTn id="43" dur="1000" fill="hold"/>
                                        <p:tgtEl>
                                          <p:spTgt spid="4">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4">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Hands on: Service creation</a:t>
            </a:r>
            <a:endParaRPr lang="en-US" dirty="0"/>
          </a:p>
        </p:txBody>
      </p:sp>
      <p:pic>
        <p:nvPicPr>
          <p:cNvPr id="2050" name="Picture 2" descr="Page 12 | Clean Input Images - Free Download on Freepik">
            <a:extLst>
              <a:ext uri="{FF2B5EF4-FFF2-40B4-BE49-F238E27FC236}">
                <a16:creationId xmlns:a16="http://schemas.microsoft.com/office/drawing/2014/main" id="{BAA36297-F35D-C0B5-2012-493056F981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46140" y="2996952"/>
            <a:ext cx="3374505" cy="337450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35E34EB-DCB8-C785-1853-C655B5BF6A95}"/>
              </a:ext>
            </a:extLst>
          </p:cNvPr>
          <p:cNvSpPr txBox="1"/>
          <p:nvPr/>
        </p:nvSpPr>
        <p:spPr>
          <a:xfrm>
            <a:off x="189756" y="980728"/>
            <a:ext cx="11737304" cy="1200329"/>
          </a:xfrm>
          <a:prstGeom prst="rect">
            <a:avLst/>
          </a:prstGeom>
          <a:noFill/>
          <a:ln>
            <a:solidFill>
              <a:schemeClr val="bg1"/>
            </a:solidFill>
          </a:ln>
        </p:spPr>
        <p:txBody>
          <a:bodyPr wrap="square" rtlCol="0">
            <a:spAutoFit/>
          </a:bodyPr>
          <a:lstStyle/>
          <a:p>
            <a:r>
              <a:rPr lang="en-US" dirty="0">
                <a:solidFill>
                  <a:schemeClr val="bg1"/>
                </a:solidFill>
              </a:rPr>
              <a:t>Solution</a:t>
            </a:r>
          </a:p>
          <a:p>
            <a:r>
              <a:rPr lang="en-US" dirty="0">
                <a:solidFill>
                  <a:schemeClr val="bg1"/>
                </a:solidFill>
                <a:hlinkClick r:id="rId3"/>
              </a:rPr>
              <a:t>https://github.com/soyuztechnologies/SAP_BTP_Training_CLD200/blob/master/Day%203/02%20srv.zip</a:t>
            </a:r>
            <a:endParaRPr lang="en-US" dirty="0">
              <a:solidFill>
                <a:schemeClr val="bg1"/>
              </a:solidFill>
            </a:endParaRPr>
          </a:p>
        </p:txBody>
      </p:sp>
    </p:spTree>
    <p:extLst>
      <p:ext uri="{BB962C8B-B14F-4D97-AF65-F5344CB8AC3E}">
        <p14:creationId xmlns:p14="http://schemas.microsoft.com/office/powerpoint/2010/main" val="38530889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E1937-8B4B-AB16-1953-F007EE5EF58A}"/>
              </a:ext>
            </a:extLst>
          </p:cNvPr>
          <p:cNvSpPr>
            <a:spLocks noGrp="1"/>
          </p:cNvSpPr>
          <p:nvPr>
            <p:ph type="title"/>
          </p:nvPr>
        </p:nvSpPr>
        <p:spPr/>
        <p:txBody>
          <a:bodyPr/>
          <a:lstStyle/>
          <a:p>
            <a:r>
              <a:rPr lang="en-US" dirty="0"/>
              <a:t>Testing Services in BAS</a:t>
            </a:r>
          </a:p>
        </p:txBody>
      </p:sp>
      <p:pic>
        <p:nvPicPr>
          <p:cNvPr id="1026" name="Picture 2" descr="Web APIs, Web Services, &amp; Microservices: Basics &amp; Differences">
            <a:extLst>
              <a:ext uri="{FF2B5EF4-FFF2-40B4-BE49-F238E27FC236}">
                <a16:creationId xmlns:a16="http://schemas.microsoft.com/office/drawing/2014/main" id="{5863E59F-FEA2-F1F7-81D5-92DF06FB8EA7}"/>
              </a:ext>
            </a:extLst>
          </p:cNvPr>
          <p:cNvPicPr>
            <a:picLocks noChangeAspect="1" noChangeArrowheads="1"/>
          </p:cNvPicPr>
          <p:nvPr/>
        </p:nvPicPr>
        <p:blipFill>
          <a:blip r:embed="rId2">
            <a:lum bright="70000" contrast="-70000"/>
            <a:extLst>
              <a:ext uri="{28A0092B-C50C-407E-A947-70E740481C1C}">
                <a14:useLocalDpi xmlns:a14="http://schemas.microsoft.com/office/drawing/2010/main" val="0"/>
              </a:ext>
            </a:extLst>
          </a:blip>
          <a:srcRect/>
          <a:stretch>
            <a:fillRect/>
          </a:stretch>
        </p:blipFill>
        <p:spPr bwMode="auto">
          <a:xfrm>
            <a:off x="405780" y="1124744"/>
            <a:ext cx="7929352" cy="374441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EFFAC21C-5D87-BA73-AE11-24E807D9A8A3}"/>
              </a:ext>
            </a:extLst>
          </p:cNvPr>
          <p:cNvSpPr/>
          <p:nvPr/>
        </p:nvSpPr>
        <p:spPr>
          <a:xfrm>
            <a:off x="4726260" y="4066961"/>
            <a:ext cx="6984776" cy="2284035"/>
          </a:xfrm>
          <a:prstGeom prst="rect">
            <a:avLst/>
          </a:prstGeom>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Exercise:</a:t>
            </a:r>
          </a:p>
          <a:p>
            <a:r>
              <a:rPr lang="en-US" dirty="0">
                <a:hlinkClick r:id="rId3"/>
              </a:rPr>
              <a:t>https://github.com/soyuztechnologies/SAP_BTP_Training_CLD200/blob/master/Day%203/02srv/tester.http</a:t>
            </a:r>
            <a:endParaRPr lang="en-US" dirty="0"/>
          </a:p>
          <a:p>
            <a:endParaRPr lang="en-US" dirty="0"/>
          </a:p>
        </p:txBody>
      </p:sp>
    </p:spTree>
    <p:extLst>
      <p:ext uri="{BB962C8B-B14F-4D97-AF65-F5344CB8AC3E}">
        <p14:creationId xmlns:p14="http://schemas.microsoft.com/office/powerpoint/2010/main" val="12224796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ED1B55-C69F-0885-3A9B-69BAF965655E}"/>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28648133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Placeholder 11">
            <a:extLst>
              <a:ext uri="{FF2B5EF4-FFF2-40B4-BE49-F238E27FC236}">
                <a16:creationId xmlns:a16="http://schemas.microsoft.com/office/drawing/2014/main" id="{420F5850-2D59-4C25-ADFF-E9013C5A6AAE}"/>
              </a:ext>
            </a:extLst>
          </p:cNvPr>
          <p:cNvPicPr>
            <a:picLocks noGrp="1" noChangeAspect="1"/>
          </p:cNvPicPr>
          <p:nvPr>
            <p:ph type="pic" sz="quarter" idx="14"/>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rcRect l="10185" r="10185"/>
          <a:stretch>
            <a:fillRect/>
          </a:stretch>
        </p:blipFill>
        <p:spPr/>
      </p:pic>
      <p:sp>
        <p:nvSpPr>
          <p:cNvPr id="4"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5" name="TextBox 4">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chemeClr val="accent3"/>
                </a:solidFill>
                <a:effectLst/>
              </a:rPr>
              <a:t>What We</a:t>
            </a:r>
            <a:r>
              <a:rPr lang="en-IN" sz="4000" b="1" i="0" dirty="0">
                <a:solidFill>
                  <a:schemeClr val="accent1"/>
                </a:solidFill>
                <a:effectLst/>
              </a:rPr>
              <a:t> </a:t>
            </a:r>
            <a:r>
              <a:rPr lang="en-IN" sz="4000" b="1" i="0" dirty="0">
                <a:solidFill>
                  <a:schemeClr val="accent2"/>
                </a:solidFill>
                <a:effectLst/>
                <a:latin typeface="Segoe UI Light" panose="020B0502040204020203" pitchFamily="34" charset="0"/>
                <a:cs typeface="Segoe UI Light" panose="020B0502040204020203" pitchFamily="34" charset="0"/>
              </a:rPr>
              <a:t>Did</a:t>
            </a:r>
            <a:endParaRPr lang="en-IN" sz="4000" b="1" dirty="0">
              <a:solidFill>
                <a:schemeClr val="accent2"/>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7" name="Group 6">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8"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7715616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chemeClr val="bg1"/>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Day 6</a:t>
            </a:r>
            <a:endParaRPr lang="en-US" sz="5400" b="1" dirty="0">
              <a:solidFill>
                <a:schemeClr val="accent2"/>
              </a:solidFill>
              <a:latin typeface="Segoe UI" panose="020B0502040204020203" pitchFamily="34" charset="0"/>
              <a:ea typeface="Calibri Light" charset="0"/>
              <a:cs typeface="Segoe UI" panose="020B0502040204020203" pitchFamily="34" charset="0"/>
            </a:endParaRPr>
          </a:p>
        </p:txBody>
      </p:sp>
      <p:cxnSp>
        <p:nvCxnSpPr>
          <p:cNvPr id="6" name="Straight Connector 5">
            <a:extLst>
              <a:ext uri="{FF2B5EF4-FFF2-40B4-BE49-F238E27FC236}">
                <a16:creationId xmlns:a16="http://schemas.microsoft.com/office/drawing/2014/main" id="{3CB110C8-9FFD-4804-BDCA-1C9EB581BD4D}"/>
              </a:ext>
            </a:extLst>
          </p:cNvPr>
          <p:cNvCxnSpPr>
            <a:cxnSpLocks/>
          </p:cNvCxnSpPr>
          <p:nvPr/>
        </p:nvCxnSpPr>
        <p:spPr>
          <a:xfrm flipV="1">
            <a:off x="1300694" y="-21772"/>
            <a:ext cx="0" cy="3284984"/>
          </a:xfrm>
          <a:prstGeom prst="line">
            <a:avLst/>
          </a:prstGeom>
          <a:ln w="63500" cap="rnd">
            <a:gradFill flip="none" rotWithShape="1">
              <a:gsLst>
                <a:gs pos="0">
                  <a:schemeClr val="accent2"/>
                </a:gs>
                <a:gs pos="100000">
                  <a:schemeClr val="accent3"/>
                </a:gs>
              </a:gsLst>
              <a:lin ang="16200000" scaled="1"/>
              <a:tileRect/>
            </a:gra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14" name="Oval 13">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2" name="Oval 11">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0" name="Oval 9">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pic>
        <p:nvPicPr>
          <p:cNvPr id="16" name="Picture 2" descr="E:\cloud\drive\websites\slidemodel\logo\sebastian\slidemodel-logo-trans.png">
            <a:extLst>
              <a:ext uri="{FF2B5EF4-FFF2-40B4-BE49-F238E27FC236}">
                <a16:creationId xmlns:a16="http://schemas.microsoft.com/office/drawing/2014/main" id="{59E8070B-51C3-4A5F-B241-A7744B4F61DD}"/>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638418" y="6398156"/>
            <a:ext cx="1432658" cy="271204"/>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solidFill>
              <a:schemeClr val="accent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t>www.anubhavtrainings.com</a:t>
            </a:r>
          </a:p>
        </p:txBody>
      </p:sp>
    </p:spTree>
    <p:extLst>
      <p:ext uri="{BB962C8B-B14F-4D97-AF65-F5344CB8AC3E}">
        <p14:creationId xmlns:p14="http://schemas.microsoft.com/office/powerpoint/2010/main" val="18420444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pitchFamily="34" charset="0"/>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defTabSz="913943">
              <a:defRPr/>
            </a:pPr>
            <a:r>
              <a:rPr lang="en-US" sz="1799" b="1" dirty="0">
                <a:solidFill>
                  <a:srgbClr val="44546A"/>
                </a:solidFill>
                <a:latin typeface="Arial" panose="020B0604020202020204" pitchFamily="34" charset="0"/>
                <a:cs typeface="Arial" panose="020B0604020202020204" pitchFamily="34" charset="0"/>
              </a:rPr>
              <a:t>Contact us today!</a:t>
            </a:r>
          </a:p>
          <a:p>
            <a:pPr defTabSz="913943">
              <a:defRPr/>
            </a:pPr>
            <a:r>
              <a:rPr lang="en-US" sz="1799" dirty="0">
                <a:solidFill>
                  <a:srgbClr val="44546A"/>
                </a:solidFill>
                <a:latin typeface="Arial" panose="020B0604020202020204"/>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algn="ctr" defTabSz="914126">
              <a:defRPr/>
            </a:pPr>
            <a:r>
              <a:rPr lang="en-IN" sz="1200" spc="50" dirty="0">
                <a:solidFill>
                  <a:srgbClr val="FFFFFF">
                    <a:lumMod val="95000"/>
                  </a:srgbClr>
                </a:solidFill>
                <a:latin typeface="Arial" panose="020B0604020202020204" pitchFamily="34" charset="0"/>
                <a:cs typeface="Arial" panose="020B0604020202020204" pitchFamily="34" charset="0"/>
              </a:rPr>
              <a:t>We build the workforce of the future.</a:t>
            </a:r>
            <a:endParaRPr lang="en-US" sz="1200" spc="50" dirty="0">
              <a:solidFill>
                <a:srgbClr val="FFFFFF">
                  <a:lumMod val="95000"/>
                </a:srgbClr>
              </a:solidFill>
              <a:latin typeface="Arial" panose="020B0604020202020204" pitchFamily="34" charset="0"/>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250+ </a:t>
            </a:r>
          </a:p>
          <a:p>
            <a:pPr algn="ctr" defTabSz="914126">
              <a:defRPr/>
            </a:pPr>
            <a:r>
              <a:rPr lang="en-US" sz="1200" dirty="0">
                <a:solidFill>
                  <a:srgbClr val="FFFFFF"/>
                </a:solidFill>
                <a:latin typeface="Arial" panose="020B0604020202020204"/>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40,000+</a:t>
            </a:r>
          </a:p>
          <a:p>
            <a:pPr algn="ctr" defTabSz="914126">
              <a:defRPr/>
            </a:pPr>
            <a:r>
              <a:rPr lang="en-US" sz="1200" dirty="0">
                <a:solidFill>
                  <a:srgbClr val="FFFFFF"/>
                </a:solidFill>
                <a:latin typeface="Arial" panose="020B0604020202020204"/>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25000+ </a:t>
            </a:r>
          </a:p>
          <a:p>
            <a:pPr algn="ctr" defTabSz="914126">
              <a:defRPr/>
            </a:pPr>
            <a:r>
              <a:rPr lang="en-US" sz="1200" dirty="0">
                <a:solidFill>
                  <a:srgbClr val="FFFFFF"/>
                </a:solidFill>
                <a:latin typeface="Arial" panose="020B0604020202020204"/>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algn="ctr" defTabSz="914126">
              <a:defRPr/>
            </a:pPr>
            <a:r>
              <a:rPr lang="en-US" sz="1999" b="1" dirty="0">
                <a:solidFill>
                  <a:srgbClr val="FFFFFF"/>
                </a:solidFill>
                <a:latin typeface="Arial" panose="020B0604020202020204" pitchFamily="34" charset="0"/>
                <a:cs typeface="Arial" panose="020B0604020202020204" pitchFamily="34" charset="0"/>
              </a:rPr>
              <a:t>We’re committed to empower you to be</a:t>
            </a:r>
          </a:p>
          <a:p>
            <a:pPr algn="ctr" defTabSz="914126">
              <a:defRPr/>
            </a:pPr>
            <a:r>
              <a:rPr lang="en-US" sz="1999" b="1" dirty="0">
                <a:solidFill>
                  <a:srgbClr val="FFFFFF"/>
                </a:solidFill>
                <a:latin typeface="Arial" panose="020B0604020202020204" pitchFamily="34" charset="0"/>
                <a:cs typeface="Arial" panose="020B0604020202020204" pitchFamily="34" charset="0"/>
              </a:rPr>
              <a:t> </a:t>
            </a:r>
            <a:r>
              <a:rPr lang="en-US" sz="2799" b="1" dirty="0">
                <a:solidFill>
                  <a:srgbClr val="2AC6D1">
                    <a:lumMod val="40000"/>
                    <a:lumOff val="60000"/>
                  </a:srgbClr>
                </a:solidFill>
                <a:latin typeface="Arial" panose="020B0604020202020204" pitchFamily="34" charset="0"/>
                <a:cs typeface="Arial" panose="020B0604020202020204" pitchFamily="34" charset="0"/>
              </a:rPr>
              <a:t>#</a:t>
            </a:r>
            <a:r>
              <a:rPr lang="en-US" sz="2799" b="1" dirty="0" err="1">
                <a:solidFill>
                  <a:srgbClr val="2AC6D1">
                    <a:lumMod val="40000"/>
                    <a:lumOff val="60000"/>
                  </a:srgbClr>
                </a:solidFill>
                <a:latin typeface="Arial" panose="020B0604020202020204" pitchFamily="34" charset="0"/>
                <a:cs typeface="Arial" panose="020B0604020202020204" pitchFamily="34" charset="0"/>
              </a:rPr>
              <a:t>FutureReady</a:t>
            </a:r>
            <a:r>
              <a:rPr lang="en-US" sz="2799" b="1" dirty="0">
                <a:solidFill>
                  <a:srgbClr val="2AC6D1">
                    <a:lumMod val="40000"/>
                    <a:lumOff val="60000"/>
                  </a:srgbClr>
                </a:solidFill>
                <a:latin typeface="Arial" panose="020B0604020202020204" pitchFamily="34" charset="0"/>
                <a:cs typeface="Arial" panose="020B0604020202020204" pitchFamily="34" charset="0"/>
              </a:rPr>
              <a:t> </a:t>
            </a:r>
          </a:p>
          <a:p>
            <a:pPr algn="ctr" defTabSz="914126">
              <a:defRPr/>
            </a:pPr>
            <a:r>
              <a:rPr lang="en-US" sz="1999" b="1" dirty="0">
                <a:solidFill>
                  <a:srgbClr val="FFFFFF"/>
                </a:solidFill>
                <a:latin typeface="Arial" panose="020B0604020202020204" pitchFamily="34" charset="0"/>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defTabSz="914126">
              <a:defRPr/>
            </a:pPr>
            <a:r>
              <a:rPr lang="en-US" sz="1999" b="1" spc="100" dirty="0">
                <a:solidFill>
                  <a:srgbClr val="F97700"/>
                </a:solidFill>
                <a:latin typeface="Arial" panose="020B0604020202020204"/>
              </a:rPr>
              <a:t>FREE WEBINARS </a:t>
            </a:r>
          </a:p>
          <a:p>
            <a:pPr defTabSz="914126">
              <a:defRPr/>
            </a:pPr>
            <a:r>
              <a:rPr lang="en-US" sz="1600" i="1" dirty="0">
                <a:solidFill>
                  <a:srgbClr val="F97700"/>
                </a:solidFill>
                <a:latin typeface="Arial" panose="020B0604020202020204"/>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dirty="0">
              <a:solidFill>
                <a:srgbClr val="FFFFFF"/>
              </a:solidFill>
              <a:latin typeface="Arial" panose="020B0604020202020204"/>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defTabSz="914126">
              <a:defRPr/>
            </a:pPr>
            <a:r>
              <a:rPr lang="en-US" sz="1799" b="1" dirty="0">
                <a:solidFill>
                  <a:srgbClr val="44546A"/>
                </a:solidFill>
                <a:latin typeface="Arial" panose="020B0604020202020204"/>
              </a:rPr>
              <a:t>Enroll Now!</a:t>
            </a:r>
            <a:endParaRPr lang="en-US" sz="1799" b="1" dirty="0">
              <a:solidFill>
                <a:srgbClr val="000000"/>
              </a:solidFill>
              <a:latin typeface="Arial" panose="020B0604020202020204"/>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6572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0">
  <p:cSld>
    <p:bg>
      <p:bgPr>
        <a:solidFill>
          <a:schemeClr val="accent1"/>
        </a:solidFill>
        <a:effectLst/>
      </p:bgPr>
    </p:bg>
    <p:spTree>
      <p:nvGrpSpPr>
        <p:cNvPr id="1" name=""/>
        <p:cNvGrpSpPr/>
        <p:nvPr/>
      </p:nvGrpSpPr>
      <p:grpSpPr>
        <a:xfrm>
          <a:off x="0" y="0"/>
          <a:ext cx="0" cy="0"/>
          <a:chOff x="0" y="0"/>
          <a:chExt cx="0" cy="0"/>
        </a:xfrm>
      </p:grpSpPr>
      <p:sp>
        <p:nvSpPr>
          <p:cNvPr id="19" name="Rectangle: Rounded Corners 18">
            <a:extLst>
              <a:ext uri="{FF2B5EF4-FFF2-40B4-BE49-F238E27FC236}">
                <a16:creationId xmlns:a16="http://schemas.microsoft.com/office/drawing/2014/main" id="{44CCC398-65A7-46D8-A239-10DEF44C09D8}"/>
              </a:ext>
            </a:extLst>
          </p:cNvPr>
          <p:cNvSpPr/>
          <p:nvPr/>
        </p:nvSpPr>
        <p:spPr>
          <a:xfrm>
            <a:off x="581024" y="1338826"/>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1125" name="Rectangle: Rounded Corners 1124">
            <a:extLst>
              <a:ext uri="{FF2B5EF4-FFF2-40B4-BE49-F238E27FC236}">
                <a16:creationId xmlns:a16="http://schemas.microsoft.com/office/drawing/2014/main" id="{DD83FDAB-84C0-4E56-A834-5F4759E4D1B1}"/>
              </a:ext>
            </a:extLst>
          </p:cNvPr>
          <p:cNvSpPr/>
          <p:nvPr/>
        </p:nvSpPr>
        <p:spPr>
          <a:xfrm>
            <a:off x="581024" y="3094548"/>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1126" name="Rectangle: Rounded Corners 1125">
            <a:extLst>
              <a:ext uri="{FF2B5EF4-FFF2-40B4-BE49-F238E27FC236}">
                <a16:creationId xmlns:a16="http://schemas.microsoft.com/office/drawing/2014/main" id="{FED1BB6A-A9A9-4E0A-A8CD-EEFB5750C983}"/>
              </a:ext>
            </a:extLst>
          </p:cNvPr>
          <p:cNvSpPr/>
          <p:nvPr/>
        </p:nvSpPr>
        <p:spPr>
          <a:xfrm>
            <a:off x="581024" y="4850271"/>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1133" name="Rectangle: Rounded Corners 1132">
            <a:extLst>
              <a:ext uri="{FF2B5EF4-FFF2-40B4-BE49-F238E27FC236}">
                <a16:creationId xmlns:a16="http://schemas.microsoft.com/office/drawing/2014/main" id="{47299741-729A-4FA6-A73E-373218C0B948}"/>
              </a:ext>
            </a:extLst>
          </p:cNvPr>
          <p:cNvSpPr/>
          <p:nvPr/>
        </p:nvSpPr>
        <p:spPr>
          <a:xfrm>
            <a:off x="6326749" y="1338826"/>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1134" name="Rectangle: Rounded Corners 1133">
            <a:extLst>
              <a:ext uri="{FF2B5EF4-FFF2-40B4-BE49-F238E27FC236}">
                <a16:creationId xmlns:a16="http://schemas.microsoft.com/office/drawing/2014/main" id="{E8655933-ABB5-4D15-AE7F-B0D014A5A5FB}"/>
              </a:ext>
            </a:extLst>
          </p:cNvPr>
          <p:cNvSpPr/>
          <p:nvPr/>
        </p:nvSpPr>
        <p:spPr>
          <a:xfrm>
            <a:off x="6326749" y="3094548"/>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1135" name="Rectangle: Rounded Corners 1134">
            <a:extLst>
              <a:ext uri="{FF2B5EF4-FFF2-40B4-BE49-F238E27FC236}">
                <a16:creationId xmlns:a16="http://schemas.microsoft.com/office/drawing/2014/main" id="{7ADD6B3E-784D-4B47-A705-C73AEB0275B4}"/>
              </a:ext>
            </a:extLst>
          </p:cNvPr>
          <p:cNvSpPr/>
          <p:nvPr/>
        </p:nvSpPr>
        <p:spPr>
          <a:xfrm>
            <a:off x="6326749" y="4850271"/>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grpSp>
        <p:nvGrpSpPr>
          <p:cNvPr id="21" name="Group 20">
            <a:extLst>
              <a:ext uri="{FF2B5EF4-FFF2-40B4-BE49-F238E27FC236}">
                <a16:creationId xmlns:a16="http://schemas.microsoft.com/office/drawing/2014/main" id="{21E75565-DE97-493A-B6B7-3FEC1D7EC345}"/>
              </a:ext>
            </a:extLst>
          </p:cNvPr>
          <p:cNvGrpSpPr/>
          <p:nvPr/>
        </p:nvGrpSpPr>
        <p:grpSpPr>
          <a:xfrm>
            <a:off x="1245710" y="1591839"/>
            <a:ext cx="3951680" cy="922336"/>
            <a:chOff x="1395616" y="871285"/>
            <a:chExt cx="3825734" cy="1064137"/>
          </a:xfrm>
        </p:grpSpPr>
        <p:sp>
          <p:nvSpPr>
            <p:cNvPr id="1136" name="TextBox 1135">
              <a:extLst>
                <a:ext uri="{FF2B5EF4-FFF2-40B4-BE49-F238E27FC236}">
                  <a16:creationId xmlns:a16="http://schemas.microsoft.com/office/drawing/2014/main" id="{19597974-6BD9-4F46-93D5-8E798AE68BD9}"/>
                </a:ext>
              </a:extLst>
            </p:cNvPr>
            <p:cNvSpPr txBox="1"/>
            <p:nvPr/>
          </p:nvSpPr>
          <p:spPr>
            <a:xfrm>
              <a:off x="2984420" y="923980"/>
              <a:ext cx="2236930" cy="958755"/>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Understanding Aspects and associations</a:t>
              </a:r>
            </a:p>
          </p:txBody>
        </p:sp>
        <p:sp>
          <p:nvSpPr>
            <p:cNvPr id="1137" name="TextBox 1136">
              <a:extLst>
                <a:ext uri="{FF2B5EF4-FFF2-40B4-BE49-F238E27FC236}">
                  <a16:creationId xmlns:a16="http://schemas.microsoft.com/office/drawing/2014/main" id="{F9DA7F84-AF3C-4C6B-8FBC-ADC07F02F13B}"/>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01</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grpSp>
        <p:nvGrpSpPr>
          <p:cNvPr id="1138" name="Group 1137">
            <a:extLst>
              <a:ext uri="{FF2B5EF4-FFF2-40B4-BE49-F238E27FC236}">
                <a16:creationId xmlns:a16="http://schemas.microsoft.com/office/drawing/2014/main" id="{1689CC76-F5C8-4D9A-940D-D0E9511DAD27}"/>
              </a:ext>
            </a:extLst>
          </p:cNvPr>
          <p:cNvGrpSpPr/>
          <p:nvPr/>
        </p:nvGrpSpPr>
        <p:grpSpPr>
          <a:xfrm>
            <a:off x="1245710" y="3347558"/>
            <a:ext cx="3951680" cy="922336"/>
            <a:chOff x="1395616" y="871285"/>
            <a:chExt cx="3825734" cy="1064137"/>
          </a:xfrm>
        </p:grpSpPr>
        <p:sp>
          <p:nvSpPr>
            <p:cNvPr id="1139" name="TextBox 1138">
              <a:extLst>
                <a:ext uri="{FF2B5EF4-FFF2-40B4-BE49-F238E27FC236}">
                  <a16:creationId xmlns:a16="http://schemas.microsoft.com/office/drawing/2014/main" id="{0EC594F9-42AA-48F0-91E3-A523A590A6A2}"/>
                </a:ext>
              </a:extLst>
            </p:cNvPr>
            <p:cNvSpPr txBox="1"/>
            <p:nvPr/>
          </p:nvSpPr>
          <p:spPr>
            <a:xfrm>
              <a:off x="2984420" y="1083772"/>
              <a:ext cx="2236930" cy="639170"/>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Working with Service Layer</a:t>
              </a:r>
            </a:p>
          </p:txBody>
        </p:sp>
        <p:sp>
          <p:nvSpPr>
            <p:cNvPr id="1140" name="TextBox 1139">
              <a:extLst>
                <a:ext uri="{FF2B5EF4-FFF2-40B4-BE49-F238E27FC236}">
                  <a16:creationId xmlns:a16="http://schemas.microsoft.com/office/drawing/2014/main" id="{958156DC-3EA6-4EBE-BADE-2321E29D81DE}"/>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a:ln>
                    <a:noFill/>
                  </a:ln>
                  <a:solidFill>
                    <a:prstClr val="white"/>
                  </a:solidFill>
                  <a:effectLst/>
                  <a:uLnTx/>
                  <a:uFillTx/>
                  <a:latin typeface="Segoe UI" panose="020B0502040204020203" pitchFamily="34" charset="0"/>
                  <a:ea typeface="Calibri Light" charset="0"/>
                  <a:cs typeface="Segoe UI" panose="020B0502040204020203" pitchFamily="34" charset="0"/>
                </a:rPr>
                <a:t>02</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grpSp>
        <p:nvGrpSpPr>
          <p:cNvPr id="1141" name="Group 1140">
            <a:extLst>
              <a:ext uri="{FF2B5EF4-FFF2-40B4-BE49-F238E27FC236}">
                <a16:creationId xmlns:a16="http://schemas.microsoft.com/office/drawing/2014/main" id="{010C7D28-B781-409B-AFDB-2EB8DCBAB471}"/>
              </a:ext>
            </a:extLst>
          </p:cNvPr>
          <p:cNvGrpSpPr/>
          <p:nvPr/>
        </p:nvGrpSpPr>
        <p:grpSpPr>
          <a:xfrm>
            <a:off x="6991434" y="1591839"/>
            <a:ext cx="4359562" cy="922336"/>
            <a:chOff x="1395616" y="871285"/>
            <a:chExt cx="3825734" cy="1064137"/>
          </a:xfrm>
        </p:grpSpPr>
        <p:sp>
          <p:nvSpPr>
            <p:cNvPr id="1142" name="TextBox 1141">
              <a:extLst>
                <a:ext uri="{FF2B5EF4-FFF2-40B4-BE49-F238E27FC236}">
                  <a16:creationId xmlns:a16="http://schemas.microsoft.com/office/drawing/2014/main" id="{3F09AA1F-FEA7-4D17-88ED-2CD603C4E9A6}"/>
                </a:ext>
              </a:extLst>
            </p:cNvPr>
            <p:cNvSpPr txBox="1"/>
            <p:nvPr/>
          </p:nvSpPr>
          <p:spPr>
            <a:xfrm>
              <a:off x="2984420" y="1243564"/>
              <a:ext cx="2236930" cy="319585"/>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Generic Service handlers</a:t>
              </a:r>
            </a:p>
          </p:txBody>
        </p:sp>
        <p:sp>
          <p:nvSpPr>
            <p:cNvPr id="1143" name="TextBox 1142">
              <a:extLst>
                <a:ext uri="{FF2B5EF4-FFF2-40B4-BE49-F238E27FC236}">
                  <a16:creationId xmlns:a16="http://schemas.microsoft.com/office/drawing/2014/main" id="{C88A509D-C2AF-4500-8C21-D7071BE4DE69}"/>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a:ln>
                    <a:noFill/>
                  </a:ln>
                  <a:solidFill>
                    <a:prstClr val="white"/>
                  </a:solidFill>
                  <a:effectLst/>
                  <a:uLnTx/>
                  <a:uFillTx/>
                  <a:latin typeface="Segoe UI" panose="020B0502040204020203" pitchFamily="34" charset="0"/>
                  <a:ea typeface="Calibri Light" charset="0"/>
                  <a:cs typeface="Segoe UI" panose="020B0502040204020203" pitchFamily="34" charset="0"/>
                </a:rPr>
                <a:t>04</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grpSp>
        <p:nvGrpSpPr>
          <p:cNvPr id="1144" name="Group 1143">
            <a:extLst>
              <a:ext uri="{FF2B5EF4-FFF2-40B4-BE49-F238E27FC236}">
                <a16:creationId xmlns:a16="http://schemas.microsoft.com/office/drawing/2014/main" id="{8A3A5AE5-D342-4BA3-9A55-5165158B260D}"/>
              </a:ext>
            </a:extLst>
          </p:cNvPr>
          <p:cNvGrpSpPr/>
          <p:nvPr/>
        </p:nvGrpSpPr>
        <p:grpSpPr>
          <a:xfrm>
            <a:off x="6991434" y="3347558"/>
            <a:ext cx="4431570" cy="922336"/>
            <a:chOff x="1395616" y="871285"/>
            <a:chExt cx="3825734" cy="1064137"/>
          </a:xfrm>
        </p:grpSpPr>
        <p:sp>
          <p:nvSpPr>
            <p:cNvPr id="1145" name="TextBox 1144">
              <a:extLst>
                <a:ext uri="{FF2B5EF4-FFF2-40B4-BE49-F238E27FC236}">
                  <a16:creationId xmlns:a16="http://schemas.microsoft.com/office/drawing/2014/main" id="{D50FB645-94BC-4B73-BC01-70A868E236E0}"/>
                </a:ext>
              </a:extLst>
            </p:cNvPr>
            <p:cNvSpPr txBox="1"/>
            <p:nvPr/>
          </p:nvSpPr>
          <p:spPr>
            <a:xfrm>
              <a:off x="2984420" y="1083770"/>
              <a:ext cx="2236930" cy="639170"/>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Segoe UI" panose="020B0502040204020203" pitchFamily="34" charset="0"/>
                  <a:ea typeface="Calibri Light" panose="020F0302020204030204" pitchFamily="34" charset="0"/>
                  <a:cs typeface="Segoe UI" panose="020B0502040204020203" pitchFamily="34" charset="0"/>
                </a:rPr>
                <a:t>Introduction to Fiori Elements</a:t>
              </a:r>
              <a:endPar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sp>
          <p:nvSpPr>
            <p:cNvPr id="1146" name="TextBox 1145">
              <a:extLst>
                <a:ext uri="{FF2B5EF4-FFF2-40B4-BE49-F238E27FC236}">
                  <a16:creationId xmlns:a16="http://schemas.microsoft.com/office/drawing/2014/main" id="{D6E845BF-0649-4FED-BF91-2541D1DCB0D6}"/>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a:ln>
                    <a:noFill/>
                  </a:ln>
                  <a:solidFill>
                    <a:prstClr val="white"/>
                  </a:solidFill>
                  <a:effectLst/>
                  <a:uLnTx/>
                  <a:uFillTx/>
                  <a:latin typeface="Segoe UI" panose="020B0502040204020203" pitchFamily="34" charset="0"/>
                  <a:ea typeface="Calibri Light" charset="0"/>
                  <a:cs typeface="Segoe UI" panose="020B0502040204020203" pitchFamily="34" charset="0"/>
                </a:rPr>
                <a:t>05</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grpSp>
        <p:nvGrpSpPr>
          <p:cNvPr id="1147" name="Group 1146">
            <a:extLst>
              <a:ext uri="{FF2B5EF4-FFF2-40B4-BE49-F238E27FC236}">
                <a16:creationId xmlns:a16="http://schemas.microsoft.com/office/drawing/2014/main" id="{17C38255-E89D-4911-9EAA-F048C7DFE484}"/>
              </a:ext>
            </a:extLst>
          </p:cNvPr>
          <p:cNvGrpSpPr/>
          <p:nvPr/>
        </p:nvGrpSpPr>
        <p:grpSpPr>
          <a:xfrm>
            <a:off x="1245710" y="5103281"/>
            <a:ext cx="3951680" cy="922336"/>
            <a:chOff x="1395616" y="871285"/>
            <a:chExt cx="3825734" cy="1064137"/>
          </a:xfrm>
        </p:grpSpPr>
        <p:sp>
          <p:nvSpPr>
            <p:cNvPr id="1148" name="TextBox 1147">
              <a:extLst>
                <a:ext uri="{FF2B5EF4-FFF2-40B4-BE49-F238E27FC236}">
                  <a16:creationId xmlns:a16="http://schemas.microsoft.com/office/drawing/2014/main" id="{E50F2C64-4496-4A40-ACCB-C5159AEC70D5}"/>
                </a:ext>
              </a:extLst>
            </p:cNvPr>
            <p:cNvSpPr txBox="1"/>
            <p:nvPr/>
          </p:nvSpPr>
          <p:spPr>
            <a:xfrm>
              <a:off x="2984420" y="1083771"/>
              <a:ext cx="2236930" cy="639170"/>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Segoe UI" panose="020B0502040204020203" pitchFamily="34" charset="0"/>
                  <a:ea typeface="Calibri Light" panose="020F0302020204030204" pitchFamily="34" charset="0"/>
                  <a:cs typeface="Segoe UI" panose="020B0502040204020203" pitchFamily="34" charset="0"/>
                </a:rPr>
                <a:t>Business Application Studio</a:t>
              </a:r>
              <a:endPar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sp>
          <p:nvSpPr>
            <p:cNvPr id="1149" name="TextBox 1148">
              <a:extLst>
                <a:ext uri="{FF2B5EF4-FFF2-40B4-BE49-F238E27FC236}">
                  <a16:creationId xmlns:a16="http://schemas.microsoft.com/office/drawing/2014/main" id="{0B9CA9D5-F695-4802-BE21-8B05D2B75909}"/>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04</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grpSp>
        <p:nvGrpSpPr>
          <p:cNvPr id="1150" name="Group 1149">
            <a:extLst>
              <a:ext uri="{FF2B5EF4-FFF2-40B4-BE49-F238E27FC236}">
                <a16:creationId xmlns:a16="http://schemas.microsoft.com/office/drawing/2014/main" id="{64D36160-176A-49B7-AEAE-FF1ECF022B7A}"/>
              </a:ext>
            </a:extLst>
          </p:cNvPr>
          <p:cNvGrpSpPr/>
          <p:nvPr/>
        </p:nvGrpSpPr>
        <p:grpSpPr>
          <a:xfrm>
            <a:off x="6991434" y="5103281"/>
            <a:ext cx="4431570" cy="922336"/>
            <a:chOff x="1395616" y="871285"/>
            <a:chExt cx="4290329" cy="1064137"/>
          </a:xfrm>
        </p:grpSpPr>
        <p:sp>
          <p:nvSpPr>
            <p:cNvPr id="1151" name="TextBox 1150">
              <a:extLst>
                <a:ext uri="{FF2B5EF4-FFF2-40B4-BE49-F238E27FC236}">
                  <a16:creationId xmlns:a16="http://schemas.microsoft.com/office/drawing/2014/main" id="{571E5D2F-CB43-41BD-B4D3-A2160034C400}"/>
                </a:ext>
              </a:extLst>
            </p:cNvPr>
            <p:cNvSpPr txBox="1"/>
            <p:nvPr/>
          </p:nvSpPr>
          <p:spPr>
            <a:xfrm>
              <a:off x="2984420" y="1243560"/>
              <a:ext cx="2701525" cy="319585"/>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Adding UI module</a:t>
              </a:r>
              <a:endPar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sp>
          <p:nvSpPr>
            <p:cNvPr id="1152" name="TextBox 1151">
              <a:extLst>
                <a:ext uri="{FF2B5EF4-FFF2-40B4-BE49-F238E27FC236}">
                  <a16:creationId xmlns:a16="http://schemas.microsoft.com/office/drawing/2014/main" id="{F2024D8F-80E0-4CDB-8B10-C1B5BD93DE8B}"/>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a:ln>
                    <a:noFill/>
                  </a:ln>
                  <a:solidFill>
                    <a:prstClr val="white"/>
                  </a:solidFill>
                  <a:effectLst/>
                  <a:uLnTx/>
                  <a:uFillTx/>
                  <a:latin typeface="Segoe UI" panose="020B0502040204020203" pitchFamily="34" charset="0"/>
                  <a:ea typeface="Calibri Light" charset="0"/>
                  <a:cs typeface="Segoe UI" panose="020B0502040204020203" pitchFamily="34" charset="0"/>
                </a:rPr>
                <a:t>06</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sp>
        <p:nvSpPr>
          <p:cNvPr id="23" name="Title 22">
            <a:extLst>
              <a:ext uri="{FF2B5EF4-FFF2-40B4-BE49-F238E27FC236}">
                <a16:creationId xmlns:a16="http://schemas.microsoft.com/office/drawing/2014/main" id="{C261B0E4-159A-4067-AFE4-41EEF3B38F9B}"/>
              </a:ext>
            </a:extLst>
          </p:cNvPr>
          <p:cNvSpPr>
            <a:spLocks noGrp="1"/>
          </p:cNvSpPr>
          <p:nvPr>
            <p:ph type="title"/>
          </p:nvPr>
        </p:nvSpPr>
        <p:spPr/>
        <p:txBody>
          <a:bodyPr/>
          <a:lstStyle/>
          <a:p>
            <a:pPr algn="l"/>
            <a:r>
              <a:rPr lang="en-US" dirty="0">
                <a:solidFill>
                  <a:schemeClr val="bg1"/>
                </a:solidFill>
                <a:latin typeface="Cooper Black" panose="0208090404030B020404" pitchFamily="18" charset="0"/>
              </a:rPr>
              <a:t>Agenda – Day 3</a:t>
            </a:r>
            <a:endParaRPr lang="en-IN" dirty="0">
              <a:solidFill>
                <a:schemeClr val="bg1"/>
              </a:solidFill>
              <a:latin typeface="Cooper Black" panose="0208090404030B020404" pitchFamily="18" charset="0"/>
            </a:endParaRPr>
          </a:p>
        </p:txBody>
      </p:sp>
    </p:spTree>
    <p:extLst>
      <p:ext uri="{BB962C8B-B14F-4D97-AF65-F5344CB8AC3E}">
        <p14:creationId xmlns:p14="http://schemas.microsoft.com/office/powerpoint/2010/main" val="33014487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7361</TotalTime>
  <Words>586</Words>
  <Application>Microsoft Office PowerPoint</Application>
  <PresentationFormat>Custom</PresentationFormat>
  <Paragraphs>90</Paragraphs>
  <Slides>14</Slides>
  <Notes>1</Notes>
  <HiddenSlides>1</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Amasis MT Pro Black</vt:lpstr>
      <vt:lpstr>Arial</vt:lpstr>
      <vt:lpstr>Arial Black</vt:lpstr>
      <vt:lpstr>Calibri</vt:lpstr>
      <vt:lpstr>Cooper Black</vt:lpstr>
      <vt:lpstr>Segoe UI</vt:lpstr>
      <vt:lpstr>Segoe UI Light</vt:lpstr>
      <vt:lpstr>Office Theme</vt:lpstr>
      <vt:lpstr>SAP BTP Architect Training</vt:lpstr>
      <vt:lpstr>PowerPoint Presentation</vt:lpstr>
      <vt:lpstr>Agenda – Day 6</vt:lpstr>
      <vt:lpstr>DB Design</vt:lpstr>
      <vt:lpstr>Hands on: Create DB Module</vt:lpstr>
      <vt:lpstr>Reuse Types and aspects</vt:lpstr>
      <vt:lpstr>Introduction to CDS Views</vt:lpstr>
      <vt:lpstr>Hands on: Service creation</vt:lpstr>
      <vt:lpstr>Testing Services in BAS</vt:lpstr>
      <vt:lpstr>PowerPoint Presentation</vt:lpstr>
      <vt:lpstr>PowerPoint Presentation</vt:lpstr>
      <vt:lpstr>PowerPoint Presentation</vt:lpstr>
      <vt:lpstr>PowerPoint Presentation</vt:lpstr>
      <vt:lpstr>Agenda – Day 3</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Julian</dc:creator>
  <cp:lastModifiedBy>Anubhav Oberoy</cp:lastModifiedBy>
  <cp:revision>239</cp:revision>
  <dcterms:created xsi:type="dcterms:W3CDTF">2013-09-12T13:05:01Z</dcterms:created>
  <dcterms:modified xsi:type="dcterms:W3CDTF">2026-07-13T06:38:31Z</dcterms:modified>
</cp:coreProperties>
</file>