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3" r:id="rId2"/>
  </p:sldMasterIdLst>
  <p:notesMasterIdLst>
    <p:notesMasterId r:id="rId24"/>
  </p:notesMasterIdLst>
  <p:sldIdLst>
    <p:sldId id="276" r:id="rId3"/>
    <p:sldId id="4122" r:id="rId4"/>
    <p:sldId id="277" r:id="rId5"/>
    <p:sldId id="4807" r:id="rId6"/>
    <p:sldId id="4808" r:id="rId7"/>
    <p:sldId id="4809" r:id="rId8"/>
    <p:sldId id="4821" r:id="rId9"/>
    <p:sldId id="4822" r:id="rId10"/>
    <p:sldId id="4812" r:id="rId11"/>
    <p:sldId id="4813" r:id="rId12"/>
    <p:sldId id="4773" r:id="rId13"/>
    <p:sldId id="4774" r:id="rId14"/>
    <p:sldId id="4789" r:id="rId15"/>
    <p:sldId id="4832" r:id="rId16"/>
    <p:sldId id="4833" r:id="rId17"/>
    <p:sldId id="4834" r:id="rId18"/>
    <p:sldId id="4835" r:id="rId19"/>
    <p:sldId id="4836" r:id="rId20"/>
    <p:sldId id="282" r:id="rId21"/>
    <p:sldId id="280" r:id="rId22"/>
    <p:sldId id="4711" r:id="rId23"/>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8E8"/>
    <a:srgbClr val="074D92"/>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240" autoAdjust="0"/>
    <p:restoredTop sz="95033" autoAdjust="0"/>
  </p:normalViewPr>
  <p:slideViewPr>
    <p:cSldViewPr>
      <p:cViewPr varScale="1">
        <p:scale>
          <a:sx n="110" d="100"/>
          <a:sy n="110" d="100"/>
        </p:scale>
        <p:origin x="320" y="72"/>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8/17/2026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A8B86-3D89-134F-002C-B49E857C49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C1C2F2-659A-5CF9-CECC-A6F0340F4B1C}"/>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EF878A4-3906-2E51-86D2-D958991DD4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4A9C4E-5736-3C0A-5292-14C2A987BE24}"/>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704779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42DCA3-D2D5-A347-AC79-375FD3DD16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BADDDE-4F34-5DEC-C1AA-54CC3F21D47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3CCD7F3-9B5A-DC1C-C4A8-ED352D76EA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06FB0C-05BA-9CF1-A017-DA8F44CC9D0E}"/>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3921333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21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8/17/2026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578D6DB-6798-42D2-B9AD-FC6F1C72FC30}" type="datetimeFigureOut">
              <a:rPr lang="en-US" smtClean="0"/>
              <a:pPr/>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5EDE275-BE14-4364-AEA2-5F5667C0FD49}" type="slidenum">
              <a:rPr lang="en-US" smtClean="0"/>
              <a:pPr/>
              <a:t>‹#›</a:t>
            </a:fld>
            <a:endParaRPr lang="en-US"/>
          </a:p>
        </p:txBody>
      </p:sp>
      <p:sp>
        <p:nvSpPr>
          <p:cNvPr id="12" name="Title 1"/>
          <p:cNvSpPr>
            <a:spLocks noGrp="1"/>
          </p:cNvSpPr>
          <p:nvPr>
            <p:ph type="ctrTitle"/>
          </p:nvPr>
        </p:nvSpPr>
        <p:spPr>
          <a:xfrm>
            <a:off x="765821" y="4172482"/>
            <a:ext cx="5256584" cy="1560774"/>
          </a:xfrm>
        </p:spPr>
        <p:txBody>
          <a:bodyPr anchor="t">
            <a:noAutofit/>
          </a:bodyPr>
          <a:lstStyle>
            <a:lvl1pPr algn="l">
              <a:defRPr lang="en-US" sz="4800" kern="1200" smtClean="0">
                <a:solidFill>
                  <a:schemeClr val="tx1">
                    <a:lumMod val="95000"/>
                    <a:lumOff val="5000"/>
                  </a:schemeClr>
                </a:solidFill>
                <a:latin typeface="Segoe UI Black" panose="020B0A02040204020203" pitchFamily="34" charset="0"/>
                <a:ea typeface="Segoe UI Black" panose="020B0A02040204020203" pitchFamily="34" charset="0"/>
                <a:cs typeface="+mj-cs"/>
              </a:defRPr>
            </a:lvl1pPr>
          </a:lstStyle>
          <a:p>
            <a:r>
              <a:rPr lang="en-US" dirty="0"/>
              <a:t>Click to edit Master title style</a:t>
            </a:r>
          </a:p>
        </p:txBody>
      </p:sp>
    </p:spTree>
    <p:extLst>
      <p:ext uri="{BB962C8B-B14F-4D97-AF65-F5344CB8AC3E}">
        <p14:creationId xmlns:p14="http://schemas.microsoft.com/office/powerpoint/2010/main" val="306185984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33855635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3600">
                <a:latin typeface="Cooper Black" panose="0208090404030B020404" pitchFamily="18" charset="0"/>
              </a:defRPr>
            </a:lvl1pPr>
          </a:lstStyle>
          <a:p>
            <a:r>
              <a:rPr lang="en-US" dirty="0"/>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8/17/2026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38932271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310423384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Timeline">
    <p:spTree>
      <p:nvGrpSpPr>
        <p:cNvPr id="1" name=""/>
        <p:cNvGrpSpPr/>
        <p:nvPr/>
      </p:nvGrpSpPr>
      <p:grpSpPr>
        <a:xfrm>
          <a:off x="0" y="0"/>
          <a:ext cx="0" cy="0"/>
          <a:chOff x="0" y="0"/>
          <a:chExt cx="0" cy="0"/>
        </a:xfrm>
      </p:grpSpPr>
      <p:sp>
        <p:nvSpPr>
          <p:cNvPr id="2" name="Title 1"/>
          <p:cNvSpPr>
            <a:spLocks noGrp="1"/>
          </p:cNvSpPr>
          <p:nvPr>
            <p:ph type="title"/>
          </p:nvPr>
        </p:nvSpPr>
        <p:spPr>
          <a:xfrm>
            <a:off x="190128" y="0"/>
            <a:ext cx="9733444" cy="711081"/>
          </a:xfrm>
          <a:prstGeom prst="rect">
            <a:avLst/>
          </a:prstGeom>
        </p:spPr>
        <p:txBody>
          <a:bodyPr>
            <a:noAutofit/>
          </a:bodyPr>
          <a:lstStyle>
            <a:lvl1pPr>
              <a:defRPr sz="3600" b="0">
                <a:solidFill>
                  <a:schemeClr val="accent6"/>
                </a:solidFill>
                <a:latin typeface="Cooper Black" panose="0208090404030B020404" pitchFamily="18" charset="0"/>
              </a:defRPr>
            </a:lvl1pPr>
          </a:lstStyle>
          <a:p>
            <a:r>
              <a:rPr lang="en-US" dirty="0"/>
              <a:t>Click to edit Master title style</a:t>
            </a:r>
          </a:p>
        </p:txBody>
      </p:sp>
      <p:sp>
        <p:nvSpPr>
          <p:cNvPr id="5" name="TextBox 4">
            <a:extLst>
              <a:ext uri="{FF2B5EF4-FFF2-40B4-BE49-F238E27FC236}">
                <a16:creationId xmlns:a16="http://schemas.microsoft.com/office/drawing/2014/main" id="{A5C5638B-B677-974A-A667-0478687C5541}"/>
              </a:ext>
            </a:extLst>
          </p:cNvPr>
          <p:cNvSpPr txBox="1"/>
          <p:nvPr userDrawn="1"/>
        </p:nvSpPr>
        <p:spPr>
          <a:xfrm>
            <a:off x="8974732" y="6381328"/>
            <a:ext cx="3096344" cy="338554"/>
          </a:xfrm>
          <a:prstGeom prst="rect">
            <a:avLst/>
          </a:prstGeom>
          <a:noFill/>
        </p:spPr>
        <p:txBody>
          <a:bodyPr wrap="square" rtlCol="0">
            <a:spAutoFit/>
          </a:bodyPr>
          <a:lstStyle/>
          <a:p>
            <a:r>
              <a:rPr lang="en-US" sz="1600" b="1" dirty="0">
                <a:solidFill>
                  <a:schemeClr val="accent5">
                    <a:lumMod val="75000"/>
                  </a:schemeClr>
                </a:solidFill>
              </a:rPr>
              <a:t>www.anubhavtrainings.com</a:t>
            </a:r>
          </a:p>
        </p:txBody>
      </p:sp>
      <p:pic>
        <p:nvPicPr>
          <p:cNvPr id="14" name="Picture 13">
            <a:extLst>
              <a:ext uri="{FF2B5EF4-FFF2-40B4-BE49-F238E27FC236}">
                <a16:creationId xmlns:a16="http://schemas.microsoft.com/office/drawing/2014/main" id="{4B91050B-06DD-6B9B-5D4B-52C80C09106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089108" y="40947"/>
            <a:ext cx="801948" cy="792088"/>
          </a:xfrm>
          <a:prstGeom prst="rect">
            <a:avLst/>
          </a:prstGeom>
          <a:effectLst>
            <a:reflection endPos="0" dist="50800" dir="5400000" sy="-100000" algn="bl" rotWithShape="0"/>
          </a:effectLst>
        </p:spPr>
      </p:pic>
      <p:sp>
        <p:nvSpPr>
          <p:cNvPr id="15" name="Text Placeholder 3">
            <a:extLst>
              <a:ext uri="{FF2B5EF4-FFF2-40B4-BE49-F238E27FC236}">
                <a16:creationId xmlns:a16="http://schemas.microsoft.com/office/drawing/2014/main" id="{863B6F30-DCC2-D394-EDCF-46E8F95750EC}"/>
              </a:ext>
            </a:extLst>
          </p:cNvPr>
          <p:cNvSpPr>
            <a:spLocks noGrp="1"/>
          </p:cNvSpPr>
          <p:nvPr>
            <p:ph type="body" sz="quarter" idx="10"/>
          </p:nvPr>
        </p:nvSpPr>
        <p:spPr>
          <a:xfrm>
            <a:off x="368762" y="836712"/>
            <a:ext cx="11342274" cy="5616624"/>
          </a:xfrm>
        </p:spPr>
        <p:txBody>
          <a:bodyPr>
            <a:normAutofit/>
          </a:bodyPr>
          <a:lstStyle>
            <a:lvl1pPr marL="0" indent="0">
              <a:buNone/>
              <a:defRPr sz="2000">
                <a:solidFill>
                  <a:schemeClr val="tx1"/>
                </a:solidFill>
                <a:latin typeface="Amasis MT Pro" panose="02040504050005020304" pitchFamily="18" charset="0"/>
              </a:defRPr>
            </a:lvl1pPr>
          </a:lstStyle>
          <a:p>
            <a:endParaRPr lang="en-US" dirty="0"/>
          </a:p>
        </p:txBody>
      </p:sp>
    </p:spTree>
    <p:extLst>
      <p:ext uri="{BB962C8B-B14F-4D97-AF65-F5344CB8AC3E}">
        <p14:creationId xmlns:p14="http://schemas.microsoft.com/office/powerpoint/2010/main" val="7769361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Section Header">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13E3D308-5757-C0AB-DF1B-BAAA1120B8A8}"/>
              </a:ext>
            </a:extLst>
          </p:cNvPr>
          <p:cNvSpPr>
            <a:spLocks noGrp="1"/>
          </p:cNvSpPr>
          <p:nvPr>
            <p:ph type="pic" sz="quarter" idx="10"/>
          </p:nvPr>
        </p:nvSpPr>
        <p:spPr>
          <a:xfrm>
            <a:off x="1583825" y="1922288"/>
            <a:ext cx="3303993" cy="3304854"/>
          </a:xfrm>
          <a:custGeom>
            <a:avLst/>
            <a:gdLst>
              <a:gd name="connsiteX0" fmla="*/ 2110615 w 4221230"/>
              <a:gd name="connsiteY0" fmla="*/ 0 h 4062856"/>
              <a:gd name="connsiteX1" fmla="*/ 4221230 w 4221230"/>
              <a:gd name="connsiteY1" fmla="*/ 2031428 h 4062856"/>
              <a:gd name="connsiteX2" fmla="*/ 2110615 w 4221230"/>
              <a:gd name="connsiteY2" fmla="*/ 4062856 h 4062856"/>
              <a:gd name="connsiteX3" fmla="*/ 0 w 4221230"/>
              <a:gd name="connsiteY3" fmla="*/ 2031428 h 4062856"/>
              <a:gd name="connsiteX4" fmla="*/ 2110615 w 4221230"/>
              <a:gd name="connsiteY4" fmla="*/ 0 h 4062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21230" h="4062856">
                <a:moveTo>
                  <a:pt x="2110615" y="0"/>
                </a:moveTo>
                <a:cubicBezTo>
                  <a:pt x="3276275" y="0"/>
                  <a:pt x="4221230" y="909501"/>
                  <a:pt x="4221230" y="2031428"/>
                </a:cubicBezTo>
                <a:cubicBezTo>
                  <a:pt x="4221230" y="3153355"/>
                  <a:pt x="3276275" y="4062856"/>
                  <a:pt x="2110615" y="4062856"/>
                </a:cubicBezTo>
                <a:cubicBezTo>
                  <a:pt x="944955" y="4062856"/>
                  <a:pt x="0" y="3153355"/>
                  <a:pt x="0" y="2031428"/>
                </a:cubicBezTo>
                <a:cubicBezTo>
                  <a:pt x="0" y="909501"/>
                  <a:pt x="944955" y="0"/>
                  <a:pt x="2110615" y="0"/>
                </a:cubicBezTo>
                <a:close/>
              </a:path>
            </a:pathLst>
          </a:custGeom>
        </p:spPr>
        <p:txBody>
          <a:bodyPr wrap="square">
            <a:noAutofit/>
          </a:bodyPr>
          <a:lstStyle/>
          <a:p>
            <a:endParaRPr lang="en-US"/>
          </a:p>
        </p:txBody>
      </p:sp>
    </p:spTree>
    <p:extLst>
      <p:ext uri="{BB962C8B-B14F-4D97-AF65-F5344CB8AC3E}">
        <p14:creationId xmlns:p14="http://schemas.microsoft.com/office/powerpoint/2010/main" val="38743188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2399925A-B7E0-BC1F-AE78-65034C6C65DB}"/>
              </a:ext>
            </a:extLst>
          </p:cNvPr>
          <p:cNvSpPr>
            <a:spLocks noGrp="1"/>
          </p:cNvSpPr>
          <p:nvPr>
            <p:ph type="pic" sz="quarter" idx="10"/>
          </p:nvPr>
        </p:nvSpPr>
        <p:spPr>
          <a:xfrm>
            <a:off x="6334518" y="1721219"/>
            <a:ext cx="3706027" cy="3706992"/>
          </a:xfrm>
          <a:custGeom>
            <a:avLst/>
            <a:gdLst>
              <a:gd name="connsiteX0" fmla="*/ 2110615 w 4221230"/>
              <a:gd name="connsiteY0" fmla="*/ 0 h 4062856"/>
              <a:gd name="connsiteX1" fmla="*/ 4221230 w 4221230"/>
              <a:gd name="connsiteY1" fmla="*/ 2031428 h 4062856"/>
              <a:gd name="connsiteX2" fmla="*/ 2110615 w 4221230"/>
              <a:gd name="connsiteY2" fmla="*/ 4062856 h 4062856"/>
              <a:gd name="connsiteX3" fmla="*/ 0 w 4221230"/>
              <a:gd name="connsiteY3" fmla="*/ 2031428 h 4062856"/>
              <a:gd name="connsiteX4" fmla="*/ 2110615 w 4221230"/>
              <a:gd name="connsiteY4" fmla="*/ 0 h 4062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21230" h="4062856">
                <a:moveTo>
                  <a:pt x="2110615" y="0"/>
                </a:moveTo>
                <a:cubicBezTo>
                  <a:pt x="3276275" y="0"/>
                  <a:pt x="4221230" y="909501"/>
                  <a:pt x="4221230" y="2031428"/>
                </a:cubicBezTo>
                <a:cubicBezTo>
                  <a:pt x="4221230" y="3153355"/>
                  <a:pt x="3276275" y="4062856"/>
                  <a:pt x="2110615" y="4062856"/>
                </a:cubicBezTo>
                <a:cubicBezTo>
                  <a:pt x="944955" y="4062856"/>
                  <a:pt x="0" y="3153355"/>
                  <a:pt x="0" y="2031428"/>
                </a:cubicBezTo>
                <a:cubicBezTo>
                  <a:pt x="0" y="909501"/>
                  <a:pt x="944955" y="0"/>
                  <a:pt x="2110615" y="0"/>
                </a:cubicBezTo>
                <a:close/>
              </a:path>
            </a:pathLst>
          </a:custGeom>
        </p:spPr>
        <p:txBody>
          <a:bodyPr wrap="square">
            <a:noAutofit/>
          </a:bodyPr>
          <a:lstStyle/>
          <a:p>
            <a:endParaRPr lang="en-US"/>
          </a:p>
        </p:txBody>
      </p:sp>
    </p:spTree>
    <p:extLst>
      <p:ext uri="{BB962C8B-B14F-4D97-AF65-F5344CB8AC3E}">
        <p14:creationId xmlns:p14="http://schemas.microsoft.com/office/powerpoint/2010/main" val="394871199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Content with Caption">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63D206DC-21C0-5B91-F039-7C7253B5257F}"/>
              </a:ext>
            </a:extLst>
          </p:cNvPr>
          <p:cNvSpPr>
            <a:spLocks noGrp="1"/>
          </p:cNvSpPr>
          <p:nvPr>
            <p:ph type="pic" sz="quarter" idx="10"/>
          </p:nvPr>
        </p:nvSpPr>
        <p:spPr>
          <a:xfrm>
            <a:off x="7803737" y="1748799"/>
            <a:ext cx="3247160" cy="3248006"/>
          </a:xfrm>
          <a:custGeom>
            <a:avLst/>
            <a:gdLst>
              <a:gd name="connsiteX0" fmla="*/ 2110615 w 4221230"/>
              <a:gd name="connsiteY0" fmla="*/ 0 h 4062856"/>
              <a:gd name="connsiteX1" fmla="*/ 4221230 w 4221230"/>
              <a:gd name="connsiteY1" fmla="*/ 2031428 h 4062856"/>
              <a:gd name="connsiteX2" fmla="*/ 2110615 w 4221230"/>
              <a:gd name="connsiteY2" fmla="*/ 4062856 h 4062856"/>
              <a:gd name="connsiteX3" fmla="*/ 0 w 4221230"/>
              <a:gd name="connsiteY3" fmla="*/ 2031428 h 4062856"/>
              <a:gd name="connsiteX4" fmla="*/ 2110615 w 4221230"/>
              <a:gd name="connsiteY4" fmla="*/ 0 h 4062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21230" h="4062856">
                <a:moveTo>
                  <a:pt x="2110615" y="0"/>
                </a:moveTo>
                <a:cubicBezTo>
                  <a:pt x="3276275" y="0"/>
                  <a:pt x="4221230" y="909501"/>
                  <a:pt x="4221230" y="2031428"/>
                </a:cubicBezTo>
                <a:cubicBezTo>
                  <a:pt x="4221230" y="3153355"/>
                  <a:pt x="3276275" y="4062856"/>
                  <a:pt x="2110615" y="4062856"/>
                </a:cubicBezTo>
                <a:cubicBezTo>
                  <a:pt x="944955" y="4062856"/>
                  <a:pt x="0" y="3153355"/>
                  <a:pt x="0" y="2031428"/>
                </a:cubicBezTo>
                <a:cubicBezTo>
                  <a:pt x="0" y="909501"/>
                  <a:pt x="944955" y="0"/>
                  <a:pt x="2110615" y="0"/>
                </a:cubicBezTo>
                <a:close/>
              </a:path>
            </a:pathLst>
          </a:custGeom>
        </p:spPr>
        <p:txBody>
          <a:bodyPr wrap="square">
            <a:noAutofit/>
          </a:bodyPr>
          <a:lstStyle/>
          <a:p>
            <a:endParaRPr lang="en-US"/>
          </a:p>
        </p:txBody>
      </p:sp>
    </p:spTree>
    <p:extLst>
      <p:ext uri="{BB962C8B-B14F-4D97-AF65-F5344CB8AC3E}">
        <p14:creationId xmlns:p14="http://schemas.microsoft.com/office/powerpoint/2010/main" val="31596295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1683E417-1443-7CC4-BB89-9C4377324DF6}"/>
              </a:ext>
            </a:extLst>
          </p:cNvPr>
          <p:cNvSpPr>
            <a:spLocks noGrp="1"/>
          </p:cNvSpPr>
          <p:nvPr>
            <p:ph type="pic" sz="quarter" idx="13"/>
          </p:nvPr>
        </p:nvSpPr>
        <p:spPr>
          <a:xfrm>
            <a:off x="7027592" y="3020745"/>
            <a:ext cx="4715880" cy="2944148"/>
          </a:xfrm>
          <a:pattFill prst="pct10">
            <a:fgClr>
              <a:schemeClr val="accent1"/>
            </a:fgClr>
            <a:bgClr>
              <a:schemeClr val="bg1"/>
            </a:bgClr>
          </a:pattFill>
        </p:spPr>
        <p:txBody>
          <a:bodyPr>
            <a:normAutofit/>
          </a:bodyPr>
          <a:lstStyle>
            <a:lvl1pPr>
              <a:defRPr sz="1200"/>
            </a:lvl1pPr>
          </a:lstStyle>
          <a:p>
            <a:endParaRPr lang="en-US"/>
          </a:p>
        </p:txBody>
      </p:sp>
    </p:spTree>
    <p:extLst>
      <p:ext uri="{BB962C8B-B14F-4D97-AF65-F5344CB8AC3E}">
        <p14:creationId xmlns:p14="http://schemas.microsoft.com/office/powerpoint/2010/main" val="13874603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C12FA1C9-6FC3-FE26-77FF-BF6E982FDFC1}"/>
              </a:ext>
            </a:extLst>
          </p:cNvPr>
          <p:cNvSpPr>
            <a:spLocks noGrp="1"/>
          </p:cNvSpPr>
          <p:nvPr>
            <p:ph type="pic" sz="quarter" idx="10"/>
          </p:nvPr>
        </p:nvSpPr>
        <p:spPr>
          <a:xfrm>
            <a:off x="8794487" y="-644779"/>
            <a:ext cx="4505509" cy="4506683"/>
          </a:xfrm>
          <a:custGeom>
            <a:avLst/>
            <a:gdLst>
              <a:gd name="connsiteX0" fmla="*/ 2110615 w 4221230"/>
              <a:gd name="connsiteY0" fmla="*/ 0 h 4062856"/>
              <a:gd name="connsiteX1" fmla="*/ 4221230 w 4221230"/>
              <a:gd name="connsiteY1" fmla="*/ 2031428 h 4062856"/>
              <a:gd name="connsiteX2" fmla="*/ 2110615 w 4221230"/>
              <a:gd name="connsiteY2" fmla="*/ 4062856 h 4062856"/>
              <a:gd name="connsiteX3" fmla="*/ 0 w 4221230"/>
              <a:gd name="connsiteY3" fmla="*/ 2031428 h 4062856"/>
              <a:gd name="connsiteX4" fmla="*/ 2110615 w 4221230"/>
              <a:gd name="connsiteY4" fmla="*/ 0 h 4062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21230" h="4062856">
                <a:moveTo>
                  <a:pt x="2110615" y="0"/>
                </a:moveTo>
                <a:cubicBezTo>
                  <a:pt x="3276275" y="0"/>
                  <a:pt x="4221230" y="909501"/>
                  <a:pt x="4221230" y="2031428"/>
                </a:cubicBezTo>
                <a:cubicBezTo>
                  <a:pt x="4221230" y="3153355"/>
                  <a:pt x="3276275" y="4062856"/>
                  <a:pt x="2110615" y="4062856"/>
                </a:cubicBezTo>
                <a:cubicBezTo>
                  <a:pt x="944955" y="4062856"/>
                  <a:pt x="0" y="3153355"/>
                  <a:pt x="0" y="2031428"/>
                </a:cubicBezTo>
                <a:cubicBezTo>
                  <a:pt x="0" y="909501"/>
                  <a:pt x="944955" y="0"/>
                  <a:pt x="2110615" y="0"/>
                </a:cubicBezTo>
                <a:close/>
              </a:path>
            </a:pathLst>
          </a:custGeom>
        </p:spPr>
        <p:txBody>
          <a:bodyPr wrap="square">
            <a:noAutofit/>
          </a:bodyPr>
          <a:lstStyle/>
          <a:p>
            <a:endParaRPr lang="en-US"/>
          </a:p>
        </p:txBody>
      </p:sp>
    </p:spTree>
    <p:extLst>
      <p:ext uri="{BB962C8B-B14F-4D97-AF65-F5344CB8AC3E}">
        <p14:creationId xmlns:p14="http://schemas.microsoft.com/office/powerpoint/2010/main" val="829332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hank you">
    <p:spTree>
      <p:nvGrpSpPr>
        <p:cNvPr id="1" name=""/>
        <p:cNvGrpSpPr/>
        <p:nvPr/>
      </p:nvGrpSpPr>
      <p:grpSpPr>
        <a:xfrm>
          <a:off x="0" y="0"/>
          <a:ext cx="0" cy="0"/>
          <a:chOff x="0" y="0"/>
          <a:chExt cx="0" cy="0"/>
        </a:xfrm>
      </p:grpSpPr>
      <p:sp>
        <p:nvSpPr>
          <p:cNvPr id="5" name="Picture Placeholder 8">
            <a:extLst>
              <a:ext uri="{FF2B5EF4-FFF2-40B4-BE49-F238E27FC236}">
                <a16:creationId xmlns:a16="http://schemas.microsoft.com/office/drawing/2014/main" id="{BA84E635-75CE-490A-A880-EFFBD03694EC}"/>
              </a:ext>
            </a:extLst>
          </p:cNvPr>
          <p:cNvSpPr>
            <a:spLocks noGrp="1"/>
          </p:cNvSpPr>
          <p:nvPr>
            <p:ph type="pic" sz="quarter" idx="13"/>
          </p:nvPr>
        </p:nvSpPr>
        <p:spPr>
          <a:xfrm>
            <a:off x="1343" y="0"/>
            <a:ext cx="12186138" cy="6858000"/>
          </a:xfrm>
        </p:spPr>
        <p:txBody>
          <a:bodyPr anchor="t"/>
          <a:lstStyle>
            <a:lvl1pPr marL="0" indent="0" algn="ctr">
              <a:buFontTx/>
              <a:buNone/>
              <a:defRPr/>
            </a:lvl1pPr>
          </a:lstStyle>
          <a:p>
            <a:endParaRPr lang="en-IN" dirty="0"/>
          </a:p>
        </p:txBody>
      </p:sp>
    </p:spTree>
    <p:extLst>
      <p:ext uri="{BB962C8B-B14F-4D97-AF65-F5344CB8AC3E}">
        <p14:creationId xmlns:p14="http://schemas.microsoft.com/office/powerpoint/2010/main" val="40483767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8/17/2026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8/17/2026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fld id="{96E69268-9C8B-4EBF-A9EE-DC5DC2D48DC3}" type="slidenum">
              <a:rPr lang="en-US" smtClean="0"/>
              <a:pPr/>
              <a:t>‹#›</a:t>
            </a:fld>
            <a:endParaRPr lang="en-US"/>
          </a:p>
        </p:txBody>
      </p:sp>
    </p:spTree>
    <p:extLst>
      <p:ext uri="{BB962C8B-B14F-4D97-AF65-F5344CB8AC3E}">
        <p14:creationId xmlns:p14="http://schemas.microsoft.com/office/powerpoint/2010/main" val="2125519887"/>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Lst>
  <p:txStyles>
    <p:titleStyle>
      <a:lvl1pPr algn="l" defTabSz="1218987" rtl="0" eaLnBrk="1" latinLnBrk="0" hangingPunct="1">
        <a:spcBef>
          <a:spcPct val="0"/>
        </a:spcBef>
        <a:buNone/>
        <a:defRPr sz="3600" kern="1200">
          <a:solidFill>
            <a:schemeClr val="tx1"/>
          </a:solidFill>
          <a:latin typeface="+mj-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png"/><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7.png"/><Relationship Id="rId1" Type="http://schemas.openxmlformats.org/officeDocument/2006/relationships/slideLayout" Target="../slideLayouts/slideLayout15.xml"/><Relationship Id="rId4" Type="http://schemas.openxmlformats.org/officeDocument/2006/relationships/hyperlink" Target="https://youtu.be/n0oS1eiOWU0"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youtu.be/6jk9G4vaFjQ?list=PLcxqFaocb9WLkTwNy7VsPOdEMJpLSfkcX" TargetMode="External"/><Relationship Id="rId2" Type="http://schemas.openxmlformats.org/officeDocument/2006/relationships/image" Target="../media/image7.png"/><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api.sap.com/" TargetMode="Externa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sap.github.io/cloud-sdk/docs/js/getting-started"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12.png"/><Relationship Id="rId4" Type="http://schemas.openxmlformats.org/officeDocument/2006/relationships/hyperlink" Target="http://www.dribbble.com/"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13.jpeg"/><Relationship Id="rId7" Type="http://schemas.openxmlformats.org/officeDocument/2006/relationships/image" Target="../media/image17.tiff"/><Relationship Id="rId2" Type="http://schemas.openxmlformats.org/officeDocument/2006/relationships/notesSlide" Target="../notesSlides/notesSlide3.xml"/><Relationship Id="rId1" Type="http://schemas.openxmlformats.org/officeDocument/2006/relationships/slideLayout" Target="../slideLayouts/slideLayout11.xml"/><Relationship Id="rId6" Type="http://schemas.openxmlformats.org/officeDocument/2006/relationships/image" Target="../media/image16.tiff"/><Relationship Id="rId5" Type="http://schemas.openxmlformats.org/officeDocument/2006/relationships/image" Target="../media/image15.tiff"/><Relationship Id="rId4" Type="http://schemas.openxmlformats.org/officeDocument/2006/relationships/image" Target="../media/image14.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20</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20</a:t>
            </a:r>
            <a:endParaRPr lang="en-IN" dirty="0">
              <a:solidFill>
                <a:schemeClr val="bg1"/>
              </a:solidFill>
              <a:latin typeface="Cooper Black" panose="0208090404030B020404" pitchFamily="18" charset="0"/>
            </a:endParaRPr>
          </a:p>
        </p:txBody>
      </p:sp>
      <p:sp>
        <p:nvSpPr>
          <p:cNvPr id="5" name="Rectangle: Rounded Corners 4">
            <a:extLst>
              <a:ext uri="{FF2B5EF4-FFF2-40B4-BE49-F238E27FC236}">
                <a16:creationId xmlns:a16="http://schemas.microsoft.com/office/drawing/2014/main" id="{8EE791A1-2958-78B0-ECDD-F89DDE02F4B6}"/>
              </a:ext>
            </a:extLst>
          </p:cNvPr>
          <p:cNvSpPr/>
          <p:nvPr/>
        </p:nvSpPr>
        <p:spPr>
          <a:xfrm>
            <a:off x="3453886" y="1313238"/>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Rounded Corners 5">
            <a:extLst>
              <a:ext uri="{FF2B5EF4-FFF2-40B4-BE49-F238E27FC236}">
                <a16:creationId xmlns:a16="http://schemas.microsoft.com/office/drawing/2014/main" id="{5B89E801-E285-EBED-06F5-7E2B1B8E1E7A}"/>
              </a:ext>
            </a:extLst>
          </p:cNvPr>
          <p:cNvSpPr/>
          <p:nvPr/>
        </p:nvSpPr>
        <p:spPr>
          <a:xfrm>
            <a:off x="3453886" y="3068960"/>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Rectangle: Rounded Corners 6">
            <a:extLst>
              <a:ext uri="{FF2B5EF4-FFF2-40B4-BE49-F238E27FC236}">
                <a16:creationId xmlns:a16="http://schemas.microsoft.com/office/drawing/2014/main" id="{ABAB72EB-5FE6-B5CA-C654-D15CE54000E9}"/>
              </a:ext>
            </a:extLst>
          </p:cNvPr>
          <p:cNvSpPr/>
          <p:nvPr/>
        </p:nvSpPr>
        <p:spPr>
          <a:xfrm>
            <a:off x="3453886" y="4824683"/>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a16="http://schemas.microsoft.com/office/drawing/2014/main" id="{1A27EE0E-9853-D0E9-E5A8-87BE731920EA}"/>
              </a:ext>
            </a:extLst>
          </p:cNvPr>
          <p:cNvGrpSpPr/>
          <p:nvPr/>
        </p:nvGrpSpPr>
        <p:grpSpPr>
          <a:xfrm>
            <a:off x="4118571" y="1566251"/>
            <a:ext cx="4359562" cy="922336"/>
            <a:chOff x="1395616" y="871285"/>
            <a:chExt cx="3825734" cy="1064137"/>
          </a:xfrm>
        </p:grpSpPr>
        <p:sp>
          <p:nvSpPr>
            <p:cNvPr id="9" name="TextBox 8">
              <a:extLst>
                <a:ext uri="{FF2B5EF4-FFF2-40B4-BE49-F238E27FC236}">
                  <a16:creationId xmlns:a16="http://schemas.microsoft.com/office/drawing/2014/main" id="{8B429D3B-7C38-B33E-067B-835764291C87}"/>
                </a:ext>
              </a:extLst>
            </p:cNvPr>
            <p:cNvSpPr txBox="1"/>
            <p:nvPr/>
          </p:nvSpPr>
          <p:spPr>
            <a:xfrm>
              <a:off x="2984420" y="1243566"/>
              <a:ext cx="2236930" cy="31958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Scenario 1: UI Extension</a:t>
              </a:r>
            </a:p>
          </p:txBody>
        </p:sp>
        <p:sp>
          <p:nvSpPr>
            <p:cNvPr id="10" name="TextBox 9">
              <a:extLst>
                <a:ext uri="{FF2B5EF4-FFF2-40B4-BE49-F238E27FC236}">
                  <a16:creationId xmlns:a16="http://schemas.microsoft.com/office/drawing/2014/main" id="{118C39A3-CA2B-146F-D772-D14998B4D672}"/>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 name="Group 10">
            <a:extLst>
              <a:ext uri="{FF2B5EF4-FFF2-40B4-BE49-F238E27FC236}">
                <a16:creationId xmlns:a16="http://schemas.microsoft.com/office/drawing/2014/main" id="{F7773B0C-4C36-F5CF-6049-15A22D3353B9}"/>
              </a:ext>
            </a:extLst>
          </p:cNvPr>
          <p:cNvGrpSpPr/>
          <p:nvPr/>
        </p:nvGrpSpPr>
        <p:grpSpPr>
          <a:xfrm>
            <a:off x="4118571" y="3321970"/>
            <a:ext cx="4431570" cy="922336"/>
            <a:chOff x="1395616" y="871285"/>
            <a:chExt cx="3825734" cy="1064137"/>
          </a:xfrm>
        </p:grpSpPr>
        <p:sp>
          <p:nvSpPr>
            <p:cNvPr id="12" name="TextBox 11">
              <a:extLst>
                <a:ext uri="{FF2B5EF4-FFF2-40B4-BE49-F238E27FC236}">
                  <a16:creationId xmlns:a16="http://schemas.microsoft.com/office/drawing/2014/main" id="{58BB80F5-BF50-C0D2-25DF-59F695C70420}"/>
                </a:ext>
              </a:extLst>
            </p:cNvPr>
            <p:cNvSpPr txBox="1"/>
            <p:nvPr/>
          </p:nvSpPr>
          <p:spPr>
            <a:xfrm>
              <a:off x="2984420" y="1243562"/>
              <a:ext cx="2236930" cy="319585"/>
            </a:xfrm>
            <a:prstGeom prst="rect">
              <a:avLst/>
            </a:prstGeom>
            <a:noFill/>
          </p:spPr>
          <p:txBody>
            <a:bodyPr wrap="square" lIns="0" tIns="0" rIns="0" bIns="0" rtlCol="0" anchor="ctr">
              <a:spAutoFit/>
            </a:bodyPr>
            <a:lstStyle/>
            <a:p>
              <a:r>
                <a:rPr lang="en-US" sz="1800" dirty="0">
                  <a:solidFill>
                    <a:srgbClr val="FFFFFF"/>
                  </a:solidFill>
                  <a:effectLst/>
                  <a:latin typeface="Segoe UI" panose="020B0502040204020203" pitchFamily="34" charset="0"/>
                  <a:ea typeface="Calibri Light" panose="020F0302020204030204" pitchFamily="34" charset="0"/>
                  <a:cs typeface="Segoe UI" panose="020B0502040204020203" pitchFamily="34" charset="0"/>
                </a:rPr>
                <a:t>S4 Cloud SDK</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3" name="TextBox 12">
              <a:extLst>
                <a:ext uri="{FF2B5EF4-FFF2-40B4-BE49-F238E27FC236}">
                  <a16:creationId xmlns:a16="http://schemas.microsoft.com/office/drawing/2014/main" id="{6824D9CE-F522-A342-1387-CC55E9C4494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4" name="Group 13">
            <a:extLst>
              <a:ext uri="{FF2B5EF4-FFF2-40B4-BE49-F238E27FC236}">
                <a16:creationId xmlns:a16="http://schemas.microsoft.com/office/drawing/2014/main" id="{51BD1B35-A18B-68D7-E07B-1A1A9AD2E859}"/>
              </a:ext>
            </a:extLst>
          </p:cNvPr>
          <p:cNvGrpSpPr/>
          <p:nvPr/>
        </p:nvGrpSpPr>
        <p:grpSpPr>
          <a:xfrm>
            <a:off x="4118571" y="5077693"/>
            <a:ext cx="4431570" cy="922336"/>
            <a:chOff x="1395616" y="871285"/>
            <a:chExt cx="4290329" cy="1064137"/>
          </a:xfrm>
        </p:grpSpPr>
        <p:sp>
          <p:nvSpPr>
            <p:cNvPr id="15" name="TextBox 14">
              <a:extLst>
                <a:ext uri="{FF2B5EF4-FFF2-40B4-BE49-F238E27FC236}">
                  <a16:creationId xmlns:a16="http://schemas.microsoft.com/office/drawing/2014/main" id="{2BEC2032-A77D-A0B0-E149-A23467DC1CAA}"/>
                </a:ext>
              </a:extLst>
            </p:cNvPr>
            <p:cNvSpPr txBox="1"/>
            <p:nvPr/>
          </p:nvSpPr>
          <p:spPr>
            <a:xfrm>
              <a:off x="2984420" y="1243560"/>
              <a:ext cx="2701525" cy="319585"/>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Scenario 2: CAP extension</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6" name="TextBox 15">
              <a:extLst>
                <a:ext uri="{FF2B5EF4-FFF2-40B4-BE49-F238E27FC236}">
                  <a16:creationId xmlns:a16="http://schemas.microsoft.com/office/drawing/2014/main" id="{C60195D9-2B81-A5CA-17AA-E418FAD1D320}"/>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4DD636A-9EC7-4D69-2954-56A303CDC780}"/>
              </a:ext>
            </a:extLst>
          </p:cNvPr>
          <p:cNvPicPr>
            <a:picLocks noChangeAspect="1"/>
          </p:cNvPicPr>
          <p:nvPr/>
        </p:nvPicPr>
        <p:blipFill>
          <a:blip r:embed="rId2"/>
          <a:stretch>
            <a:fillRect/>
          </a:stretch>
        </p:blipFill>
        <p:spPr>
          <a:xfrm>
            <a:off x="1343" y="1250727"/>
            <a:ext cx="12186138" cy="4356545"/>
          </a:xfrm>
          <a:prstGeom prst="rect">
            <a:avLst/>
          </a:prstGeom>
          <a:noFill/>
        </p:spPr>
      </p:pic>
    </p:spTree>
    <p:extLst>
      <p:ext uri="{BB962C8B-B14F-4D97-AF65-F5344CB8AC3E}">
        <p14:creationId xmlns:p14="http://schemas.microsoft.com/office/powerpoint/2010/main" val="32974296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85491-9E6E-3FA2-536F-5BA07C876221}"/>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BE4E209A-8A5A-4BEB-0405-550D800F512C}"/>
              </a:ext>
            </a:extLst>
          </p:cNvPr>
          <p:cNvSpPr txBox="1">
            <a:spLocks/>
          </p:cNvSpPr>
          <p:nvPr/>
        </p:nvSpPr>
        <p:spPr>
          <a:xfrm>
            <a:off x="141079" y="140515"/>
            <a:ext cx="11137885" cy="513831"/>
          </a:xfrm>
          <a:prstGeom prst="rect">
            <a:avLst/>
          </a:prstGeom>
        </p:spPr>
        <p:txBody>
          <a:bodyPr lIns="121899" tIns="60949" rIns="121899" bIns="60949">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rPr>
              <a:t>Looming threats</a:t>
            </a:r>
            <a:endParaRPr kumimoji="0" lang="en-IN" sz="3200"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endParaRPr>
          </a:p>
        </p:txBody>
      </p:sp>
      <p:pic>
        <p:nvPicPr>
          <p:cNvPr id="5" name="Picture 4">
            <a:extLst>
              <a:ext uri="{FF2B5EF4-FFF2-40B4-BE49-F238E27FC236}">
                <a16:creationId xmlns:a16="http://schemas.microsoft.com/office/drawing/2014/main" id="{23520EC8-2F6B-13C3-20F4-B230A26F31E9}"/>
              </a:ext>
            </a:extLst>
          </p:cNvPr>
          <p:cNvPicPr>
            <a:picLocks noChangeAspect="1"/>
          </p:cNvPicPr>
          <p:nvPr/>
        </p:nvPicPr>
        <p:blipFill>
          <a:blip r:embed="rId2"/>
          <a:stretch>
            <a:fillRect/>
          </a:stretch>
        </p:blipFill>
        <p:spPr>
          <a:xfrm>
            <a:off x="186113" y="1124744"/>
            <a:ext cx="11816597" cy="5112568"/>
          </a:xfrm>
          <a:prstGeom prst="rect">
            <a:avLst/>
          </a:prstGeom>
        </p:spPr>
      </p:pic>
    </p:spTree>
    <p:extLst>
      <p:ext uri="{BB962C8B-B14F-4D97-AF65-F5344CB8AC3E}">
        <p14:creationId xmlns:p14="http://schemas.microsoft.com/office/powerpoint/2010/main" val="992243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065CA-7746-3282-90E5-05C9D4542BD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19B62DDB-ACF0-CC81-9D60-C0B050329336}"/>
              </a:ext>
            </a:extLst>
          </p:cNvPr>
          <p:cNvSpPr txBox="1">
            <a:spLocks/>
          </p:cNvSpPr>
          <p:nvPr/>
        </p:nvSpPr>
        <p:spPr>
          <a:xfrm>
            <a:off x="141079" y="140515"/>
            <a:ext cx="11137885" cy="513831"/>
          </a:xfrm>
          <a:prstGeom prst="rect">
            <a:avLst/>
          </a:prstGeom>
        </p:spPr>
        <p:txBody>
          <a:bodyPr lIns="121899" tIns="60949" rIns="121899" bIns="60949">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rPr>
              <a:t>How to be Fast</a:t>
            </a:r>
            <a:endParaRPr kumimoji="0" lang="en-IN" sz="3200"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endParaRPr>
          </a:p>
        </p:txBody>
      </p:sp>
      <p:sp>
        <p:nvSpPr>
          <p:cNvPr id="4" name="TextBox 3">
            <a:extLst>
              <a:ext uri="{FF2B5EF4-FFF2-40B4-BE49-F238E27FC236}">
                <a16:creationId xmlns:a16="http://schemas.microsoft.com/office/drawing/2014/main" id="{8FCB023E-94D4-26C8-26BC-60603B4B54F6}"/>
              </a:ext>
            </a:extLst>
          </p:cNvPr>
          <p:cNvSpPr txBox="1"/>
          <p:nvPr/>
        </p:nvSpPr>
        <p:spPr>
          <a:xfrm>
            <a:off x="9664615" y="6550224"/>
            <a:ext cx="2524210" cy="307776"/>
          </a:xfrm>
          <a:prstGeom prst="rect">
            <a:avLst/>
          </a:prstGeom>
          <a:noFill/>
        </p:spPr>
        <p:txBody>
          <a:bodyPr wrap="square" lIns="121899" tIns="60949" rIns="121899" bIns="60949">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2060"/>
                </a:solidFill>
                <a:effectLst/>
                <a:uLnTx/>
                <a:uFillTx/>
                <a:latin typeface="Cooper Black" panose="0208090404030B020404" pitchFamily="18" charset="0"/>
                <a:ea typeface="+mn-ea"/>
                <a:cs typeface="+mn-cs"/>
              </a:rPr>
              <a:t>www.anubhavtrainings.com</a:t>
            </a:r>
            <a:endParaRPr kumimoji="0" lang="en-IN" sz="1200" b="0" i="0" u="none" strike="noStrike" kern="1200" cap="none" spc="0" normalizeH="0" baseline="0" noProof="0" dirty="0">
              <a:ln>
                <a:noFill/>
              </a:ln>
              <a:solidFill>
                <a:srgbClr val="002060"/>
              </a:solidFill>
              <a:effectLst/>
              <a:uLnTx/>
              <a:uFillTx/>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4DEA6E61-E436-FFE6-F36B-4844AE6ECEFA}"/>
              </a:ext>
            </a:extLst>
          </p:cNvPr>
          <p:cNvPicPr>
            <a:picLocks noChangeAspect="1"/>
          </p:cNvPicPr>
          <p:nvPr/>
        </p:nvPicPr>
        <p:blipFill>
          <a:blip r:embed="rId2" cstate="print"/>
          <a:stretch>
            <a:fillRect/>
          </a:stretch>
        </p:blipFill>
        <p:spPr>
          <a:xfrm>
            <a:off x="11691527" y="70369"/>
            <a:ext cx="456414" cy="450920"/>
          </a:xfrm>
          <a:prstGeom prst="rect">
            <a:avLst/>
          </a:prstGeom>
        </p:spPr>
      </p:pic>
      <p:sp>
        <p:nvSpPr>
          <p:cNvPr id="6" name="TextBox 5">
            <a:extLst>
              <a:ext uri="{FF2B5EF4-FFF2-40B4-BE49-F238E27FC236}">
                <a16:creationId xmlns:a16="http://schemas.microsoft.com/office/drawing/2014/main" id="{FEED10FC-B7DE-5CC5-2B2C-166CE2792217}"/>
              </a:ext>
            </a:extLst>
          </p:cNvPr>
          <p:cNvSpPr txBox="1"/>
          <p:nvPr/>
        </p:nvSpPr>
        <p:spPr>
          <a:xfrm>
            <a:off x="116700" y="6560282"/>
            <a:ext cx="505103" cy="292366"/>
          </a:xfrm>
          <a:prstGeom prst="rect">
            <a:avLst/>
          </a:prstGeom>
          <a:noFill/>
        </p:spPr>
        <p:txBody>
          <a:bodyPr wrap="square" lIns="121899" tIns="60949" rIns="121899" bIns="60949"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Segoe UI"/>
                <a:ea typeface="+mn-ea"/>
                <a:cs typeface="+mn-cs"/>
              </a:rPr>
              <a:t>11</a:t>
            </a:r>
            <a:endParaRPr kumimoji="0" lang="en-IN" sz="1100" b="0" i="0" u="none" strike="noStrike" kern="1200" cap="none" spc="0" normalizeH="0" baseline="0" noProof="0" dirty="0">
              <a:ln>
                <a:noFill/>
              </a:ln>
              <a:solidFill>
                <a:prstClr val="black"/>
              </a:solidFill>
              <a:effectLst/>
              <a:uLnTx/>
              <a:uFillTx/>
              <a:latin typeface="Segoe UI"/>
              <a:ea typeface="+mn-ea"/>
              <a:cs typeface="+mn-cs"/>
            </a:endParaRPr>
          </a:p>
        </p:txBody>
      </p:sp>
      <p:pic>
        <p:nvPicPr>
          <p:cNvPr id="8" name="Picture 7">
            <a:extLst>
              <a:ext uri="{FF2B5EF4-FFF2-40B4-BE49-F238E27FC236}">
                <a16:creationId xmlns:a16="http://schemas.microsoft.com/office/drawing/2014/main" id="{E443696E-2468-E31F-808C-02E3EB209D15}"/>
              </a:ext>
            </a:extLst>
          </p:cNvPr>
          <p:cNvPicPr>
            <a:picLocks noChangeAspect="1"/>
          </p:cNvPicPr>
          <p:nvPr/>
        </p:nvPicPr>
        <p:blipFill>
          <a:blip r:embed="rId3"/>
          <a:srcRect t="2172"/>
          <a:stretch/>
        </p:blipFill>
        <p:spPr>
          <a:xfrm>
            <a:off x="141079" y="1723164"/>
            <a:ext cx="11847431" cy="3816424"/>
          </a:xfrm>
          <a:prstGeom prst="rect">
            <a:avLst/>
          </a:prstGeom>
        </p:spPr>
      </p:pic>
    </p:spTree>
    <p:extLst>
      <p:ext uri="{BB962C8B-B14F-4D97-AF65-F5344CB8AC3E}">
        <p14:creationId xmlns:p14="http://schemas.microsoft.com/office/powerpoint/2010/main" val="7407139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60BD6-80C0-FF35-CC66-904AF5AD1D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6CA28E-C7D9-74D9-197E-77B093580AE9}"/>
              </a:ext>
            </a:extLst>
          </p:cNvPr>
          <p:cNvSpPr>
            <a:spLocks noGrp="1"/>
          </p:cNvSpPr>
          <p:nvPr>
            <p:ph type="title"/>
          </p:nvPr>
        </p:nvSpPr>
        <p:spPr>
          <a:xfrm>
            <a:off x="345105" y="0"/>
            <a:ext cx="9733444" cy="711081"/>
          </a:xfrm>
        </p:spPr>
        <p:txBody>
          <a:bodyPr/>
          <a:lstStyle/>
          <a:p>
            <a:r>
              <a:rPr lang="en-US" dirty="0"/>
              <a:t>Clean Core</a:t>
            </a:r>
          </a:p>
        </p:txBody>
      </p:sp>
      <p:sp>
        <p:nvSpPr>
          <p:cNvPr id="3" name="Text Placeholder 2">
            <a:extLst>
              <a:ext uri="{FF2B5EF4-FFF2-40B4-BE49-F238E27FC236}">
                <a16:creationId xmlns:a16="http://schemas.microsoft.com/office/drawing/2014/main" id="{46201FBD-29F3-6C5E-A446-293DC0F9ED6E}"/>
              </a:ext>
            </a:extLst>
          </p:cNvPr>
          <p:cNvSpPr>
            <a:spLocks noGrp="1"/>
          </p:cNvSpPr>
          <p:nvPr>
            <p:ph type="body" sz="quarter" idx="10"/>
          </p:nvPr>
        </p:nvSpPr>
        <p:spPr/>
        <p:txBody>
          <a:bodyPr>
            <a:normAutofit/>
          </a:bodyPr>
          <a:lstStyle/>
          <a:p>
            <a:r>
              <a:rPr lang="en-US" sz="1800" dirty="0"/>
              <a:t>Clean means up-to-date, documented, unmodified, consistent, efficient and upgrade ready.</a:t>
            </a:r>
          </a:p>
          <a:p>
            <a:r>
              <a:rPr lang="en-US" sz="1800" dirty="0"/>
              <a:t>S/4HANA cloud Private Edition (On-premise) </a:t>
            </a:r>
            <a:r>
              <a:rPr lang="en-US" sz="1800" dirty="0">
                <a:sym typeface="Wingdings" panose="05000000000000000000" pitchFamily="2" charset="2"/>
              </a:rPr>
              <a:t> GUI Access, Full control on your system including SPRO, BADIs and custom development, postpone upgrades, Full access to code and chances of even modify standard SAP code.</a:t>
            </a:r>
          </a:p>
          <a:p>
            <a:r>
              <a:rPr lang="en-US" sz="1800" dirty="0">
                <a:sym typeface="Wingdings" panose="05000000000000000000" pitchFamily="2" charset="2"/>
              </a:rPr>
              <a:t>85-90%</a:t>
            </a:r>
            <a:endParaRPr lang="en-US" sz="1800" dirty="0"/>
          </a:p>
          <a:p>
            <a:r>
              <a:rPr lang="en-US" sz="1800" dirty="0"/>
              <a:t>S/4HANA Cloud Public Edition </a:t>
            </a:r>
            <a:r>
              <a:rPr lang="en-US" sz="1800" dirty="0">
                <a:sym typeface="Wingdings" panose="05000000000000000000" pitchFamily="2" charset="2"/>
              </a:rPr>
              <a:t> Shared Environment, Standardized ERP solution one for all customers, customers cannot postpone upgrades, they cannot have SAPGUI or full access to system, Fiori only approach for accessing business applications, Force upgrade (always clean) – 10~15%</a:t>
            </a:r>
          </a:p>
          <a:p>
            <a:endParaRPr lang="en-US" sz="1800" dirty="0">
              <a:sym typeface="Wingdings" panose="05000000000000000000" pitchFamily="2" charset="2"/>
            </a:endParaRPr>
          </a:p>
          <a:p>
            <a:r>
              <a:rPr lang="en-US" sz="1800" dirty="0">
                <a:sym typeface="Wingdings" panose="05000000000000000000" pitchFamily="2" charset="2"/>
              </a:rPr>
              <a:t>Hybrid – both.</a:t>
            </a:r>
          </a:p>
          <a:p>
            <a:r>
              <a:rPr lang="en-US" sz="1800" dirty="0">
                <a:sym typeface="Wingdings" panose="05000000000000000000" pitchFamily="2" charset="2"/>
              </a:rPr>
              <a:t>Rise with SAP – for large corporations SAP offering a conversion to S/4HANA + BTP + SAC + DS…</a:t>
            </a:r>
            <a:endParaRPr lang="en-US" sz="1800" dirty="0"/>
          </a:p>
        </p:txBody>
      </p:sp>
    </p:spTree>
    <p:extLst>
      <p:ext uri="{BB962C8B-B14F-4D97-AF65-F5344CB8AC3E}">
        <p14:creationId xmlns:p14="http://schemas.microsoft.com/office/powerpoint/2010/main" val="20153805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2B0F8-5C3A-15F0-C95A-F7D31839F2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474CA1-51D5-A0DC-EE66-5DBBA1F27BEE}"/>
              </a:ext>
            </a:extLst>
          </p:cNvPr>
          <p:cNvSpPr>
            <a:spLocks noGrp="1"/>
          </p:cNvSpPr>
          <p:nvPr>
            <p:ph type="title"/>
          </p:nvPr>
        </p:nvSpPr>
        <p:spPr>
          <a:xfrm>
            <a:off x="345105" y="0"/>
            <a:ext cx="9733444" cy="711081"/>
          </a:xfrm>
        </p:spPr>
        <p:txBody>
          <a:bodyPr/>
          <a:lstStyle/>
          <a:p>
            <a:r>
              <a:rPr lang="en-US" dirty="0"/>
              <a:t>Benefits</a:t>
            </a:r>
          </a:p>
        </p:txBody>
      </p:sp>
      <p:sp>
        <p:nvSpPr>
          <p:cNvPr id="3" name="Text Placeholder 2">
            <a:extLst>
              <a:ext uri="{FF2B5EF4-FFF2-40B4-BE49-F238E27FC236}">
                <a16:creationId xmlns:a16="http://schemas.microsoft.com/office/drawing/2014/main" id="{A46860CF-FD64-3DCD-8343-F3D044C860C1}"/>
              </a:ext>
            </a:extLst>
          </p:cNvPr>
          <p:cNvSpPr>
            <a:spLocks noGrp="1"/>
          </p:cNvSpPr>
          <p:nvPr>
            <p:ph type="body" sz="quarter" idx="10"/>
          </p:nvPr>
        </p:nvSpPr>
        <p:spPr/>
        <p:txBody>
          <a:bodyPr>
            <a:normAutofit/>
          </a:bodyPr>
          <a:lstStyle/>
          <a:p>
            <a:pPr marL="285750" indent="-285750">
              <a:buFont typeface="Arial" panose="020B0604020202020204" pitchFamily="34" charset="0"/>
              <a:buChar char="•"/>
            </a:pPr>
            <a:r>
              <a:rPr lang="en-US" sz="1800" dirty="0"/>
              <a:t>Access to innovation – Since your SAP S/4HANA system is not contaminated with custom code, the moment SAP comes with new Release, they can be applied immediately</a:t>
            </a:r>
          </a:p>
          <a:p>
            <a:pPr marL="285750" indent="-285750">
              <a:buFont typeface="Arial" panose="020B0604020202020204" pitchFamily="34" charset="0"/>
              <a:buChar char="•"/>
            </a:pPr>
            <a:r>
              <a:rPr lang="en-US" sz="1800" dirty="0"/>
              <a:t>Upgrade Simplicity – We can upgrade stress free.</a:t>
            </a:r>
          </a:p>
          <a:p>
            <a:pPr marL="285750" indent="-285750">
              <a:buFont typeface="Arial" panose="020B0604020202020204" pitchFamily="34" charset="0"/>
              <a:buChar char="•"/>
            </a:pPr>
            <a:r>
              <a:rPr lang="en-US" sz="1800" dirty="0"/>
              <a:t>Lower TCO – Since we follow clean core, we actually are safe from changes which upgrade brings, so SAP parters can offer an upgrade at fix cost.</a:t>
            </a:r>
          </a:p>
          <a:p>
            <a:pPr marL="285750" indent="-285750">
              <a:buFont typeface="Arial" panose="020B0604020202020204" pitchFamily="34" charset="0"/>
              <a:buChar char="•"/>
            </a:pPr>
            <a:r>
              <a:rPr lang="en-US" sz="1800" dirty="0"/>
              <a:t>Enhanced Security – you don’t need to on-board every dev in system, because they can use BTP for dev.</a:t>
            </a:r>
          </a:p>
          <a:p>
            <a:pPr marL="285750" indent="-285750">
              <a:buFont typeface="Arial" panose="020B0604020202020204" pitchFamily="34" charset="0"/>
              <a:buChar char="•"/>
            </a:pPr>
            <a:r>
              <a:rPr lang="en-US" sz="1800" dirty="0"/>
              <a:t>Improved performance – Core is clean, it does not have to interact with lots of custom code, Store your custom code in git with BTP.</a:t>
            </a:r>
          </a:p>
          <a:p>
            <a:pPr marL="285750" indent="-285750">
              <a:buFont typeface="Arial" panose="020B0604020202020204" pitchFamily="34" charset="0"/>
              <a:buChar char="•"/>
            </a:pPr>
            <a:r>
              <a:rPr lang="en-US" sz="1800" dirty="0"/>
              <a:t>Data Simplification – Which data is private, which is public.</a:t>
            </a:r>
          </a:p>
        </p:txBody>
      </p:sp>
    </p:spTree>
    <p:extLst>
      <p:ext uri="{BB962C8B-B14F-4D97-AF65-F5344CB8AC3E}">
        <p14:creationId xmlns:p14="http://schemas.microsoft.com/office/powerpoint/2010/main" val="22288234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CC692-B367-0256-6D9A-9ABF02C66FA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0950E103-5D2E-8B97-BCC2-CD16E03581CB}"/>
              </a:ext>
            </a:extLst>
          </p:cNvPr>
          <p:cNvSpPr txBox="1">
            <a:spLocks/>
          </p:cNvSpPr>
          <p:nvPr/>
        </p:nvSpPr>
        <p:spPr>
          <a:xfrm>
            <a:off x="141079" y="140515"/>
            <a:ext cx="11137885" cy="513831"/>
          </a:xfrm>
          <a:prstGeom prst="rect">
            <a:avLst/>
          </a:prstGeom>
        </p:spPr>
        <p:txBody>
          <a:bodyPr lIns="121899" tIns="60949" rIns="121899" bIns="60949">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rPr>
              <a:t>Elements of Clean Core</a:t>
            </a:r>
            <a:endParaRPr kumimoji="0" lang="en-IN" sz="3200"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endParaRPr>
          </a:p>
        </p:txBody>
      </p:sp>
      <p:sp>
        <p:nvSpPr>
          <p:cNvPr id="4" name="TextBox 3">
            <a:extLst>
              <a:ext uri="{FF2B5EF4-FFF2-40B4-BE49-F238E27FC236}">
                <a16:creationId xmlns:a16="http://schemas.microsoft.com/office/drawing/2014/main" id="{BE35D745-4FA1-02CF-5F85-5FA6867D6B38}"/>
              </a:ext>
            </a:extLst>
          </p:cNvPr>
          <p:cNvSpPr txBox="1"/>
          <p:nvPr/>
        </p:nvSpPr>
        <p:spPr>
          <a:xfrm>
            <a:off x="9664615" y="6550224"/>
            <a:ext cx="2524210" cy="307776"/>
          </a:xfrm>
          <a:prstGeom prst="rect">
            <a:avLst/>
          </a:prstGeom>
          <a:noFill/>
        </p:spPr>
        <p:txBody>
          <a:bodyPr wrap="square" lIns="121899" tIns="60949" rIns="121899" bIns="60949">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2060"/>
                </a:solidFill>
                <a:effectLst/>
                <a:uLnTx/>
                <a:uFillTx/>
                <a:latin typeface="Cooper Black" panose="0208090404030B020404" pitchFamily="18" charset="0"/>
                <a:ea typeface="+mn-ea"/>
                <a:cs typeface="+mn-cs"/>
              </a:rPr>
              <a:t>www.anubhavtrainings.com</a:t>
            </a:r>
            <a:endParaRPr kumimoji="0" lang="en-IN" sz="1200" b="0" i="0" u="none" strike="noStrike" kern="1200" cap="none" spc="0" normalizeH="0" baseline="0" noProof="0" dirty="0">
              <a:ln>
                <a:noFill/>
              </a:ln>
              <a:solidFill>
                <a:srgbClr val="002060"/>
              </a:solidFill>
              <a:effectLst/>
              <a:uLnTx/>
              <a:uFillTx/>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849FA7C8-3AC3-10DB-3CFC-5DEBB6658357}"/>
              </a:ext>
            </a:extLst>
          </p:cNvPr>
          <p:cNvPicPr>
            <a:picLocks noChangeAspect="1"/>
          </p:cNvPicPr>
          <p:nvPr/>
        </p:nvPicPr>
        <p:blipFill>
          <a:blip r:embed="rId2" cstate="print"/>
          <a:stretch>
            <a:fillRect/>
          </a:stretch>
        </p:blipFill>
        <p:spPr>
          <a:xfrm>
            <a:off x="11691527" y="70369"/>
            <a:ext cx="456414" cy="450920"/>
          </a:xfrm>
          <a:prstGeom prst="rect">
            <a:avLst/>
          </a:prstGeom>
        </p:spPr>
      </p:pic>
      <p:sp>
        <p:nvSpPr>
          <p:cNvPr id="6" name="TextBox 5">
            <a:extLst>
              <a:ext uri="{FF2B5EF4-FFF2-40B4-BE49-F238E27FC236}">
                <a16:creationId xmlns:a16="http://schemas.microsoft.com/office/drawing/2014/main" id="{6D3955D7-29D3-F538-D09E-E9B4C87AC168}"/>
              </a:ext>
            </a:extLst>
          </p:cNvPr>
          <p:cNvSpPr txBox="1"/>
          <p:nvPr/>
        </p:nvSpPr>
        <p:spPr>
          <a:xfrm>
            <a:off x="116700" y="6560282"/>
            <a:ext cx="505103" cy="292366"/>
          </a:xfrm>
          <a:prstGeom prst="rect">
            <a:avLst/>
          </a:prstGeom>
          <a:noFill/>
        </p:spPr>
        <p:txBody>
          <a:bodyPr wrap="square" lIns="121899" tIns="60949" rIns="121899" bIns="60949"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Segoe UI"/>
                <a:ea typeface="+mn-ea"/>
                <a:cs typeface="+mn-cs"/>
              </a:rPr>
              <a:t>11</a:t>
            </a:r>
            <a:endParaRPr kumimoji="0" lang="en-IN" sz="1100" b="0" i="0" u="none" strike="noStrike" kern="1200" cap="none" spc="0" normalizeH="0" baseline="0" noProof="0" dirty="0">
              <a:ln>
                <a:noFill/>
              </a:ln>
              <a:solidFill>
                <a:prstClr val="black"/>
              </a:solidFill>
              <a:effectLst/>
              <a:uLnTx/>
              <a:uFillTx/>
              <a:latin typeface="Segoe UI"/>
              <a:ea typeface="+mn-ea"/>
              <a:cs typeface="+mn-cs"/>
            </a:endParaRPr>
          </a:p>
        </p:txBody>
      </p:sp>
      <p:pic>
        <p:nvPicPr>
          <p:cNvPr id="1026" name="Picture 2">
            <a:extLst>
              <a:ext uri="{FF2B5EF4-FFF2-40B4-BE49-F238E27FC236}">
                <a16:creationId xmlns:a16="http://schemas.microsoft.com/office/drawing/2014/main" id="{32009216-A900-FE4A-A36E-1DC9EF81C5C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6804" y="608972"/>
            <a:ext cx="10777869" cy="58535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14663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B9937-329B-475D-743F-16AE5C1249E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AD438C8-CFF7-330E-9B4E-4DBB64239FAE}"/>
              </a:ext>
            </a:extLst>
          </p:cNvPr>
          <p:cNvSpPr txBox="1">
            <a:spLocks/>
          </p:cNvSpPr>
          <p:nvPr/>
        </p:nvSpPr>
        <p:spPr>
          <a:xfrm>
            <a:off x="141079" y="140515"/>
            <a:ext cx="11137885" cy="513831"/>
          </a:xfrm>
          <a:prstGeom prst="rect">
            <a:avLst/>
          </a:prstGeom>
        </p:spPr>
        <p:txBody>
          <a:bodyPr lIns="121899" tIns="60949" rIns="121899" bIns="60949">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rPr>
              <a:t>High Level Guidance</a:t>
            </a:r>
            <a:endParaRPr kumimoji="0" lang="en-IN" sz="3200"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endParaRPr>
          </a:p>
        </p:txBody>
      </p:sp>
      <p:sp>
        <p:nvSpPr>
          <p:cNvPr id="3" name="TextBox 2">
            <a:extLst>
              <a:ext uri="{FF2B5EF4-FFF2-40B4-BE49-F238E27FC236}">
                <a16:creationId xmlns:a16="http://schemas.microsoft.com/office/drawing/2014/main" id="{CC1D185C-AE8F-3472-2718-205EFD58E311}"/>
              </a:ext>
            </a:extLst>
          </p:cNvPr>
          <p:cNvSpPr txBox="1"/>
          <p:nvPr/>
        </p:nvSpPr>
        <p:spPr>
          <a:xfrm>
            <a:off x="177646" y="654346"/>
            <a:ext cx="11486844" cy="400109"/>
          </a:xfrm>
          <a:prstGeom prst="rect">
            <a:avLst/>
          </a:prstGeom>
          <a:noFill/>
        </p:spPr>
        <p:txBody>
          <a:bodyPr wrap="square" lIns="121899" tIns="60949" rIns="121899" bIns="60949"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Segoe UI"/>
                <a:ea typeface="+mn-ea"/>
                <a:cs typeface="+mn-cs"/>
              </a:rPr>
              <a:t>&lt;content&gt;</a:t>
            </a:r>
          </a:p>
        </p:txBody>
      </p:sp>
      <p:sp>
        <p:nvSpPr>
          <p:cNvPr id="4" name="TextBox 3">
            <a:extLst>
              <a:ext uri="{FF2B5EF4-FFF2-40B4-BE49-F238E27FC236}">
                <a16:creationId xmlns:a16="http://schemas.microsoft.com/office/drawing/2014/main" id="{B2C55218-CDF4-AA10-8FD5-844003825E5F}"/>
              </a:ext>
            </a:extLst>
          </p:cNvPr>
          <p:cNvSpPr txBox="1"/>
          <p:nvPr/>
        </p:nvSpPr>
        <p:spPr>
          <a:xfrm>
            <a:off x="9664615" y="6550224"/>
            <a:ext cx="2524210" cy="307776"/>
          </a:xfrm>
          <a:prstGeom prst="rect">
            <a:avLst/>
          </a:prstGeom>
          <a:noFill/>
        </p:spPr>
        <p:txBody>
          <a:bodyPr wrap="square" lIns="121899" tIns="60949" rIns="121899" bIns="60949">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2060"/>
                </a:solidFill>
                <a:effectLst/>
                <a:uLnTx/>
                <a:uFillTx/>
                <a:latin typeface="Cooper Black" panose="0208090404030B020404" pitchFamily="18" charset="0"/>
                <a:ea typeface="+mn-ea"/>
                <a:cs typeface="+mn-cs"/>
              </a:rPr>
              <a:t>www.anubhavtrainings.com</a:t>
            </a:r>
            <a:endParaRPr kumimoji="0" lang="en-IN" sz="1200" b="0" i="0" u="none" strike="noStrike" kern="1200" cap="none" spc="0" normalizeH="0" baseline="0" noProof="0" dirty="0">
              <a:ln>
                <a:noFill/>
              </a:ln>
              <a:solidFill>
                <a:srgbClr val="002060"/>
              </a:solidFill>
              <a:effectLst/>
              <a:uLnTx/>
              <a:uFillTx/>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4A7FD347-AAA8-DC0B-0B0F-3088F0A99906}"/>
              </a:ext>
            </a:extLst>
          </p:cNvPr>
          <p:cNvPicPr>
            <a:picLocks noChangeAspect="1"/>
          </p:cNvPicPr>
          <p:nvPr/>
        </p:nvPicPr>
        <p:blipFill>
          <a:blip r:embed="rId2" cstate="print"/>
          <a:stretch>
            <a:fillRect/>
          </a:stretch>
        </p:blipFill>
        <p:spPr>
          <a:xfrm>
            <a:off x="11691527" y="70369"/>
            <a:ext cx="456414" cy="450920"/>
          </a:xfrm>
          <a:prstGeom prst="rect">
            <a:avLst/>
          </a:prstGeom>
        </p:spPr>
      </p:pic>
      <p:sp>
        <p:nvSpPr>
          <p:cNvPr id="6" name="TextBox 5">
            <a:extLst>
              <a:ext uri="{FF2B5EF4-FFF2-40B4-BE49-F238E27FC236}">
                <a16:creationId xmlns:a16="http://schemas.microsoft.com/office/drawing/2014/main" id="{7DD74136-F603-4B57-EC85-8893703A44A6}"/>
              </a:ext>
            </a:extLst>
          </p:cNvPr>
          <p:cNvSpPr txBox="1"/>
          <p:nvPr/>
        </p:nvSpPr>
        <p:spPr>
          <a:xfrm>
            <a:off x="116700" y="6560282"/>
            <a:ext cx="505103" cy="292366"/>
          </a:xfrm>
          <a:prstGeom prst="rect">
            <a:avLst/>
          </a:prstGeom>
          <a:noFill/>
        </p:spPr>
        <p:txBody>
          <a:bodyPr wrap="square" lIns="121899" tIns="60949" rIns="121899" bIns="60949"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Segoe UI"/>
                <a:ea typeface="+mn-ea"/>
                <a:cs typeface="+mn-cs"/>
              </a:rPr>
              <a:t>11</a:t>
            </a:r>
            <a:endParaRPr kumimoji="0" lang="en-IN" sz="1100" b="0" i="0" u="none" strike="noStrike" kern="1200" cap="none" spc="0" normalizeH="0" baseline="0" noProof="0" dirty="0">
              <a:ln>
                <a:noFill/>
              </a:ln>
              <a:solidFill>
                <a:prstClr val="black"/>
              </a:solidFill>
              <a:effectLst/>
              <a:uLnTx/>
              <a:uFillTx/>
              <a:latin typeface="Segoe UI"/>
              <a:ea typeface="+mn-ea"/>
              <a:cs typeface="+mn-cs"/>
            </a:endParaRPr>
          </a:p>
        </p:txBody>
      </p:sp>
      <p:pic>
        <p:nvPicPr>
          <p:cNvPr id="2050" name="Picture 2">
            <a:extLst>
              <a:ext uri="{FF2B5EF4-FFF2-40B4-BE49-F238E27FC236}">
                <a16:creationId xmlns:a16="http://schemas.microsoft.com/office/drawing/2014/main" id="{D3CA1D1F-1476-9F91-EFE5-5C75848A4F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779463"/>
            <a:ext cx="12188825" cy="5299075"/>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4EF456D5-C99D-A61A-8914-A7D4182FF665}"/>
              </a:ext>
            </a:extLst>
          </p:cNvPr>
          <p:cNvSpPr txBox="1"/>
          <p:nvPr/>
        </p:nvSpPr>
        <p:spPr>
          <a:xfrm>
            <a:off x="5537739" y="6021651"/>
            <a:ext cx="6094878" cy="830997"/>
          </a:xfrm>
          <a:prstGeom prst="rect">
            <a:avLst/>
          </a:prstGeom>
          <a:noFill/>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2400" b="0" i="0" u="none" strike="noStrike" kern="1200" cap="none" spc="0" normalizeH="0" baseline="0" noProof="0" dirty="0">
                <a:ln>
                  <a:noFill/>
                </a:ln>
                <a:solidFill>
                  <a:prstClr val="black"/>
                </a:solidFill>
                <a:effectLst/>
                <a:uLnTx/>
                <a:uFillTx/>
                <a:latin typeface="Segoe UI"/>
                <a:ea typeface="+mn-ea"/>
                <a:cs typeface="+mn-cs"/>
                <a:hlinkClick r:id="rId4"/>
              </a:rPr>
              <a:t>https://youtu.be/n0oS1eiOWU0</a:t>
            </a:r>
            <a:endParaRPr kumimoji="0" lang="en-IN" sz="2400" b="0" i="0" u="none" strike="noStrike" kern="1200" cap="none" spc="0" normalizeH="0" baseline="0" noProof="0" dirty="0">
              <a:ln>
                <a:noFill/>
              </a:ln>
              <a:solidFill>
                <a:prstClr val="black"/>
              </a:solidFill>
              <a:effectLst/>
              <a:uLnTx/>
              <a:uFillTx/>
              <a:latin typeface="Segoe UI"/>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dirty="0">
              <a:ln>
                <a:noFill/>
              </a:ln>
              <a:solidFill>
                <a:prstClr val="black"/>
              </a:solidFill>
              <a:effectLst/>
              <a:uLnTx/>
              <a:uFillTx/>
              <a:latin typeface="Segoe UI"/>
              <a:ea typeface="+mn-ea"/>
              <a:cs typeface="+mn-cs"/>
            </a:endParaRPr>
          </a:p>
        </p:txBody>
      </p:sp>
    </p:spTree>
    <p:extLst>
      <p:ext uri="{BB962C8B-B14F-4D97-AF65-F5344CB8AC3E}">
        <p14:creationId xmlns:p14="http://schemas.microsoft.com/office/powerpoint/2010/main" val="20269325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DF32C-5CEF-5FC8-555F-CC7CD56C5618}"/>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B066088-4FFF-F682-EA37-662C90AC7338}"/>
              </a:ext>
            </a:extLst>
          </p:cNvPr>
          <p:cNvSpPr txBox="1">
            <a:spLocks/>
          </p:cNvSpPr>
          <p:nvPr/>
        </p:nvSpPr>
        <p:spPr>
          <a:xfrm>
            <a:off x="141079" y="140515"/>
            <a:ext cx="11137885" cy="513831"/>
          </a:xfrm>
          <a:prstGeom prst="rect">
            <a:avLst/>
          </a:prstGeom>
        </p:spPr>
        <p:txBody>
          <a:bodyPr lIns="121899" tIns="60949" rIns="121899" bIns="60949">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rPr>
              <a:t>What is API</a:t>
            </a:r>
            <a:endParaRPr kumimoji="0" lang="en-IN" sz="3200"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endParaRPr>
          </a:p>
        </p:txBody>
      </p:sp>
      <p:sp>
        <p:nvSpPr>
          <p:cNvPr id="4" name="TextBox 3">
            <a:extLst>
              <a:ext uri="{FF2B5EF4-FFF2-40B4-BE49-F238E27FC236}">
                <a16:creationId xmlns:a16="http://schemas.microsoft.com/office/drawing/2014/main" id="{CDF614F1-23D3-1CBB-2848-A4E69C38A0B7}"/>
              </a:ext>
            </a:extLst>
          </p:cNvPr>
          <p:cNvSpPr txBox="1"/>
          <p:nvPr/>
        </p:nvSpPr>
        <p:spPr>
          <a:xfrm>
            <a:off x="9664615" y="6550224"/>
            <a:ext cx="2524210" cy="307776"/>
          </a:xfrm>
          <a:prstGeom prst="rect">
            <a:avLst/>
          </a:prstGeom>
          <a:noFill/>
        </p:spPr>
        <p:txBody>
          <a:bodyPr wrap="square" lIns="121899" tIns="60949" rIns="121899" bIns="60949">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2060"/>
                </a:solidFill>
                <a:effectLst/>
                <a:uLnTx/>
                <a:uFillTx/>
                <a:latin typeface="Cooper Black" panose="0208090404030B020404" pitchFamily="18" charset="0"/>
                <a:ea typeface="+mn-ea"/>
                <a:cs typeface="+mn-cs"/>
              </a:rPr>
              <a:t>www.anubhavtrainings.com</a:t>
            </a:r>
            <a:endParaRPr kumimoji="0" lang="en-IN" sz="1200" b="0" i="0" u="none" strike="noStrike" kern="1200" cap="none" spc="0" normalizeH="0" baseline="0" noProof="0" dirty="0">
              <a:ln>
                <a:noFill/>
              </a:ln>
              <a:solidFill>
                <a:srgbClr val="002060"/>
              </a:solidFill>
              <a:effectLst/>
              <a:uLnTx/>
              <a:uFillTx/>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36358984-E522-1F0A-E69B-4E9BDB3120F5}"/>
              </a:ext>
            </a:extLst>
          </p:cNvPr>
          <p:cNvPicPr>
            <a:picLocks noChangeAspect="1"/>
          </p:cNvPicPr>
          <p:nvPr/>
        </p:nvPicPr>
        <p:blipFill>
          <a:blip r:embed="rId2" cstate="print"/>
          <a:stretch>
            <a:fillRect/>
          </a:stretch>
        </p:blipFill>
        <p:spPr>
          <a:xfrm>
            <a:off x="11691527" y="70369"/>
            <a:ext cx="456414" cy="450920"/>
          </a:xfrm>
          <a:prstGeom prst="rect">
            <a:avLst/>
          </a:prstGeom>
        </p:spPr>
      </p:pic>
      <p:sp>
        <p:nvSpPr>
          <p:cNvPr id="6" name="TextBox 5">
            <a:extLst>
              <a:ext uri="{FF2B5EF4-FFF2-40B4-BE49-F238E27FC236}">
                <a16:creationId xmlns:a16="http://schemas.microsoft.com/office/drawing/2014/main" id="{3D766F62-E3FF-A6C9-E31E-9CCCB255E2C7}"/>
              </a:ext>
            </a:extLst>
          </p:cNvPr>
          <p:cNvSpPr txBox="1"/>
          <p:nvPr/>
        </p:nvSpPr>
        <p:spPr>
          <a:xfrm>
            <a:off x="116700" y="6560282"/>
            <a:ext cx="505103" cy="292366"/>
          </a:xfrm>
          <a:prstGeom prst="rect">
            <a:avLst/>
          </a:prstGeom>
          <a:noFill/>
        </p:spPr>
        <p:txBody>
          <a:bodyPr wrap="square" lIns="121899" tIns="60949" rIns="121899" bIns="60949"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Segoe UI"/>
                <a:ea typeface="+mn-ea"/>
                <a:cs typeface="+mn-cs"/>
              </a:rPr>
              <a:t>11</a:t>
            </a:r>
            <a:endParaRPr kumimoji="0" lang="en-IN" sz="1100" b="0" i="0" u="none" strike="noStrike" kern="1200" cap="none" spc="0" normalizeH="0" baseline="0" noProof="0" dirty="0">
              <a:ln>
                <a:noFill/>
              </a:ln>
              <a:solidFill>
                <a:prstClr val="black"/>
              </a:solidFill>
              <a:effectLst/>
              <a:uLnTx/>
              <a:uFillTx/>
              <a:latin typeface="Segoe UI"/>
              <a:ea typeface="+mn-ea"/>
              <a:cs typeface="+mn-cs"/>
            </a:endParaRPr>
          </a:p>
        </p:txBody>
      </p:sp>
      <p:sp>
        <p:nvSpPr>
          <p:cNvPr id="12" name="TextBox 11">
            <a:extLst>
              <a:ext uri="{FF2B5EF4-FFF2-40B4-BE49-F238E27FC236}">
                <a16:creationId xmlns:a16="http://schemas.microsoft.com/office/drawing/2014/main" id="{FA8F27C6-D355-112D-AFD2-EC3C3C5B2E0A}"/>
              </a:ext>
            </a:extLst>
          </p:cNvPr>
          <p:cNvSpPr txBox="1"/>
          <p:nvPr/>
        </p:nvSpPr>
        <p:spPr>
          <a:xfrm>
            <a:off x="177646" y="654346"/>
            <a:ext cx="11486844" cy="400109"/>
          </a:xfrm>
          <a:prstGeom prst="rect">
            <a:avLst/>
          </a:prstGeom>
          <a:noFill/>
        </p:spPr>
        <p:txBody>
          <a:bodyPr wrap="square" lIns="121899" tIns="60949" rIns="121899" bIns="60949"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Segoe UI"/>
                <a:ea typeface="+mn-ea"/>
                <a:cs typeface="+mn-cs"/>
              </a:rPr>
              <a:t>API stands for Application Programming Interface, it is a contract to right to consume data from an external system.</a:t>
            </a:r>
          </a:p>
        </p:txBody>
      </p:sp>
      <p:sp>
        <p:nvSpPr>
          <p:cNvPr id="19" name="TextBox 18">
            <a:extLst>
              <a:ext uri="{FF2B5EF4-FFF2-40B4-BE49-F238E27FC236}">
                <a16:creationId xmlns:a16="http://schemas.microsoft.com/office/drawing/2014/main" id="{C5A7648C-350A-ACDD-BC0D-20A8401D4D19}"/>
              </a:ext>
            </a:extLst>
          </p:cNvPr>
          <p:cNvSpPr txBox="1"/>
          <p:nvPr/>
        </p:nvSpPr>
        <p:spPr>
          <a:xfrm>
            <a:off x="189614" y="1251708"/>
            <a:ext cx="11377406" cy="830997"/>
          </a:xfrm>
          <a:prstGeom prst="rect">
            <a:avLst/>
          </a:prstGeom>
          <a:noFill/>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2400" b="0" i="0" u="none" strike="noStrike" kern="1200" cap="none" spc="0" normalizeH="0" baseline="0" noProof="0" dirty="0">
                <a:ln>
                  <a:noFill/>
                </a:ln>
                <a:solidFill>
                  <a:prstClr val="black"/>
                </a:solidFill>
                <a:effectLst/>
                <a:uLnTx/>
                <a:uFillTx/>
                <a:latin typeface="Segoe UI"/>
                <a:ea typeface="+mn-ea"/>
                <a:cs typeface="+mn-cs"/>
                <a:hlinkClick r:id="rId3"/>
              </a:rPr>
              <a:t>https://youtu.be/6jk9G4vaFjQ?list=PLcxqFaocb9WLkTwNy7VsPOdEMJpLSfkcX</a:t>
            </a:r>
            <a:endParaRPr kumimoji="0" lang="en-IN" sz="2400" b="0" i="0" u="none" strike="noStrike" kern="1200" cap="none" spc="0" normalizeH="0" baseline="0" noProof="0" dirty="0">
              <a:ln>
                <a:noFill/>
              </a:ln>
              <a:solidFill>
                <a:prstClr val="black"/>
              </a:solidFill>
              <a:effectLst/>
              <a:uLnTx/>
              <a:uFillTx/>
              <a:latin typeface="Segoe UI"/>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dirty="0">
              <a:ln>
                <a:noFill/>
              </a:ln>
              <a:solidFill>
                <a:prstClr val="black"/>
              </a:solidFill>
              <a:effectLst/>
              <a:uLnTx/>
              <a:uFillTx/>
              <a:latin typeface="Segoe UI"/>
              <a:ea typeface="+mn-ea"/>
              <a:cs typeface="+mn-cs"/>
            </a:endParaRPr>
          </a:p>
        </p:txBody>
      </p:sp>
    </p:spTree>
    <p:extLst>
      <p:ext uri="{BB962C8B-B14F-4D97-AF65-F5344CB8AC3E}">
        <p14:creationId xmlns:p14="http://schemas.microsoft.com/office/powerpoint/2010/main" val="9869446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06290-BF68-F3A8-B170-12171FCD29A3}"/>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3304E7E6-DFE1-6E5A-173C-DFC7E93AE2EF}"/>
              </a:ext>
            </a:extLst>
          </p:cNvPr>
          <p:cNvSpPr txBox="1">
            <a:spLocks/>
          </p:cNvSpPr>
          <p:nvPr/>
        </p:nvSpPr>
        <p:spPr>
          <a:xfrm>
            <a:off x="141079" y="140515"/>
            <a:ext cx="11137885" cy="513831"/>
          </a:xfrm>
          <a:prstGeom prst="rect">
            <a:avLst/>
          </a:prstGeom>
        </p:spPr>
        <p:txBody>
          <a:bodyPr lIns="121899" tIns="60949" rIns="121899" bIns="60949">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rPr>
              <a:t>Anubhav Training’s S/4HANA system access</a:t>
            </a:r>
            <a:endParaRPr kumimoji="0" lang="en-IN" sz="3200"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endParaRPr>
          </a:p>
        </p:txBody>
      </p:sp>
      <p:sp>
        <p:nvSpPr>
          <p:cNvPr id="3" name="TextBox 2">
            <a:extLst>
              <a:ext uri="{FF2B5EF4-FFF2-40B4-BE49-F238E27FC236}">
                <a16:creationId xmlns:a16="http://schemas.microsoft.com/office/drawing/2014/main" id="{C504FC6B-515C-B228-410B-7A8F77848C30}"/>
              </a:ext>
            </a:extLst>
          </p:cNvPr>
          <p:cNvSpPr txBox="1"/>
          <p:nvPr/>
        </p:nvSpPr>
        <p:spPr>
          <a:xfrm>
            <a:off x="177646" y="654346"/>
            <a:ext cx="11486844" cy="400087"/>
          </a:xfrm>
          <a:prstGeom prst="rect">
            <a:avLst/>
          </a:prstGeom>
          <a:noFill/>
        </p:spPr>
        <p:txBody>
          <a:bodyPr wrap="square" lIns="121899" tIns="60949" rIns="121899" bIns="60949"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Segoe UI"/>
                <a:ea typeface="+mn-ea"/>
                <a:cs typeface="+mn-cs"/>
              </a:rPr>
              <a:t>Server </a:t>
            </a:r>
            <a:r>
              <a:rPr kumimoji="0" lang="en-IN" sz="1800" b="0" i="0" u="none" strike="noStrike" kern="1200" cap="none" spc="0" normalizeH="0" baseline="0" noProof="0">
                <a:ln>
                  <a:noFill/>
                </a:ln>
                <a:solidFill>
                  <a:prstClr val="black"/>
                </a:solidFill>
                <a:effectLst/>
                <a:uLnTx/>
                <a:uFillTx/>
                <a:latin typeface="Segoe UI"/>
                <a:ea typeface="+mn-ea"/>
                <a:cs typeface="+mn-cs"/>
              </a:rPr>
              <a:t>access details</a:t>
            </a:r>
            <a:endParaRPr kumimoji="0" lang="en-IN" sz="1800" b="0" i="0" u="none" strike="noStrike" kern="1200" cap="none" spc="0" normalizeH="0" baseline="0" noProof="0" dirty="0">
              <a:ln>
                <a:noFill/>
              </a:ln>
              <a:solidFill>
                <a:prstClr val="black"/>
              </a:solidFill>
              <a:effectLst/>
              <a:uLnTx/>
              <a:uFillTx/>
              <a:latin typeface="Segoe UI"/>
              <a:ea typeface="+mn-ea"/>
              <a:cs typeface="+mn-cs"/>
            </a:endParaRPr>
          </a:p>
        </p:txBody>
      </p:sp>
      <p:sp>
        <p:nvSpPr>
          <p:cNvPr id="4" name="TextBox 3">
            <a:extLst>
              <a:ext uri="{FF2B5EF4-FFF2-40B4-BE49-F238E27FC236}">
                <a16:creationId xmlns:a16="http://schemas.microsoft.com/office/drawing/2014/main" id="{F182042B-09F1-AEED-C349-CD1A2FB46BB9}"/>
              </a:ext>
            </a:extLst>
          </p:cNvPr>
          <p:cNvSpPr txBox="1"/>
          <p:nvPr/>
        </p:nvSpPr>
        <p:spPr>
          <a:xfrm>
            <a:off x="9664615" y="6550224"/>
            <a:ext cx="2524210" cy="307776"/>
          </a:xfrm>
          <a:prstGeom prst="rect">
            <a:avLst/>
          </a:prstGeom>
          <a:noFill/>
        </p:spPr>
        <p:txBody>
          <a:bodyPr wrap="square" lIns="121899" tIns="60949" rIns="121899" bIns="60949">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2060"/>
                </a:solidFill>
                <a:effectLst/>
                <a:uLnTx/>
                <a:uFillTx/>
                <a:latin typeface="Cooper Black" panose="0208090404030B020404" pitchFamily="18" charset="0"/>
                <a:ea typeface="+mn-ea"/>
                <a:cs typeface="+mn-cs"/>
              </a:rPr>
              <a:t>www.anubhavtrainings.com</a:t>
            </a:r>
            <a:endParaRPr kumimoji="0" lang="en-IN" sz="1200" b="0" i="0" u="none" strike="noStrike" kern="1200" cap="none" spc="0" normalizeH="0" baseline="0" noProof="0" dirty="0">
              <a:ln>
                <a:noFill/>
              </a:ln>
              <a:solidFill>
                <a:srgbClr val="002060"/>
              </a:solidFill>
              <a:effectLst/>
              <a:uLnTx/>
              <a:uFillTx/>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61665103-8C43-7811-1F1E-B39C7321CB75}"/>
              </a:ext>
            </a:extLst>
          </p:cNvPr>
          <p:cNvPicPr>
            <a:picLocks noChangeAspect="1"/>
          </p:cNvPicPr>
          <p:nvPr/>
        </p:nvPicPr>
        <p:blipFill>
          <a:blip r:embed="rId2" cstate="print"/>
          <a:stretch>
            <a:fillRect/>
          </a:stretch>
        </p:blipFill>
        <p:spPr>
          <a:xfrm>
            <a:off x="11691527" y="70369"/>
            <a:ext cx="456414" cy="450920"/>
          </a:xfrm>
          <a:prstGeom prst="rect">
            <a:avLst/>
          </a:prstGeom>
        </p:spPr>
      </p:pic>
      <p:sp>
        <p:nvSpPr>
          <p:cNvPr id="6" name="TextBox 5">
            <a:extLst>
              <a:ext uri="{FF2B5EF4-FFF2-40B4-BE49-F238E27FC236}">
                <a16:creationId xmlns:a16="http://schemas.microsoft.com/office/drawing/2014/main" id="{8D24D715-CF95-B742-350B-A8CC95B518E7}"/>
              </a:ext>
            </a:extLst>
          </p:cNvPr>
          <p:cNvSpPr txBox="1"/>
          <p:nvPr/>
        </p:nvSpPr>
        <p:spPr>
          <a:xfrm>
            <a:off x="116700" y="6560282"/>
            <a:ext cx="505103" cy="292366"/>
          </a:xfrm>
          <a:prstGeom prst="rect">
            <a:avLst/>
          </a:prstGeom>
          <a:noFill/>
        </p:spPr>
        <p:txBody>
          <a:bodyPr wrap="square" lIns="121899" tIns="60949" rIns="121899" bIns="60949"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Segoe UI"/>
                <a:ea typeface="+mn-ea"/>
                <a:cs typeface="+mn-cs"/>
              </a:rPr>
              <a:t>11</a:t>
            </a:r>
            <a:endParaRPr kumimoji="0" lang="en-IN" sz="1100" b="0" i="0" u="none" strike="noStrike" kern="1200" cap="none" spc="0" normalizeH="0" baseline="0" noProof="0" dirty="0">
              <a:ln>
                <a:noFill/>
              </a:ln>
              <a:solidFill>
                <a:prstClr val="black"/>
              </a:solidFill>
              <a:effectLst/>
              <a:uLnTx/>
              <a:uFillTx/>
              <a:latin typeface="Segoe UI"/>
              <a:ea typeface="+mn-ea"/>
              <a:cs typeface="+mn-cs"/>
            </a:endParaRPr>
          </a:p>
        </p:txBody>
      </p:sp>
    </p:spTree>
    <p:extLst>
      <p:ext uri="{BB962C8B-B14F-4D97-AF65-F5344CB8AC3E}">
        <p14:creationId xmlns:p14="http://schemas.microsoft.com/office/powerpoint/2010/main" val="28020759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BE898-3925-91A3-D0BA-63B8ED9D1ABC}"/>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821B40D-32B6-FF9E-A3A8-783E3767F256}"/>
              </a:ext>
            </a:extLst>
          </p:cNvPr>
          <p:cNvSpPr txBox="1">
            <a:spLocks/>
          </p:cNvSpPr>
          <p:nvPr/>
        </p:nvSpPr>
        <p:spPr>
          <a:xfrm>
            <a:off x="141079" y="140515"/>
            <a:ext cx="11137885" cy="513831"/>
          </a:xfrm>
          <a:prstGeom prst="rect">
            <a:avLst/>
          </a:prstGeom>
        </p:spPr>
        <p:txBody>
          <a:bodyPr lIns="121899" tIns="60949" rIns="121899" bIns="60949">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rPr>
              <a:t>APIHUB</a:t>
            </a:r>
            <a:endParaRPr kumimoji="0" lang="en-IN" sz="3200"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endParaRPr>
          </a:p>
        </p:txBody>
      </p:sp>
      <p:sp>
        <p:nvSpPr>
          <p:cNvPr id="3" name="TextBox 2">
            <a:extLst>
              <a:ext uri="{FF2B5EF4-FFF2-40B4-BE49-F238E27FC236}">
                <a16:creationId xmlns:a16="http://schemas.microsoft.com/office/drawing/2014/main" id="{884EC457-B0F5-BAE0-D206-34AA21F7CEEA}"/>
              </a:ext>
            </a:extLst>
          </p:cNvPr>
          <p:cNvSpPr txBox="1"/>
          <p:nvPr/>
        </p:nvSpPr>
        <p:spPr>
          <a:xfrm>
            <a:off x="177646" y="654346"/>
            <a:ext cx="11486844" cy="2893077"/>
          </a:xfrm>
          <a:prstGeom prst="rect">
            <a:avLst/>
          </a:prstGeom>
          <a:noFill/>
        </p:spPr>
        <p:txBody>
          <a:bodyPr wrap="square" lIns="121899" tIns="60949" rIns="121899" bIns="60949"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Segoe UI"/>
                <a:ea typeface="+mn-ea"/>
                <a:cs typeface="+mn-cs"/>
              </a:rPr>
              <a:t>Anubhav, where can I find all the standard SAP APIs for achieving clean core?</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Segoe UI"/>
                <a:ea typeface="+mn-ea"/>
                <a:cs typeface="+mn-cs"/>
              </a:rPr>
              <a:t>How can I consume standard Sales order data from my company system in BTP</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Segoe UI"/>
                <a:ea typeface="+mn-ea"/>
                <a:cs typeface="+mn-cs"/>
              </a:rPr>
              <a:t>I don’t want to create tables in cloud, I want reuse what I have in my company</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black"/>
              </a:solidFill>
              <a:effectLst/>
              <a:uLnTx/>
              <a:uFillTx/>
              <a:latin typeface="Segoe UI"/>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Segoe UI"/>
                <a:ea typeface="+mn-ea"/>
                <a:cs typeface="+mn-cs"/>
              </a:rPr>
              <a:t>APIHUB also known as SAP business accelerator HUB, publicly available website offered by SAP to explore all the APIs, CDS views, standard content for all SAP products under one place. So customers &amp; partners can utilize the documentation and build side by side extensions in BTP using clean-core approach with the help of frameworks like CAP and RAP.</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Segoe UI"/>
                <a:ea typeface="+mn-ea"/>
                <a:cs typeface="+mn-cs"/>
                <a:hlinkClick r:id="rId2"/>
              </a:rPr>
              <a:t>https://api.sap.com</a:t>
            </a:r>
            <a:endParaRPr kumimoji="0" lang="en-IN" sz="1800" b="0" i="0" u="none" strike="noStrike" kern="1200" cap="none" spc="0" normalizeH="0" baseline="0" noProof="0" dirty="0">
              <a:ln>
                <a:noFill/>
              </a:ln>
              <a:solidFill>
                <a:prstClr val="black"/>
              </a:solidFill>
              <a:effectLst/>
              <a:uLnTx/>
              <a:uFillTx/>
              <a:latin typeface="Segoe UI"/>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black"/>
              </a:solidFill>
              <a:effectLst/>
              <a:uLnTx/>
              <a:uFillTx/>
              <a:latin typeface="Segoe UI"/>
              <a:ea typeface="+mn-ea"/>
              <a:cs typeface="+mn-cs"/>
            </a:endParaRPr>
          </a:p>
        </p:txBody>
      </p:sp>
      <p:sp>
        <p:nvSpPr>
          <p:cNvPr id="4" name="TextBox 3">
            <a:extLst>
              <a:ext uri="{FF2B5EF4-FFF2-40B4-BE49-F238E27FC236}">
                <a16:creationId xmlns:a16="http://schemas.microsoft.com/office/drawing/2014/main" id="{2A1C61DB-7978-16B7-2F73-CA6EB735D0C4}"/>
              </a:ext>
            </a:extLst>
          </p:cNvPr>
          <p:cNvSpPr txBox="1"/>
          <p:nvPr/>
        </p:nvSpPr>
        <p:spPr>
          <a:xfrm>
            <a:off x="9664615" y="6550224"/>
            <a:ext cx="2524210" cy="307776"/>
          </a:xfrm>
          <a:prstGeom prst="rect">
            <a:avLst/>
          </a:prstGeom>
          <a:noFill/>
        </p:spPr>
        <p:txBody>
          <a:bodyPr wrap="square" lIns="121899" tIns="60949" rIns="121899" bIns="60949">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2060"/>
                </a:solidFill>
                <a:effectLst/>
                <a:uLnTx/>
                <a:uFillTx/>
                <a:latin typeface="Cooper Black" panose="0208090404030B020404" pitchFamily="18" charset="0"/>
                <a:ea typeface="+mn-ea"/>
                <a:cs typeface="+mn-cs"/>
              </a:rPr>
              <a:t>www.anubhavtrainings.com</a:t>
            </a:r>
            <a:endParaRPr kumimoji="0" lang="en-IN" sz="1200" b="0" i="0" u="none" strike="noStrike" kern="1200" cap="none" spc="0" normalizeH="0" baseline="0" noProof="0" dirty="0">
              <a:ln>
                <a:noFill/>
              </a:ln>
              <a:solidFill>
                <a:srgbClr val="002060"/>
              </a:solidFill>
              <a:effectLst/>
              <a:uLnTx/>
              <a:uFillTx/>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4D69BCB6-B1AD-0E6E-0388-AF3599B00857}"/>
              </a:ext>
            </a:extLst>
          </p:cNvPr>
          <p:cNvPicPr>
            <a:picLocks noChangeAspect="1"/>
          </p:cNvPicPr>
          <p:nvPr/>
        </p:nvPicPr>
        <p:blipFill>
          <a:blip r:embed="rId3" cstate="print"/>
          <a:stretch>
            <a:fillRect/>
          </a:stretch>
        </p:blipFill>
        <p:spPr>
          <a:xfrm>
            <a:off x="11691527" y="70369"/>
            <a:ext cx="456414" cy="450920"/>
          </a:xfrm>
          <a:prstGeom prst="rect">
            <a:avLst/>
          </a:prstGeom>
        </p:spPr>
      </p:pic>
      <p:sp>
        <p:nvSpPr>
          <p:cNvPr id="6" name="TextBox 5">
            <a:extLst>
              <a:ext uri="{FF2B5EF4-FFF2-40B4-BE49-F238E27FC236}">
                <a16:creationId xmlns:a16="http://schemas.microsoft.com/office/drawing/2014/main" id="{A5F7A30A-0286-29CE-ABDD-D6583B61104F}"/>
              </a:ext>
            </a:extLst>
          </p:cNvPr>
          <p:cNvSpPr txBox="1"/>
          <p:nvPr/>
        </p:nvSpPr>
        <p:spPr>
          <a:xfrm>
            <a:off x="116700" y="6560282"/>
            <a:ext cx="505103" cy="292366"/>
          </a:xfrm>
          <a:prstGeom prst="rect">
            <a:avLst/>
          </a:prstGeom>
          <a:noFill/>
        </p:spPr>
        <p:txBody>
          <a:bodyPr wrap="square" lIns="121899" tIns="60949" rIns="121899" bIns="60949"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Segoe UI"/>
                <a:ea typeface="+mn-ea"/>
                <a:cs typeface="+mn-cs"/>
              </a:rPr>
              <a:t>11</a:t>
            </a:r>
            <a:endParaRPr kumimoji="0" lang="en-IN" sz="1100" b="0" i="0" u="none" strike="noStrike" kern="1200" cap="none" spc="0" normalizeH="0" baseline="0" noProof="0" dirty="0">
              <a:ln>
                <a:noFill/>
              </a:ln>
              <a:solidFill>
                <a:prstClr val="black"/>
              </a:solidFill>
              <a:effectLst/>
              <a:uLnTx/>
              <a:uFillTx/>
              <a:latin typeface="Segoe UI"/>
              <a:ea typeface="+mn-ea"/>
              <a:cs typeface="+mn-cs"/>
            </a:endParaRPr>
          </a:p>
        </p:txBody>
      </p:sp>
    </p:spTree>
    <p:extLst>
      <p:ext uri="{BB962C8B-B14F-4D97-AF65-F5344CB8AC3E}">
        <p14:creationId xmlns:p14="http://schemas.microsoft.com/office/powerpoint/2010/main" val="15372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FFB1-B477-7234-7772-C52F2881B973}"/>
              </a:ext>
            </a:extLst>
          </p:cNvPr>
          <p:cNvSpPr>
            <a:spLocks noGrp="1"/>
          </p:cNvSpPr>
          <p:nvPr>
            <p:ph type="title"/>
          </p:nvPr>
        </p:nvSpPr>
        <p:spPr>
          <a:xfrm>
            <a:off x="189756" y="332656"/>
            <a:ext cx="10969943" cy="711081"/>
          </a:xfrm>
        </p:spPr>
        <p:txBody>
          <a:bodyPr/>
          <a:lstStyle/>
          <a:p>
            <a:r>
              <a:rPr lang="en-US" dirty="0"/>
              <a:t>Hands on: Create Display like App for Sales Order</a:t>
            </a:r>
          </a:p>
        </p:txBody>
      </p:sp>
      <p:sp>
        <p:nvSpPr>
          <p:cNvPr id="4" name="TextBox 3">
            <a:extLst>
              <a:ext uri="{FF2B5EF4-FFF2-40B4-BE49-F238E27FC236}">
                <a16:creationId xmlns:a16="http://schemas.microsoft.com/office/drawing/2014/main" id="{E2D4CB00-16D0-210C-CA38-8E01C8CC8797}"/>
              </a:ext>
            </a:extLst>
          </p:cNvPr>
          <p:cNvSpPr txBox="1"/>
          <p:nvPr/>
        </p:nvSpPr>
        <p:spPr>
          <a:xfrm>
            <a:off x="189756" y="1412776"/>
            <a:ext cx="11665296" cy="2308324"/>
          </a:xfrm>
          <a:prstGeom prst="rect">
            <a:avLst/>
          </a:prstGeom>
          <a:noFill/>
        </p:spPr>
        <p:txBody>
          <a:bodyPr wrap="square">
            <a:spAutoFit/>
          </a:bodyPr>
          <a:lstStyle/>
          <a:p>
            <a:pPr algn="l">
              <a:buFont typeface="Arial" panose="020B0604020202020204" pitchFamily="34" charset="0"/>
              <a:buChar char="•"/>
            </a:pPr>
            <a:r>
              <a:rPr lang="en-US" b="0" i="0" dirty="0">
                <a:solidFill>
                  <a:schemeClr val="bg1"/>
                </a:solidFill>
                <a:effectLst/>
                <a:latin typeface="BentonSansRegular"/>
              </a:rPr>
              <a:t> Enabling an OData API on SAP S/4HANA</a:t>
            </a:r>
          </a:p>
          <a:p>
            <a:pPr algn="l">
              <a:buFont typeface="Arial" panose="020B0604020202020204" pitchFamily="34" charset="0"/>
              <a:buChar char="•"/>
            </a:pPr>
            <a:r>
              <a:rPr lang="en-US" b="0" i="0" dirty="0">
                <a:solidFill>
                  <a:schemeClr val="bg1"/>
                </a:solidFill>
                <a:effectLst/>
                <a:latin typeface="BentonSansRegular"/>
              </a:rPr>
              <a:t> Setting up SAP Cloud Connector and S/4HANA for principal propagation</a:t>
            </a:r>
          </a:p>
          <a:p>
            <a:pPr algn="l">
              <a:buFont typeface="Arial" panose="020B0604020202020204" pitchFamily="34" charset="0"/>
              <a:buChar char="•"/>
            </a:pPr>
            <a:r>
              <a:rPr lang="en-US" b="0" i="0" dirty="0">
                <a:solidFill>
                  <a:schemeClr val="bg1"/>
                </a:solidFill>
                <a:effectLst/>
                <a:latin typeface="BentonSansRegular"/>
              </a:rPr>
              <a:t> Setting up an SAP BTP BAS Subscription</a:t>
            </a:r>
          </a:p>
          <a:p>
            <a:pPr algn="l">
              <a:buFont typeface="Arial" panose="020B0604020202020204" pitchFamily="34" charset="0"/>
              <a:buChar char="•"/>
            </a:pPr>
            <a:r>
              <a:rPr lang="en-US" b="0" i="0" dirty="0">
                <a:solidFill>
                  <a:schemeClr val="bg1"/>
                </a:solidFill>
                <a:effectLst/>
                <a:latin typeface="BentonSansRegular"/>
              </a:rPr>
              <a:t> Developing of a simple Fiori Application with the SAP Business Application Studio</a:t>
            </a:r>
          </a:p>
          <a:p>
            <a:pPr algn="l">
              <a:buFont typeface="Arial" panose="020B0604020202020204" pitchFamily="34" charset="0"/>
              <a:buChar char="•"/>
            </a:pPr>
            <a:r>
              <a:rPr lang="en-US" b="0" i="0" dirty="0">
                <a:solidFill>
                  <a:schemeClr val="bg1"/>
                </a:solidFill>
                <a:effectLst/>
                <a:latin typeface="BentonSansRegular"/>
              </a:rPr>
              <a:t> Deploying the application to the HTLM5 repository service</a:t>
            </a:r>
          </a:p>
          <a:p>
            <a:pPr algn="l">
              <a:buFont typeface="Arial" panose="020B0604020202020204" pitchFamily="34" charset="0"/>
              <a:buChar char="•"/>
            </a:pPr>
            <a:r>
              <a:rPr lang="en-US" b="0" i="0" dirty="0">
                <a:solidFill>
                  <a:schemeClr val="bg1"/>
                </a:solidFill>
                <a:effectLst/>
                <a:latin typeface="BentonSansRegular"/>
              </a:rPr>
              <a:t> Integrating he application into the Launchpad service</a:t>
            </a:r>
          </a:p>
        </p:txBody>
      </p:sp>
      <p:sp>
        <p:nvSpPr>
          <p:cNvPr id="5" name="TextBox 4">
            <a:extLst>
              <a:ext uri="{FF2B5EF4-FFF2-40B4-BE49-F238E27FC236}">
                <a16:creationId xmlns:a16="http://schemas.microsoft.com/office/drawing/2014/main" id="{E72DF0D5-C121-4FFF-7DE9-147BC61F721F}"/>
              </a:ext>
            </a:extLst>
          </p:cNvPr>
          <p:cNvSpPr txBox="1"/>
          <p:nvPr/>
        </p:nvSpPr>
        <p:spPr>
          <a:xfrm>
            <a:off x="117748" y="4005064"/>
            <a:ext cx="11809312" cy="2246769"/>
          </a:xfrm>
          <a:prstGeom prst="rect">
            <a:avLst/>
          </a:prstGeom>
          <a:noFill/>
        </p:spPr>
        <p:txBody>
          <a:bodyPr wrap="square" rtlCol="0">
            <a:spAutoFit/>
          </a:bodyPr>
          <a:lstStyle/>
          <a:p>
            <a:pPr marL="457200" indent="-457200">
              <a:buAutoNum type="arabicPeriod"/>
            </a:pPr>
            <a:r>
              <a:rPr lang="en-US" sz="2000" dirty="0">
                <a:solidFill>
                  <a:schemeClr val="bg1"/>
                </a:solidFill>
              </a:rPr>
              <a:t>Destination service – to read the destination from SAP BTP at runtime for the purpose of connection</a:t>
            </a:r>
          </a:p>
          <a:p>
            <a:pPr marL="457200" indent="-457200">
              <a:buAutoNum type="arabicPeriod"/>
            </a:pPr>
            <a:r>
              <a:rPr lang="en-US" sz="2000" dirty="0">
                <a:solidFill>
                  <a:schemeClr val="bg1"/>
                </a:solidFill>
              </a:rPr>
              <a:t>Connectivity service – once the destination is read, it will use connectivity service to connect to our </a:t>
            </a:r>
            <a:r>
              <a:rPr lang="en-US" sz="2000" dirty="0" err="1">
                <a:solidFill>
                  <a:schemeClr val="bg1"/>
                </a:solidFill>
              </a:rPr>
              <a:t>oData</a:t>
            </a:r>
            <a:r>
              <a:rPr lang="en-US" sz="2000" dirty="0">
                <a:solidFill>
                  <a:schemeClr val="bg1"/>
                </a:solidFill>
              </a:rPr>
              <a:t> source</a:t>
            </a:r>
          </a:p>
          <a:p>
            <a:pPr marL="457200" indent="-457200">
              <a:buAutoNum type="arabicPeriod"/>
            </a:pPr>
            <a:r>
              <a:rPr lang="en-US" sz="2000" dirty="0">
                <a:solidFill>
                  <a:schemeClr val="bg1"/>
                </a:solidFill>
              </a:rPr>
              <a:t>HTML5 deployer – this will be used to deploy our app to HTML5 repository.</a:t>
            </a:r>
          </a:p>
          <a:p>
            <a:pPr marL="457200" indent="-457200">
              <a:buAutoNum type="arabicPeriod"/>
            </a:pPr>
            <a:r>
              <a:rPr lang="en-US" sz="2000" dirty="0">
                <a:solidFill>
                  <a:schemeClr val="bg1"/>
                </a:solidFill>
              </a:rPr>
              <a:t>HTML5 Repo Runtime – Will load the Fiori app when requested at runtime.</a:t>
            </a:r>
          </a:p>
          <a:p>
            <a:pPr marL="457200" indent="-457200">
              <a:buAutoNum type="arabicPeriod"/>
            </a:pPr>
            <a:r>
              <a:rPr lang="en-US" sz="2000" dirty="0">
                <a:solidFill>
                  <a:schemeClr val="bg1"/>
                </a:solidFill>
              </a:rPr>
              <a:t>Fiori launchpad service – which displays Fiori apps as a tile.</a:t>
            </a:r>
            <a:endParaRPr lang="en-IN" sz="2000" dirty="0">
              <a:solidFill>
                <a:schemeClr val="bg1"/>
              </a:solidFill>
            </a:endParaRPr>
          </a:p>
        </p:txBody>
      </p:sp>
    </p:spTree>
    <p:extLst>
      <p:ext uri="{BB962C8B-B14F-4D97-AF65-F5344CB8AC3E}">
        <p14:creationId xmlns:p14="http://schemas.microsoft.com/office/powerpoint/2010/main" val="12644723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A7F54-4532-E4E8-9F0B-6BA6890ABE1C}"/>
              </a:ext>
            </a:extLst>
          </p:cNvPr>
          <p:cNvSpPr>
            <a:spLocks noGrp="1"/>
          </p:cNvSpPr>
          <p:nvPr>
            <p:ph type="title"/>
          </p:nvPr>
        </p:nvSpPr>
        <p:spPr/>
        <p:txBody>
          <a:bodyPr/>
          <a:lstStyle/>
          <a:p>
            <a:r>
              <a:rPr lang="en-US" dirty="0"/>
              <a:t>Scenario 2: </a:t>
            </a:r>
          </a:p>
        </p:txBody>
      </p:sp>
      <p:sp>
        <p:nvSpPr>
          <p:cNvPr id="27" name="Rectangle 26">
            <a:extLst>
              <a:ext uri="{FF2B5EF4-FFF2-40B4-BE49-F238E27FC236}">
                <a16:creationId xmlns:a16="http://schemas.microsoft.com/office/drawing/2014/main" id="{3DEDE388-1C69-F73B-2341-9A5162010CCC}"/>
              </a:ext>
            </a:extLst>
          </p:cNvPr>
          <p:cNvSpPr/>
          <p:nvPr/>
        </p:nvSpPr>
        <p:spPr>
          <a:xfrm>
            <a:off x="9046740" y="1916832"/>
            <a:ext cx="2592288" cy="1944216"/>
          </a:xfrm>
          <a:prstGeom prst="rect">
            <a:avLst/>
          </a:prstGeom>
          <a:solidFill>
            <a:srgbClr val="202B50"/>
          </a:solidFill>
          <a:ln w="25400" cap="flat" cmpd="sng" algn="ctr">
            <a:solidFill>
              <a:schemeClr val="bg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SAP or Non SAP API OData which we want to reuse</a:t>
            </a:r>
          </a:p>
        </p:txBody>
      </p:sp>
      <p:sp>
        <p:nvSpPr>
          <p:cNvPr id="28" name="Rectangle 27">
            <a:extLst>
              <a:ext uri="{FF2B5EF4-FFF2-40B4-BE49-F238E27FC236}">
                <a16:creationId xmlns:a16="http://schemas.microsoft.com/office/drawing/2014/main" id="{A6D99C49-CFD9-3CE2-8C2B-3299E8CADDC4}"/>
              </a:ext>
            </a:extLst>
          </p:cNvPr>
          <p:cNvSpPr/>
          <p:nvPr/>
        </p:nvSpPr>
        <p:spPr>
          <a:xfrm>
            <a:off x="3718148" y="2276872"/>
            <a:ext cx="3744416" cy="1224136"/>
          </a:xfrm>
          <a:prstGeom prst="rect">
            <a:avLst/>
          </a:prstGeom>
          <a:solidFill>
            <a:srgbClr val="202B50"/>
          </a:solidFill>
          <a:ln w="25400" cap="flat" cmpd="sng" algn="ctr">
            <a:solidFill>
              <a:schemeClr val="bg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CAPM App</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Middleware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Data manipulation, enrichment, Security, automation, movement, proxy</a:t>
            </a:r>
          </a:p>
        </p:txBody>
      </p:sp>
      <p:cxnSp>
        <p:nvCxnSpPr>
          <p:cNvPr id="29" name="Straight Arrow Connector 28">
            <a:extLst>
              <a:ext uri="{FF2B5EF4-FFF2-40B4-BE49-F238E27FC236}">
                <a16:creationId xmlns:a16="http://schemas.microsoft.com/office/drawing/2014/main" id="{BDD867DC-C05A-C396-96F6-E7297E14844B}"/>
              </a:ext>
            </a:extLst>
          </p:cNvPr>
          <p:cNvCxnSpPr>
            <a:stCxn id="28" idx="3"/>
            <a:endCxn id="27" idx="1"/>
          </p:cNvCxnSpPr>
          <p:nvPr/>
        </p:nvCxnSpPr>
        <p:spPr>
          <a:xfrm>
            <a:off x="7462564" y="2888940"/>
            <a:ext cx="1584176" cy="0"/>
          </a:xfrm>
          <a:prstGeom prst="straightConnector1">
            <a:avLst/>
          </a:prstGeom>
          <a:noFill/>
          <a:ln w="9525" cap="flat" cmpd="sng" algn="ctr">
            <a:solidFill>
              <a:schemeClr val="bg1"/>
            </a:solidFill>
            <a:prstDash val="solid"/>
            <a:headEnd type="triangle"/>
            <a:tailEnd type="triangle"/>
          </a:ln>
          <a:effectLst/>
        </p:spPr>
      </p:cxnSp>
      <p:sp>
        <p:nvSpPr>
          <p:cNvPr id="30" name="Rectangle 29">
            <a:extLst>
              <a:ext uri="{FF2B5EF4-FFF2-40B4-BE49-F238E27FC236}">
                <a16:creationId xmlns:a16="http://schemas.microsoft.com/office/drawing/2014/main" id="{855E0D34-71EA-9DC5-8463-A646BB0B45D2}"/>
              </a:ext>
            </a:extLst>
          </p:cNvPr>
          <p:cNvSpPr/>
          <p:nvPr/>
        </p:nvSpPr>
        <p:spPr>
          <a:xfrm>
            <a:off x="4726260" y="4149080"/>
            <a:ext cx="1512168" cy="792088"/>
          </a:xfrm>
          <a:prstGeom prst="rect">
            <a:avLst/>
          </a:prstGeom>
          <a:solidFill>
            <a:srgbClr val="202B50"/>
          </a:solidFill>
          <a:ln w="25400" cap="flat" cmpd="sng" algn="ctr">
            <a:solidFill>
              <a:schemeClr val="bg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HANA</a:t>
            </a:r>
          </a:p>
        </p:txBody>
      </p:sp>
      <p:sp>
        <p:nvSpPr>
          <p:cNvPr id="31" name="Arrow: Down 30">
            <a:extLst>
              <a:ext uri="{FF2B5EF4-FFF2-40B4-BE49-F238E27FC236}">
                <a16:creationId xmlns:a16="http://schemas.microsoft.com/office/drawing/2014/main" id="{12FC8EE1-CF00-157D-2D7E-BC12CDB70012}"/>
              </a:ext>
            </a:extLst>
          </p:cNvPr>
          <p:cNvSpPr/>
          <p:nvPr/>
        </p:nvSpPr>
        <p:spPr>
          <a:xfrm>
            <a:off x="4726260" y="3573016"/>
            <a:ext cx="504056" cy="504056"/>
          </a:xfrm>
          <a:prstGeom prst="downArrow">
            <a:avLst/>
          </a:prstGeom>
          <a:solidFill>
            <a:srgbClr val="202B50"/>
          </a:solidFill>
          <a:ln w="25400" cap="flat" cmpd="sng" algn="ctr">
            <a:solidFill>
              <a:schemeClr val="bg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32" name="Arrow: Down 31">
            <a:extLst>
              <a:ext uri="{FF2B5EF4-FFF2-40B4-BE49-F238E27FC236}">
                <a16:creationId xmlns:a16="http://schemas.microsoft.com/office/drawing/2014/main" id="{D2B1FAC0-1C04-B82A-A7A6-015191B7C784}"/>
              </a:ext>
            </a:extLst>
          </p:cNvPr>
          <p:cNvSpPr/>
          <p:nvPr/>
        </p:nvSpPr>
        <p:spPr>
          <a:xfrm rot="10800000">
            <a:off x="5590356" y="3559869"/>
            <a:ext cx="504056" cy="504056"/>
          </a:xfrm>
          <a:prstGeom prst="downArrow">
            <a:avLst/>
          </a:prstGeom>
          <a:solidFill>
            <a:srgbClr val="202B50"/>
          </a:solidFill>
          <a:ln w="25400" cap="flat" cmpd="sng" algn="ctr">
            <a:solidFill>
              <a:schemeClr val="bg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33" name="Rectangle 32">
            <a:extLst>
              <a:ext uri="{FF2B5EF4-FFF2-40B4-BE49-F238E27FC236}">
                <a16:creationId xmlns:a16="http://schemas.microsoft.com/office/drawing/2014/main" id="{913B93FE-659E-CEB6-6EEB-7A2BA2DCB497}"/>
              </a:ext>
            </a:extLst>
          </p:cNvPr>
          <p:cNvSpPr/>
          <p:nvPr/>
        </p:nvSpPr>
        <p:spPr>
          <a:xfrm>
            <a:off x="4366219" y="1072957"/>
            <a:ext cx="2448272" cy="720080"/>
          </a:xfrm>
          <a:prstGeom prst="rect">
            <a:avLst/>
          </a:prstGeom>
          <a:solidFill>
            <a:srgbClr val="202B50"/>
          </a:solidFill>
          <a:ln w="25400" cap="flat" cmpd="sng" algn="ctr">
            <a:solidFill>
              <a:schemeClr val="bg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Own Fiori App</a:t>
            </a:r>
          </a:p>
        </p:txBody>
      </p:sp>
      <p:cxnSp>
        <p:nvCxnSpPr>
          <p:cNvPr id="34" name="Straight Arrow Connector 33">
            <a:extLst>
              <a:ext uri="{FF2B5EF4-FFF2-40B4-BE49-F238E27FC236}">
                <a16:creationId xmlns:a16="http://schemas.microsoft.com/office/drawing/2014/main" id="{A6298F06-C247-4BA9-CF6F-22C72B2A487B}"/>
              </a:ext>
            </a:extLst>
          </p:cNvPr>
          <p:cNvCxnSpPr>
            <a:stCxn id="33" idx="2"/>
            <a:endCxn id="28" idx="0"/>
          </p:cNvCxnSpPr>
          <p:nvPr/>
        </p:nvCxnSpPr>
        <p:spPr>
          <a:xfrm>
            <a:off x="5590355" y="1793037"/>
            <a:ext cx="1" cy="483835"/>
          </a:xfrm>
          <a:prstGeom prst="straightConnector1">
            <a:avLst/>
          </a:prstGeom>
          <a:noFill/>
          <a:ln w="9525" cap="flat" cmpd="sng" algn="ctr">
            <a:solidFill>
              <a:schemeClr val="bg1"/>
            </a:solidFill>
            <a:prstDash val="solid"/>
            <a:headEnd type="triangle"/>
            <a:tailEnd type="triangle"/>
          </a:ln>
          <a:effectLst/>
        </p:spPr>
      </p:cxnSp>
      <p:sp>
        <p:nvSpPr>
          <p:cNvPr id="35" name="Arrow: Right 34">
            <a:extLst>
              <a:ext uri="{FF2B5EF4-FFF2-40B4-BE49-F238E27FC236}">
                <a16:creationId xmlns:a16="http://schemas.microsoft.com/office/drawing/2014/main" id="{10DFE58B-C58F-5FCB-5DC2-E2B7A641EF99}"/>
              </a:ext>
            </a:extLst>
          </p:cNvPr>
          <p:cNvSpPr/>
          <p:nvPr/>
        </p:nvSpPr>
        <p:spPr>
          <a:xfrm>
            <a:off x="1989956" y="2420888"/>
            <a:ext cx="1584176" cy="307777"/>
          </a:xfrm>
          <a:prstGeom prst="rightArrow">
            <a:avLst/>
          </a:prstGeom>
          <a:solidFill>
            <a:srgbClr val="202B50"/>
          </a:solidFill>
          <a:ln w="25400" cap="flat" cmpd="sng" algn="ctr">
            <a:solidFill>
              <a:schemeClr val="bg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36" name="Arrow: Right 35">
            <a:extLst>
              <a:ext uri="{FF2B5EF4-FFF2-40B4-BE49-F238E27FC236}">
                <a16:creationId xmlns:a16="http://schemas.microsoft.com/office/drawing/2014/main" id="{CE4759A3-7ED1-1123-1CD9-2B2B55223900}"/>
              </a:ext>
            </a:extLst>
          </p:cNvPr>
          <p:cNvSpPr/>
          <p:nvPr/>
        </p:nvSpPr>
        <p:spPr>
          <a:xfrm rot="10800000">
            <a:off x="1989956" y="2855170"/>
            <a:ext cx="1584176" cy="307777"/>
          </a:xfrm>
          <a:prstGeom prst="rightArrow">
            <a:avLst/>
          </a:prstGeom>
          <a:solidFill>
            <a:srgbClr val="202B50"/>
          </a:solidFill>
          <a:ln w="25400" cap="flat" cmpd="sng" algn="ctr">
            <a:solidFill>
              <a:schemeClr val="bg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37" name="Rectangle 36">
            <a:extLst>
              <a:ext uri="{FF2B5EF4-FFF2-40B4-BE49-F238E27FC236}">
                <a16:creationId xmlns:a16="http://schemas.microsoft.com/office/drawing/2014/main" id="{A440883C-2D2F-2F80-6B0F-3A997CA1FE9B}"/>
              </a:ext>
            </a:extLst>
          </p:cNvPr>
          <p:cNvSpPr/>
          <p:nvPr/>
        </p:nvSpPr>
        <p:spPr>
          <a:xfrm>
            <a:off x="261761" y="2132856"/>
            <a:ext cx="1584177" cy="1440160"/>
          </a:xfrm>
          <a:prstGeom prst="rect">
            <a:avLst/>
          </a:prstGeom>
          <a:solidFill>
            <a:srgbClr val="202B50"/>
          </a:solidFill>
          <a:ln w="25400" cap="flat" cmpd="sng" algn="ctr">
            <a:solidFill>
              <a:schemeClr val="bg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Android App</a:t>
            </a:r>
          </a:p>
          <a:p>
            <a:pPr marL="0" marR="0" lvl="0" indent="0" algn="ctr" defTabSz="914400" eaLnBrk="1" fontAlgn="auto" latinLnBrk="0" hangingPunct="1">
              <a:lnSpc>
                <a:spcPct val="100000"/>
              </a:lnSpc>
              <a:spcBef>
                <a:spcPts val="0"/>
              </a:spcBef>
              <a:spcAft>
                <a:spcPts val="0"/>
              </a:spcAft>
              <a:buClrTx/>
              <a:buSzTx/>
              <a:buFontTx/>
              <a:buNone/>
              <a:tabLst/>
              <a:defRPr/>
            </a:pPr>
            <a:r>
              <a:rPr lang="en-US" sz="1800" kern="0" dirty="0">
                <a:solidFill>
                  <a:prstClr val="white"/>
                </a:solidFill>
                <a:latin typeface="Segoe UI"/>
              </a:rPr>
              <a:t>SAP UI5 App</a:t>
            </a: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11227299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FFB1-B477-7234-7772-C52F2881B973}"/>
              </a:ext>
            </a:extLst>
          </p:cNvPr>
          <p:cNvSpPr>
            <a:spLocks noGrp="1"/>
          </p:cNvSpPr>
          <p:nvPr>
            <p:ph type="title"/>
          </p:nvPr>
        </p:nvSpPr>
        <p:spPr/>
        <p:txBody>
          <a:bodyPr/>
          <a:lstStyle/>
          <a:p>
            <a:r>
              <a:rPr lang="en-US" dirty="0"/>
              <a:t>Hands on: Initialize CAPM Extension</a:t>
            </a:r>
          </a:p>
        </p:txBody>
      </p:sp>
      <p:sp>
        <p:nvSpPr>
          <p:cNvPr id="5" name="TextBox 4">
            <a:extLst>
              <a:ext uri="{FF2B5EF4-FFF2-40B4-BE49-F238E27FC236}">
                <a16:creationId xmlns:a16="http://schemas.microsoft.com/office/drawing/2014/main" id="{2F2B31D3-E342-461D-7674-04DB2CC57CA4}"/>
              </a:ext>
            </a:extLst>
          </p:cNvPr>
          <p:cNvSpPr txBox="1"/>
          <p:nvPr/>
        </p:nvSpPr>
        <p:spPr>
          <a:xfrm>
            <a:off x="189756" y="874455"/>
            <a:ext cx="11809312" cy="2554545"/>
          </a:xfrm>
          <a:prstGeom prst="rect">
            <a:avLst/>
          </a:prstGeom>
          <a:noFill/>
        </p:spPr>
        <p:txBody>
          <a:bodyPr wrap="square" rtlCol="0">
            <a:spAutoFit/>
          </a:bodyPr>
          <a:lstStyle/>
          <a:p>
            <a:pPr marL="457200" indent="-457200">
              <a:buAutoNum type="arabicPeriod"/>
            </a:pPr>
            <a:r>
              <a:rPr lang="en-US" sz="2000" dirty="0">
                <a:solidFill>
                  <a:schemeClr val="bg1"/>
                </a:solidFill>
              </a:rPr>
              <a:t>Create a new cap project with </a:t>
            </a:r>
            <a:r>
              <a:rPr lang="en-US" sz="2000" b="1" dirty="0" err="1">
                <a:solidFill>
                  <a:schemeClr val="bg1"/>
                </a:solidFill>
              </a:rPr>
              <a:t>cds</a:t>
            </a:r>
            <a:r>
              <a:rPr lang="en-US" sz="2000" b="1" dirty="0">
                <a:solidFill>
                  <a:schemeClr val="bg1"/>
                </a:solidFill>
              </a:rPr>
              <a:t> </a:t>
            </a:r>
            <a:r>
              <a:rPr lang="en-US" sz="2000" b="1" dirty="0" err="1">
                <a:solidFill>
                  <a:schemeClr val="bg1"/>
                </a:solidFill>
              </a:rPr>
              <a:t>init</a:t>
            </a:r>
            <a:endParaRPr lang="en-US" sz="2000" dirty="0">
              <a:solidFill>
                <a:schemeClr val="bg1"/>
              </a:solidFill>
            </a:endParaRPr>
          </a:p>
          <a:p>
            <a:pPr marL="457200" indent="-457200">
              <a:buAutoNum type="arabicPeriod"/>
            </a:pPr>
            <a:r>
              <a:rPr lang="en-US" sz="2000" dirty="0">
                <a:solidFill>
                  <a:schemeClr val="bg1"/>
                </a:solidFill>
              </a:rPr>
              <a:t>Drag drop </a:t>
            </a:r>
            <a:r>
              <a:rPr lang="en-US" sz="2000" dirty="0" err="1">
                <a:solidFill>
                  <a:schemeClr val="bg1"/>
                </a:solidFill>
              </a:rPr>
              <a:t>edmx</a:t>
            </a:r>
            <a:r>
              <a:rPr lang="en-US" sz="2000" dirty="0">
                <a:solidFill>
                  <a:schemeClr val="bg1"/>
                </a:solidFill>
              </a:rPr>
              <a:t> file downloaded from API hub and perform </a:t>
            </a:r>
            <a:r>
              <a:rPr lang="en-US" sz="2000" b="1" dirty="0" err="1">
                <a:solidFill>
                  <a:schemeClr val="bg1"/>
                </a:solidFill>
              </a:rPr>
              <a:t>cds</a:t>
            </a:r>
            <a:r>
              <a:rPr lang="en-US" sz="2000" b="1" dirty="0">
                <a:solidFill>
                  <a:schemeClr val="bg1"/>
                </a:solidFill>
              </a:rPr>
              <a:t> import </a:t>
            </a:r>
            <a:r>
              <a:rPr lang="en-US" sz="2000" dirty="0">
                <a:solidFill>
                  <a:schemeClr val="bg1"/>
                </a:solidFill>
              </a:rPr>
              <a:t>PATH_OF_EDMX</a:t>
            </a:r>
          </a:p>
          <a:p>
            <a:pPr marL="457200" indent="-457200">
              <a:buAutoNum type="arabicPeriod"/>
            </a:pPr>
            <a:r>
              <a:rPr lang="en-US" sz="2000" dirty="0">
                <a:solidFill>
                  <a:schemeClr val="bg1"/>
                </a:solidFill>
              </a:rPr>
              <a:t>Add a new </a:t>
            </a:r>
            <a:r>
              <a:rPr lang="en-US" sz="2000" dirty="0" err="1">
                <a:solidFill>
                  <a:schemeClr val="bg1"/>
                </a:solidFill>
              </a:rPr>
              <a:t>CatalogService.cds</a:t>
            </a:r>
            <a:r>
              <a:rPr lang="en-US" sz="2000" dirty="0">
                <a:solidFill>
                  <a:schemeClr val="bg1"/>
                </a:solidFill>
              </a:rPr>
              <a:t> and CatalogService.js</a:t>
            </a:r>
          </a:p>
          <a:p>
            <a:pPr marL="457200" indent="-457200">
              <a:buAutoNum type="arabicPeriod"/>
            </a:pPr>
            <a:r>
              <a:rPr lang="en-US" sz="2000" dirty="0">
                <a:solidFill>
                  <a:srgbClr val="0000FF"/>
                </a:solidFill>
                <a:hlinkClick r:id="rId2">
                  <a:extLst>
                    <a:ext uri="{A12FA001-AC4F-418D-AE19-62706E023703}">
                      <ahyp:hlinkClr xmlns:ahyp="http://schemas.microsoft.com/office/drawing/2018/hyperlinkcolor" val="tx"/>
                    </a:ext>
                  </a:extLst>
                </a:hlinkClick>
              </a:rPr>
              <a:t>S4HANA cloud </a:t>
            </a:r>
            <a:r>
              <a:rPr lang="en-US" sz="2000" dirty="0" err="1">
                <a:solidFill>
                  <a:srgbClr val="0000FF"/>
                </a:solidFill>
                <a:hlinkClick r:id="rId2">
                  <a:extLst>
                    <a:ext uri="{A12FA001-AC4F-418D-AE19-62706E023703}">
                      <ahyp:hlinkClr xmlns:ahyp="http://schemas.microsoft.com/office/drawing/2018/hyperlinkcolor" val="tx"/>
                    </a:ext>
                  </a:extLst>
                </a:hlinkClick>
              </a:rPr>
              <a:t>sdk</a:t>
            </a:r>
            <a:r>
              <a:rPr lang="en-US" sz="2000" dirty="0">
                <a:solidFill>
                  <a:schemeClr val="bg1"/>
                </a:solidFill>
                <a:hlinkClick r:id="rId2">
                  <a:extLst>
                    <a:ext uri="{A12FA001-AC4F-418D-AE19-62706E023703}">
                      <ahyp:hlinkClr xmlns:ahyp="http://schemas.microsoft.com/office/drawing/2018/hyperlinkcolor" val="tx"/>
                    </a:ext>
                  </a:extLst>
                </a:hlinkClick>
              </a:rPr>
              <a:t> </a:t>
            </a:r>
            <a:r>
              <a:rPr lang="en-US" sz="2000" dirty="0">
                <a:solidFill>
                  <a:schemeClr val="bg1"/>
                </a:solidFill>
              </a:rPr>
              <a:t>is SAP’s portfolio of all the type safe API (node modules) to communicate to SAP APIs.</a:t>
            </a:r>
          </a:p>
          <a:p>
            <a:pPr marL="457200" indent="-457200">
              <a:buAutoNum type="arabicPeriod"/>
            </a:pPr>
            <a:r>
              <a:rPr lang="en-IN" sz="2000" dirty="0">
                <a:solidFill>
                  <a:schemeClr val="bg1"/>
                </a:solidFill>
              </a:rPr>
              <a:t>Install the node module @sap/cloud-sdk-vdm-sales-order-service</a:t>
            </a:r>
          </a:p>
          <a:p>
            <a:pPr marL="457200" indent="-457200">
              <a:buAutoNum type="arabicPeriod"/>
            </a:pPr>
            <a:r>
              <a:rPr lang="en-IN" sz="2000" dirty="0">
                <a:solidFill>
                  <a:schemeClr val="bg1"/>
                </a:solidFill>
              </a:rPr>
              <a:t>Add the configuration to test our </a:t>
            </a:r>
            <a:r>
              <a:rPr lang="en-IN" sz="2000" dirty="0" err="1">
                <a:solidFill>
                  <a:schemeClr val="bg1"/>
                </a:solidFill>
              </a:rPr>
              <a:t>api</a:t>
            </a:r>
            <a:r>
              <a:rPr lang="en-IN" sz="2000" dirty="0">
                <a:solidFill>
                  <a:schemeClr val="bg1"/>
                </a:solidFill>
              </a:rPr>
              <a:t> locally – credentials </a:t>
            </a:r>
          </a:p>
          <a:p>
            <a:pPr marL="457200" indent="-457200">
              <a:buAutoNum type="arabicPeriod"/>
            </a:pPr>
            <a:endParaRPr lang="en-IN" sz="2000" dirty="0">
              <a:solidFill>
                <a:schemeClr val="bg1"/>
              </a:solidFill>
            </a:endParaRPr>
          </a:p>
        </p:txBody>
      </p:sp>
    </p:spTree>
    <p:extLst>
      <p:ext uri="{BB962C8B-B14F-4D97-AF65-F5344CB8AC3E}">
        <p14:creationId xmlns:p14="http://schemas.microsoft.com/office/powerpoint/2010/main" val="6983464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A7F54-4532-E4E8-9F0B-6BA6890ABE1C}"/>
              </a:ext>
            </a:extLst>
          </p:cNvPr>
          <p:cNvSpPr>
            <a:spLocks noGrp="1"/>
          </p:cNvSpPr>
          <p:nvPr>
            <p:ph type="title"/>
          </p:nvPr>
        </p:nvSpPr>
        <p:spPr/>
        <p:txBody>
          <a:bodyPr/>
          <a:lstStyle/>
          <a:p>
            <a:r>
              <a:rPr lang="en-US" dirty="0"/>
              <a:t>Hands on: Initialize CAPM Extension</a:t>
            </a:r>
          </a:p>
        </p:txBody>
      </p:sp>
      <p:sp>
        <p:nvSpPr>
          <p:cNvPr id="3" name="TextBox 2">
            <a:extLst>
              <a:ext uri="{FF2B5EF4-FFF2-40B4-BE49-F238E27FC236}">
                <a16:creationId xmlns:a16="http://schemas.microsoft.com/office/drawing/2014/main" id="{69E7517E-7184-B854-6DC3-2C27B9924D1A}"/>
              </a:ext>
            </a:extLst>
          </p:cNvPr>
          <p:cNvSpPr txBox="1"/>
          <p:nvPr/>
        </p:nvSpPr>
        <p:spPr>
          <a:xfrm>
            <a:off x="189756" y="980728"/>
            <a:ext cx="11809312" cy="5324535"/>
          </a:xfrm>
          <a:prstGeom prst="rect">
            <a:avLst/>
          </a:prstGeom>
          <a:noFill/>
        </p:spPr>
        <p:txBody>
          <a:bodyPr wrap="square" rtlCol="0">
            <a:spAutoFit/>
          </a:bodyPr>
          <a:lstStyle/>
          <a:p>
            <a:pPr marL="457200" indent="-457200">
              <a:buAutoNum type="arabicPeriod"/>
            </a:pPr>
            <a:r>
              <a:rPr lang="en-US" sz="2000" dirty="0">
                <a:solidFill>
                  <a:schemeClr val="bg1"/>
                </a:solidFill>
              </a:rPr>
              <a:t>Create a new folder and initialize cap project using </a:t>
            </a:r>
            <a:r>
              <a:rPr lang="en-US" sz="2000" b="1" dirty="0" err="1">
                <a:solidFill>
                  <a:schemeClr val="bg1"/>
                </a:solidFill>
              </a:rPr>
              <a:t>cds</a:t>
            </a:r>
            <a:r>
              <a:rPr lang="en-US" sz="2000" b="1" dirty="0">
                <a:solidFill>
                  <a:schemeClr val="bg1"/>
                </a:solidFill>
              </a:rPr>
              <a:t> </a:t>
            </a:r>
            <a:r>
              <a:rPr lang="en-US" sz="2000" b="1" dirty="0" err="1">
                <a:solidFill>
                  <a:schemeClr val="bg1"/>
                </a:solidFill>
              </a:rPr>
              <a:t>init</a:t>
            </a:r>
            <a:endParaRPr lang="en-US" sz="2000" b="1" dirty="0">
              <a:solidFill>
                <a:schemeClr val="bg1"/>
              </a:solidFill>
            </a:endParaRPr>
          </a:p>
          <a:p>
            <a:pPr marL="457200" indent="-457200">
              <a:buAutoNum type="arabicPeriod"/>
            </a:pPr>
            <a:r>
              <a:rPr lang="en-US" sz="2000" dirty="0">
                <a:solidFill>
                  <a:schemeClr val="bg1"/>
                </a:solidFill>
              </a:rPr>
              <a:t>Go inside project and install following modules</a:t>
            </a:r>
          </a:p>
          <a:p>
            <a:pPr lvl="1"/>
            <a:r>
              <a:rPr lang="en-IN" sz="2000" dirty="0">
                <a:solidFill>
                  <a:schemeClr val="bg1"/>
                </a:solidFill>
              </a:rPr>
              <a:t>2.1 Cloud Foundry Security - @sap/xssec, @sap/xsenv, passport</a:t>
            </a:r>
          </a:p>
          <a:p>
            <a:pPr lvl="1"/>
            <a:r>
              <a:rPr lang="en-IN" sz="2000" dirty="0">
                <a:solidFill>
                  <a:schemeClr val="bg1"/>
                </a:solidFill>
              </a:rPr>
              <a:t>2.2 OData V2 @sap/cds-odata-v2-adapter-proxy</a:t>
            </a:r>
          </a:p>
          <a:p>
            <a:pPr lvl="1"/>
            <a:r>
              <a:rPr lang="en-IN" sz="2000" dirty="0">
                <a:solidFill>
                  <a:schemeClr val="bg1"/>
                </a:solidFill>
              </a:rPr>
              <a:t>2.3 Serving </a:t>
            </a:r>
            <a:r>
              <a:rPr lang="en-IN" sz="2000" dirty="0" err="1">
                <a:solidFill>
                  <a:schemeClr val="bg1"/>
                </a:solidFill>
              </a:rPr>
              <a:t>odata</a:t>
            </a:r>
            <a:r>
              <a:rPr lang="en-IN" sz="2000" dirty="0">
                <a:solidFill>
                  <a:schemeClr val="bg1"/>
                </a:solidFill>
              </a:rPr>
              <a:t> v2 over cloud </a:t>
            </a:r>
            <a:r>
              <a:rPr lang="en-IN" sz="2000" dirty="0" err="1">
                <a:solidFill>
                  <a:schemeClr val="bg1"/>
                </a:solidFill>
              </a:rPr>
              <a:t>sdk</a:t>
            </a:r>
            <a:r>
              <a:rPr lang="en-IN" sz="2000" dirty="0">
                <a:solidFill>
                  <a:schemeClr val="bg1"/>
                </a:solidFill>
              </a:rPr>
              <a:t> - @sap-cloud-sdk/odata-v2</a:t>
            </a:r>
          </a:p>
          <a:p>
            <a:pPr lvl="1"/>
            <a:r>
              <a:rPr lang="en-IN" sz="2000" dirty="0">
                <a:solidFill>
                  <a:schemeClr val="bg1"/>
                </a:solidFill>
              </a:rPr>
              <a:t>2.4 To generate the service code in node </a:t>
            </a:r>
            <a:r>
              <a:rPr lang="en-IN" sz="2000" dirty="0" err="1">
                <a:solidFill>
                  <a:schemeClr val="bg1"/>
                </a:solidFill>
              </a:rPr>
              <a:t>js</a:t>
            </a:r>
            <a:r>
              <a:rPr lang="en-IN" sz="2000" dirty="0">
                <a:solidFill>
                  <a:schemeClr val="bg1"/>
                </a:solidFill>
              </a:rPr>
              <a:t>, install cloud </a:t>
            </a:r>
            <a:r>
              <a:rPr lang="en-IN" sz="2000" dirty="0" err="1">
                <a:solidFill>
                  <a:schemeClr val="bg1"/>
                </a:solidFill>
              </a:rPr>
              <a:t>sdk</a:t>
            </a:r>
            <a:r>
              <a:rPr lang="en-IN" sz="2000" dirty="0">
                <a:solidFill>
                  <a:schemeClr val="bg1"/>
                </a:solidFill>
              </a:rPr>
              <a:t> generator module using @sap-cloud-sdk/generator</a:t>
            </a:r>
          </a:p>
          <a:p>
            <a:r>
              <a:rPr lang="en-IN" sz="2000" dirty="0">
                <a:solidFill>
                  <a:schemeClr val="bg1"/>
                </a:solidFill>
              </a:rPr>
              <a:t>3. Create a new folder service-spec, and </a:t>
            </a:r>
            <a:r>
              <a:rPr lang="en-IN" sz="2000" dirty="0" err="1">
                <a:solidFill>
                  <a:schemeClr val="bg1"/>
                </a:solidFill>
              </a:rPr>
              <a:t>cds</a:t>
            </a:r>
            <a:r>
              <a:rPr lang="en-IN" sz="2000" dirty="0">
                <a:solidFill>
                  <a:schemeClr val="bg1"/>
                </a:solidFill>
              </a:rPr>
              <a:t> watch, after that drag drop the </a:t>
            </a:r>
            <a:r>
              <a:rPr lang="en-IN" sz="2000" dirty="0" err="1">
                <a:solidFill>
                  <a:schemeClr val="bg1"/>
                </a:solidFill>
              </a:rPr>
              <a:t>edmx</a:t>
            </a:r>
            <a:r>
              <a:rPr lang="en-IN" sz="2000" dirty="0">
                <a:solidFill>
                  <a:schemeClr val="bg1"/>
                </a:solidFill>
              </a:rPr>
              <a:t> file of our service to the folder. It will create external folder</a:t>
            </a:r>
          </a:p>
          <a:p>
            <a:r>
              <a:rPr lang="en-IN" sz="2000" dirty="0">
                <a:solidFill>
                  <a:schemeClr val="bg1"/>
                </a:solidFill>
              </a:rPr>
              <a:t>4. Generate the JS code to automatically get all the calls which will call the service</a:t>
            </a:r>
          </a:p>
          <a:p>
            <a:r>
              <a:rPr lang="en-IN" sz="2000" b="1" dirty="0" err="1">
                <a:solidFill>
                  <a:schemeClr val="accent4">
                    <a:lumMod val="60000"/>
                    <a:lumOff val="40000"/>
                  </a:schemeClr>
                </a:solidFill>
              </a:rPr>
              <a:t>npx</a:t>
            </a:r>
            <a:r>
              <a:rPr lang="en-IN" sz="2000" b="1" dirty="0">
                <a:solidFill>
                  <a:schemeClr val="accent4">
                    <a:lumMod val="60000"/>
                    <a:lumOff val="40000"/>
                  </a:schemeClr>
                </a:solidFill>
              </a:rPr>
              <a:t> generate-</a:t>
            </a:r>
            <a:r>
              <a:rPr lang="en-IN" sz="2000" b="1" dirty="0" err="1">
                <a:solidFill>
                  <a:schemeClr val="accent4">
                    <a:lumMod val="60000"/>
                    <a:lumOff val="40000"/>
                  </a:schemeClr>
                </a:solidFill>
              </a:rPr>
              <a:t>odata</a:t>
            </a:r>
            <a:r>
              <a:rPr lang="en-IN" sz="2000" b="1" dirty="0">
                <a:solidFill>
                  <a:schemeClr val="accent4">
                    <a:lumMod val="60000"/>
                    <a:lumOff val="40000"/>
                  </a:schemeClr>
                </a:solidFill>
              </a:rPr>
              <a:t>-client --input ./service-spec --</a:t>
            </a:r>
            <a:r>
              <a:rPr lang="en-IN" sz="2000" b="1" dirty="0" err="1">
                <a:solidFill>
                  <a:schemeClr val="accent4">
                    <a:lumMod val="60000"/>
                    <a:lumOff val="40000"/>
                  </a:schemeClr>
                </a:solidFill>
              </a:rPr>
              <a:t>outputDir</a:t>
            </a:r>
            <a:r>
              <a:rPr lang="en-IN" sz="2000" b="1" dirty="0">
                <a:solidFill>
                  <a:schemeClr val="accent4">
                    <a:lumMod val="60000"/>
                    <a:lumOff val="40000"/>
                  </a:schemeClr>
                </a:solidFill>
              </a:rPr>
              <a:t> ./</a:t>
            </a:r>
            <a:r>
              <a:rPr lang="en-IN" sz="2000" b="1" dirty="0" err="1">
                <a:solidFill>
                  <a:schemeClr val="accent4">
                    <a:lumMod val="60000"/>
                    <a:lumOff val="40000"/>
                  </a:schemeClr>
                </a:solidFill>
              </a:rPr>
              <a:t>srv</a:t>
            </a:r>
            <a:r>
              <a:rPr lang="en-IN" sz="2000" b="1" dirty="0">
                <a:solidFill>
                  <a:schemeClr val="accent4">
                    <a:lumMod val="60000"/>
                    <a:lumOff val="40000"/>
                  </a:schemeClr>
                </a:solidFill>
              </a:rPr>
              <a:t>/sales-order-</a:t>
            </a:r>
            <a:r>
              <a:rPr lang="en-IN" sz="2000" b="1" dirty="0" err="1">
                <a:solidFill>
                  <a:schemeClr val="accent4">
                    <a:lumMod val="60000"/>
                    <a:lumOff val="40000"/>
                  </a:schemeClr>
                </a:solidFill>
              </a:rPr>
              <a:t>api</a:t>
            </a:r>
            <a:endParaRPr lang="en-IN" sz="2000" b="1" dirty="0">
              <a:solidFill>
                <a:schemeClr val="accent4">
                  <a:lumMod val="60000"/>
                  <a:lumOff val="40000"/>
                </a:schemeClr>
              </a:solidFill>
            </a:endParaRPr>
          </a:p>
          <a:p>
            <a:r>
              <a:rPr lang="en-IN" sz="2000" dirty="0">
                <a:solidFill>
                  <a:schemeClr val="bg1"/>
                </a:solidFill>
              </a:rPr>
              <a:t>Give the folder path, not the </a:t>
            </a:r>
            <a:r>
              <a:rPr lang="en-IN" sz="2000" dirty="0" err="1">
                <a:solidFill>
                  <a:schemeClr val="bg1"/>
                </a:solidFill>
              </a:rPr>
              <a:t>edmx</a:t>
            </a:r>
            <a:r>
              <a:rPr lang="en-IN" sz="2000" dirty="0">
                <a:solidFill>
                  <a:schemeClr val="bg1"/>
                </a:solidFill>
              </a:rPr>
              <a:t> file path</a:t>
            </a:r>
          </a:p>
          <a:p>
            <a:r>
              <a:rPr lang="en-IN" sz="2000" dirty="0">
                <a:solidFill>
                  <a:schemeClr val="bg1"/>
                </a:solidFill>
              </a:rPr>
              <a:t>5. Define the service definition in </a:t>
            </a:r>
            <a:r>
              <a:rPr lang="en-IN" sz="2000" dirty="0" err="1">
                <a:solidFill>
                  <a:schemeClr val="bg1"/>
                </a:solidFill>
              </a:rPr>
              <a:t>CatalogService.cds</a:t>
            </a:r>
            <a:r>
              <a:rPr lang="en-IN" sz="2000" dirty="0">
                <a:solidFill>
                  <a:schemeClr val="bg1"/>
                </a:solidFill>
              </a:rPr>
              <a:t> file by referencing from </a:t>
            </a:r>
            <a:r>
              <a:rPr lang="en-IN" sz="2000" dirty="0" err="1">
                <a:solidFill>
                  <a:schemeClr val="bg1"/>
                </a:solidFill>
              </a:rPr>
              <a:t>csn</a:t>
            </a:r>
            <a:r>
              <a:rPr lang="en-IN" sz="2000" dirty="0">
                <a:solidFill>
                  <a:schemeClr val="bg1"/>
                </a:solidFill>
              </a:rPr>
              <a:t> file generated based on SAP OData</a:t>
            </a:r>
          </a:p>
          <a:p>
            <a:r>
              <a:rPr lang="en-IN" sz="2000" dirty="0">
                <a:solidFill>
                  <a:schemeClr val="bg1"/>
                </a:solidFill>
              </a:rPr>
              <a:t>6. Define the service implementation CatalogService.js file and write the code to use the generated type script modules which will act like bridge to communicate to our SAP OData Business API.</a:t>
            </a:r>
          </a:p>
          <a:p>
            <a:r>
              <a:rPr lang="en-IN" sz="2000" dirty="0">
                <a:solidFill>
                  <a:schemeClr val="bg1"/>
                </a:solidFill>
              </a:rPr>
              <a:t>7. Generate a Fiori application using free style with local cap project. </a:t>
            </a:r>
          </a:p>
        </p:txBody>
      </p:sp>
    </p:spTree>
    <p:extLst>
      <p:ext uri="{BB962C8B-B14F-4D97-AF65-F5344CB8AC3E}">
        <p14:creationId xmlns:p14="http://schemas.microsoft.com/office/powerpoint/2010/main" val="36665808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FFB1-B477-7234-7772-C52F2881B973}"/>
              </a:ext>
            </a:extLst>
          </p:cNvPr>
          <p:cNvSpPr>
            <a:spLocks noGrp="1"/>
          </p:cNvSpPr>
          <p:nvPr>
            <p:ph type="title"/>
          </p:nvPr>
        </p:nvSpPr>
        <p:spPr/>
        <p:txBody>
          <a:bodyPr/>
          <a:lstStyle/>
          <a:p>
            <a:r>
              <a:rPr lang="en-US" dirty="0"/>
              <a:t>Hands on Cloud Extension</a:t>
            </a:r>
          </a:p>
        </p:txBody>
      </p:sp>
      <p:sp>
        <p:nvSpPr>
          <p:cNvPr id="3" name="TextBox 2">
            <a:extLst>
              <a:ext uri="{FF2B5EF4-FFF2-40B4-BE49-F238E27FC236}">
                <a16:creationId xmlns:a16="http://schemas.microsoft.com/office/drawing/2014/main" id="{9B7C5E39-64FC-6595-A253-13AA437144EA}"/>
              </a:ext>
            </a:extLst>
          </p:cNvPr>
          <p:cNvSpPr txBox="1"/>
          <p:nvPr/>
        </p:nvSpPr>
        <p:spPr>
          <a:xfrm>
            <a:off x="189756" y="908720"/>
            <a:ext cx="11809312" cy="3785652"/>
          </a:xfrm>
          <a:prstGeom prst="rect">
            <a:avLst/>
          </a:prstGeom>
          <a:noFill/>
        </p:spPr>
        <p:txBody>
          <a:bodyPr wrap="square" rtlCol="0">
            <a:spAutoFit/>
          </a:bodyPr>
          <a:lstStyle/>
          <a:p>
            <a:r>
              <a:rPr lang="en-US" sz="2000" dirty="0">
                <a:solidFill>
                  <a:schemeClr val="bg1"/>
                </a:solidFill>
              </a:rPr>
              <a:t>8. Replace hardcoded credentials with destination</a:t>
            </a:r>
          </a:p>
          <a:p>
            <a:r>
              <a:rPr lang="en-US" sz="2000" dirty="0">
                <a:solidFill>
                  <a:schemeClr val="bg1"/>
                </a:solidFill>
              </a:rPr>
              <a:t>9. Create a destination service and maintain destination with name S4HANA because the same we used in our code.</a:t>
            </a:r>
          </a:p>
          <a:p>
            <a:r>
              <a:rPr lang="en-US" sz="2000" dirty="0">
                <a:solidFill>
                  <a:schemeClr val="bg1"/>
                </a:solidFill>
              </a:rPr>
              <a:t>10. Create </a:t>
            </a:r>
            <a:r>
              <a:rPr lang="en-US" sz="2000" dirty="0" err="1">
                <a:solidFill>
                  <a:schemeClr val="bg1"/>
                </a:solidFill>
              </a:rPr>
              <a:t>mta.yaml</a:t>
            </a:r>
            <a:r>
              <a:rPr lang="en-US" sz="2000" dirty="0">
                <a:solidFill>
                  <a:schemeClr val="bg1"/>
                </a:solidFill>
              </a:rPr>
              <a:t> file for deployment</a:t>
            </a:r>
          </a:p>
          <a:p>
            <a:r>
              <a:rPr lang="en-US" sz="2000" dirty="0">
                <a:solidFill>
                  <a:schemeClr val="bg1"/>
                </a:solidFill>
              </a:rPr>
              <a:t>11. Add the modules, both </a:t>
            </a:r>
            <a:r>
              <a:rPr lang="en-US" sz="2000" dirty="0" err="1">
                <a:solidFill>
                  <a:schemeClr val="bg1"/>
                </a:solidFill>
              </a:rPr>
              <a:t>srv</a:t>
            </a:r>
            <a:r>
              <a:rPr lang="en-US" sz="2000" dirty="0">
                <a:solidFill>
                  <a:schemeClr val="bg1"/>
                </a:solidFill>
              </a:rPr>
              <a:t> and </a:t>
            </a:r>
            <a:r>
              <a:rPr lang="en-US" sz="2000" dirty="0" err="1">
                <a:solidFill>
                  <a:schemeClr val="bg1"/>
                </a:solidFill>
              </a:rPr>
              <a:t>ui</a:t>
            </a:r>
            <a:r>
              <a:rPr lang="en-US" sz="2000" dirty="0">
                <a:solidFill>
                  <a:schemeClr val="bg1"/>
                </a:solidFill>
              </a:rPr>
              <a:t> module. </a:t>
            </a:r>
          </a:p>
          <a:p>
            <a:r>
              <a:rPr lang="en-US" sz="2000" dirty="0">
                <a:solidFill>
                  <a:schemeClr val="bg1"/>
                </a:solidFill>
              </a:rPr>
              <a:t>12. Add Resources as destination and </a:t>
            </a:r>
            <a:r>
              <a:rPr lang="en-US" sz="2000" dirty="0" err="1">
                <a:solidFill>
                  <a:schemeClr val="bg1"/>
                </a:solidFill>
              </a:rPr>
              <a:t>xsuaa</a:t>
            </a:r>
            <a:r>
              <a:rPr lang="en-US" sz="2000" dirty="0">
                <a:solidFill>
                  <a:schemeClr val="bg1"/>
                </a:solidFill>
              </a:rPr>
              <a:t>. Maintain the </a:t>
            </a:r>
            <a:r>
              <a:rPr lang="en-US" sz="2000" dirty="0" err="1">
                <a:solidFill>
                  <a:schemeClr val="bg1"/>
                </a:solidFill>
              </a:rPr>
              <a:t>xs-security.json</a:t>
            </a:r>
            <a:r>
              <a:rPr lang="en-US" sz="2000" dirty="0">
                <a:solidFill>
                  <a:schemeClr val="bg1"/>
                </a:solidFill>
              </a:rPr>
              <a:t> file</a:t>
            </a:r>
          </a:p>
          <a:p>
            <a:r>
              <a:rPr lang="en-US" sz="2000" dirty="0">
                <a:solidFill>
                  <a:schemeClr val="bg1"/>
                </a:solidFill>
              </a:rPr>
              <a:t>13. Get the package </a:t>
            </a:r>
            <a:r>
              <a:rPr lang="en-US" sz="2000" dirty="0" err="1">
                <a:solidFill>
                  <a:schemeClr val="bg1"/>
                </a:solidFill>
              </a:rPr>
              <a:t>json</a:t>
            </a:r>
            <a:r>
              <a:rPr lang="en-US" sz="2000" dirty="0">
                <a:solidFill>
                  <a:schemeClr val="bg1"/>
                </a:solidFill>
              </a:rPr>
              <a:t> in app folder from </a:t>
            </a:r>
            <a:r>
              <a:rPr lang="en-US" sz="2000" dirty="0" err="1">
                <a:solidFill>
                  <a:schemeClr val="bg1"/>
                </a:solidFill>
              </a:rPr>
              <a:t>ui</a:t>
            </a:r>
            <a:r>
              <a:rPr lang="en-US" sz="2000" dirty="0">
                <a:solidFill>
                  <a:schemeClr val="bg1"/>
                </a:solidFill>
              </a:rPr>
              <a:t> project, Add the app router module @sap/approuter and include start script.</a:t>
            </a:r>
          </a:p>
          <a:p>
            <a:r>
              <a:rPr lang="en-US" sz="2000" dirty="0">
                <a:solidFill>
                  <a:schemeClr val="bg1"/>
                </a:solidFill>
              </a:rPr>
              <a:t>14. </a:t>
            </a:r>
            <a:r>
              <a:rPr lang="en-US" sz="2000" dirty="0" err="1">
                <a:solidFill>
                  <a:schemeClr val="bg1"/>
                </a:solidFill>
              </a:rPr>
              <a:t>xs-app.json</a:t>
            </a:r>
            <a:r>
              <a:rPr lang="en-US" sz="2000" dirty="0">
                <a:solidFill>
                  <a:schemeClr val="bg1"/>
                </a:solidFill>
              </a:rPr>
              <a:t> file for routing paths</a:t>
            </a:r>
          </a:p>
          <a:p>
            <a:r>
              <a:rPr lang="en-US" sz="2000" dirty="0">
                <a:solidFill>
                  <a:schemeClr val="bg1"/>
                </a:solidFill>
              </a:rPr>
              <a:t>15. Push the code to the </a:t>
            </a:r>
            <a:r>
              <a:rPr lang="en-US" sz="2000" dirty="0" err="1">
                <a:solidFill>
                  <a:schemeClr val="bg1"/>
                </a:solidFill>
              </a:rPr>
              <a:t>github</a:t>
            </a:r>
            <a:endParaRPr lang="en-US" sz="2000" dirty="0">
              <a:solidFill>
                <a:schemeClr val="bg1"/>
              </a:solidFill>
            </a:endParaRPr>
          </a:p>
          <a:p>
            <a:r>
              <a:rPr lang="en-US" sz="2000" dirty="0">
                <a:solidFill>
                  <a:schemeClr val="bg1"/>
                </a:solidFill>
              </a:rPr>
              <a:t>16. You can pull the app in BAS tool, Right click on </a:t>
            </a:r>
            <a:r>
              <a:rPr lang="en-US" sz="2000" dirty="0" err="1">
                <a:solidFill>
                  <a:schemeClr val="bg1"/>
                </a:solidFill>
              </a:rPr>
              <a:t>mta.yaml</a:t>
            </a:r>
            <a:r>
              <a:rPr lang="en-US" sz="2000" dirty="0">
                <a:solidFill>
                  <a:schemeClr val="bg1"/>
                </a:solidFill>
              </a:rPr>
              <a:t> and build MTA </a:t>
            </a:r>
            <a:r>
              <a:rPr lang="en-US" sz="2000" dirty="0" err="1">
                <a:solidFill>
                  <a:schemeClr val="bg1"/>
                </a:solidFill>
              </a:rPr>
              <a:t>Archieve</a:t>
            </a:r>
            <a:endParaRPr lang="en-US" sz="2000" dirty="0">
              <a:solidFill>
                <a:schemeClr val="bg1"/>
              </a:solidFill>
            </a:endParaRPr>
          </a:p>
          <a:p>
            <a:r>
              <a:rPr lang="en-US" sz="2000" dirty="0">
                <a:solidFill>
                  <a:schemeClr val="bg1"/>
                </a:solidFill>
              </a:rPr>
              <a:t>17. Once done, right click and deploy </a:t>
            </a:r>
            <a:r>
              <a:rPr lang="en-US" sz="2000" dirty="0" err="1">
                <a:solidFill>
                  <a:schemeClr val="bg1"/>
                </a:solidFill>
              </a:rPr>
              <a:t>MTA_Archieve</a:t>
            </a:r>
            <a:r>
              <a:rPr lang="en-US" sz="2000" dirty="0">
                <a:solidFill>
                  <a:schemeClr val="bg1"/>
                </a:solidFill>
              </a:rPr>
              <a:t> to SAP BTP</a:t>
            </a:r>
            <a:endParaRPr lang="en-IN" sz="2000" dirty="0">
              <a:solidFill>
                <a:schemeClr val="bg1"/>
              </a:solidFill>
            </a:endParaRPr>
          </a:p>
        </p:txBody>
      </p:sp>
    </p:spTree>
    <p:extLst>
      <p:ext uri="{BB962C8B-B14F-4D97-AF65-F5344CB8AC3E}">
        <p14:creationId xmlns:p14="http://schemas.microsoft.com/office/powerpoint/2010/main" val="29619720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20</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60,000+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3_Office Theme">
  <a:themeElements>
    <a:clrScheme name="Custom 927">
      <a:dk1>
        <a:sysClr val="windowText" lastClr="000000"/>
      </a:dk1>
      <a:lt1>
        <a:sysClr val="window" lastClr="FFFFFF"/>
      </a:lt1>
      <a:dk2>
        <a:srgbClr val="153153"/>
      </a:dk2>
      <a:lt2>
        <a:srgbClr val="EEECE1"/>
      </a:lt2>
      <a:accent1>
        <a:srgbClr val="FF4823"/>
      </a:accent1>
      <a:accent2>
        <a:srgbClr val="346CE8"/>
      </a:accent2>
      <a:accent3>
        <a:srgbClr val="8BB74C"/>
      </a:accent3>
      <a:accent4>
        <a:srgbClr val="D0AD49"/>
      </a:accent4>
      <a:accent5>
        <a:srgbClr val="5CEEA6"/>
      </a:accent5>
      <a:accent6>
        <a:srgbClr val="7740B5"/>
      </a:accent6>
      <a:hlink>
        <a:srgbClr val="0000FF"/>
      </a:hlink>
      <a:folHlink>
        <a:srgbClr val="800080"/>
      </a:folHlink>
    </a:clrScheme>
    <a:fontScheme name="slidemodel">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8382</TotalTime>
  <Words>1278</Words>
  <Application>Microsoft Office PowerPoint</Application>
  <PresentationFormat>Custom</PresentationFormat>
  <Paragraphs>135</Paragraphs>
  <Slides>21</Slides>
  <Notes>3</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21</vt:i4>
      </vt:variant>
    </vt:vector>
  </HeadingPairs>
  <TitlesOfParts>
    <vt:vector size="34" baseType="lpstr">
      <vt:lpstr>Amasis MT Pro</vt:lpstr>
      <vt:lpstr>Amasis MT Pro Black</vt:lpstr>
      <vt:lpstr>Arial</vt:lpstr>
      <vt:lpstr>Arial Black</vt:lpstr>
      <vt:lpstr>BentonSansRegular</vt:lpstr>
      <vt:lpstr>Calibri</vt:lpstr>
      <vt:lpstr>Cooper Black</vt:lpstr>
      <vt:lpstr>Segoe UI</vt:lpstr>
      <vt:lpstr>Segoe UI Black</vt:lpstr>
      <vt:lpstr>Segoe UI Light</vt:lpstr>
      <vt:lpstr>Wingdings</vt:lpstr>
      <vt:lpstr>Office Theme</vt:lpstr>
      <vt:lpstr>3_Office Theme</vt:lpstr>
      <vt:lpstr>SAP BTP Extension Suite Training</vt:lpstr>
      <vt:lpstr>PowerPoint Presentation</vt:lpstr>
      <vt:lpstr>Agenda – Day 20</vt:lpstr>
      <vt:lpstr>PowerPoint Presentation</vt:lpstr>
      <vt:lpstr>PowerPoint Presentation</vt:lpstr>
      <vt:lpstr>PowerPoint Presentation</vt:lpstr>
      <vt:lpstr>Clean Core</vt:lpstr>
      <vt:lpstr>Benefits</vt:lpstr>
      <vt:lpstr>PowerPoint Presentation</vt:lpstr>
      <vt:lpstr>PowerPoint Presentation</vt:lpstr>
      <vt:lpstr>PowerPoint Presentation</vt:lpstr>
      <vt:lpstr>PowerPoint Presentation</vt:lpstr>
      <vt:lpstr>PowerPoint Presentation</vt:lpstr>
      <vt:lpstr>Hands on: Create Display like App for Sales Order</vt:lpstr>
      <vt:lpstr>Scenario 2: </vt:lpstr>
      <vt:lpstr>Hands on: Initialize CAPM Extension</vt:lpstr>
      <vt:lpstr>Hands on: Initialize CAPM Extension</vt:lpstr>
      <vt:lpstr>Hands on Cloud Extension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326</cp:revision>
  <dcterms:created xsi:type="dcterms:W3CDTF">2013-09-12T13:05:01Z</dcterms:created>
  <dcterms:modified xsi:type="dcterms:W3CDTF">2026-08-17T07:21:37Z</dcterms:modified>
</cp:coreProperties>
</file>