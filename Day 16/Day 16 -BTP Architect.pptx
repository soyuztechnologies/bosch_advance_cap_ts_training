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16"/>
  </p:notesMasterIdLst>
  <p:sldIdLst>
    <p:sldId id="276" r:id="rId3"/>
    <p:sldId id="4122" r:id="rId4"/>
    <p:sldId id="277" r:id="rId5"/>
    <p:sldId id="4767" r:id="rId6"/>
    <p:sldId id="4804" r:id="rId7"/>
    <p:sldId id="4770" r:id="rId8"/>
    <p:sldId id="293" r:id="rId9"/>
    <p:sldId id="324" r:id="rId10"/>
    <p:sldId id="497" r:id="rId11"/>
    <p:sldId id="499" r:id="rId12"/>
    <p:sldId id="282" r:id="rId13"/>
    <p:sldId id="280" r:id="rId14"/>
    <p:sldId id="4711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320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9E35-A56E-224A-CCFA-82D328CE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90BB7-938A-28A5-66D6-F4A08F9C8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3E517-739C-1846-C4D1-106D8BDE1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C2D7B-D360-4692-F375-0A9AF99B9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73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F16C-22A0-5813-51A9-80149BC3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D56CF-66EB-4D1F-2653-D3896AC38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F9835-055C-97B1-C006-028CAF4D1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59727-95A4-3C6E-6A0B-6762C7439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090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8ABE-9C9C-29A2-5364-8D8A873F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5B02E-A148-EF1C-ECD0-54FE7743B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0411C-8553-E0CC-708C-81E912262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8699-EA56-E2F4-C9C3-DA235AF33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23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78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28" y="0"/>
            <a:ext cx="9733444" cy="7110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>
                <a:solidFill>
                  <a:schemeClr val="accent6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5638B-B677-974A-A667-0478687C5541}"/>
              </a:ext>
            </a:extLst>
          </p:cNvPr>
          <p:cNvSpPr txBox="1"/>
          <p:nvPr userDrawn="1"/>
        </p:nvSpPr>
        <p:spPr>
          <a:xfrm>
            <a:off x="8974732" y="638132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www.anubhavtrainings.com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1050B-06DD-6B9B-5D4B-52C80C0910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108" y="40947"/>
            <a:ext cx="801948" cy="792088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63B6F30-DCC2-D394-EDCF-46E8F9575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762" y="836712"/>
            <a:ext cx="11342274" cy="561662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Amasis MT Pro" panose="020405040500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83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62" y="1498600"/>
            <a:ext cx="7008574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4799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7662" y="2209800"/>
            <a:ext cx="7008574" cy="1219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58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84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266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48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3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79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23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6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13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58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72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17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76201"/>
            <a:ext cx="10969943" cy="812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5383398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195986" y="1295400"/>
            <a:ext cx="5383398" cy="4876800"/>
          </a:xfrm>
        </p:spPr>
        <p:txBody>
          <a:bodyPr>
            <a:normAutofit/>
          </a:bodyPr>
          <a:lstStyle>
            <a:lvl1pPr marL="0" indent="0"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38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8024310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07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24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03147" y="6375400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22045" y="2794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466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10" y="76201"/>
            <a:ext cx="658210" cy="6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60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03147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887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1092200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1092201"/>
            <a:ext cx="6813892" cy="5033964"/>
          </a:xfrm>
        </p:spPr>
        <p:txBody>
          <a:bodyPr>
            <a:normAutofit/>
          </a:bodyPr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2311401"/>
            <a:ext cx="4010039" cy="3814764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80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1193799"/>
            <a:ext cx="7313295" cy="3533775"/>
          </a:xfrm>
        </p:spPr>
        <p:txBody>
          <a:bodyPr/>
          <a:lstStyle>
            <a:lvl1pPr marL="0" indent="0">
              <a:buNone/>
              <a:defRPr sz="4266"/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24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87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1396999"/>
            <a:ext cx="2742486" cy="4729164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396999"/>
            <a:ext cx="8024310" cy="4729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779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441" y="1803400"/>
            <a:ext cx="10969943" cy="1727200"/>
          </a:xfrm>
          <a:prstGeom prst="rect">
            <a:avLst/>
          </a:prstGeom>
        </p:spPr>
        <p:txBody>
          <a:bodyPr/>
          <a:lstStyle>
            <a:lvl1pPr algn="l">
              <a:defRPr sz="7998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1" y="3530600"/>
            <a:ext cx="10969943" cy="12192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00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  <p:sldLayoutId id="2147483673" r:id="rId12"/>
    <p:sldLayoutId id="2147483688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295401"/>
            <a:ext cx="10969943" cy="48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7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/>
  <p:txStyles>
    <p:titleStyle>
      <a:lvl1pPr algn="l" defTabSz="1218895" rtl="0" eaLnBrk="1" latinLnBrk="0" hangingPunct="1">
        <a:spcBef>
          <a:spcPct val="0"/>
        </a:spcBef>
        <a:buNone/>
        <a:defRPr lang="en-US" sz="3732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slide" Target="slide6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sap.com/docs/cloud-identity-services/cloud-identity-services/configure-idp-initiated-ss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elp.sap.com/docs/btp/sap-business-technology-platform/developing-with-sap-cloud-application-programming-mode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hyperlink" Target="http://www.dribbble.com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20.tif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16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16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SAP Build Work zone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SAP Cloud Identity Service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HTML5 Repository App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CDA7-AC58-600B-1184-8FB6DC7E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B523-39E7-01DE-5F23-A7D25787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SAP Cloud Identity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575AA-57A5-D255-8DAA-10CFAF07F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762" y="836712"/>
            <a:ext cx="11342274" cy="2961431"/>
          </a:xfrm>
        </p:spPr>
        <p:txBody>
          <a:bodyPr>
            <a:normAutofit/>
          </a:bodyPr>
          <a:lstStyle/>
          <a:p>
            <a:r>
              <a:rPr lang="en-US" sz="1800" dirty="0"/>
              <a:t>SAP BTP CIS are the group of service, which enable us to integrate identity and access management between systems and for the BTP account. The goal is to provide a seamless single sign-on experience across multiple systems and apps. While ensuring that systems and data access is secure.</a:t>
            </a:r>
          </a:p>
          <a:p>
            <a:r>
              <a:rPr lang="en-US" sz="1800" dirty="0"/>
              <a:t>Also work like a user store for your business users in the company.</a:t>
            </a:r>
          </a:p>
          <a:p>
            <a:r>
              <a:rPr lang="en-US" sz="1800" dirty="0"/>
              <a:t>Cloud identity service includes</a:t>
            </a:r>
          </a:p>
          <a:p>
            <a:pPr marL="342900" indent="-342900">
              <a:buAutoNum type="arabicPeriod"/>
            </a:pPr>
            <a:r>
              <a:rPr lang="en-US" sz="1800" dirty="0"/>
              <a:t>Identity Authentication</a:t>
            </a:r>
          </a:p>
          <a:p>
            <a:pPr marL="342900" indent="-342900">
              <a:buAutoNum type="arabicPeriod"/>
            </a:pPr>
            <a:r>
              <a:rPr lang="en-US" sz="1800" dirty="0"/>
              <a:t>Identity provisioning</a:t>
            </a:r>
          </a:p>
          <a:p>
            <a:pPr marL="342900" indent="-342900">
              <a:buAutoNum type="arabicPeriod"/>
            </a:pPr>
            <a:r>
              <a:rPr lang="en-US" sz="1800" dirty="0"/>
              <a:t>Identity Directory</a:t>
            </a:r>
          </a:p>
          <a:p>
            <a:pPr marL="342900" indent="-342900">
              <a:buAutoNum type="arabicPeriod"/>
            </a:pPr>
            <a:r>
              <a:rPr lang="en-US" sz="1800" dirty="0"/>
              <a:t>Authorization management for business users</a:t>
            </a:r>
          </a:p>
        </p:txBody>
      </p:sp>
    </p:spTree>
    <p:extLst>
      <p:ext uri="{BB962C8B-B14F-4D97-AF65-F5344CB8AC3E}">
        <p14:creationId xmlns:p14="http://schemas.microsoft.com/office/powerpoint/2010/main" val="230554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D077-6F83-0965-5026-23BC0518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8963-D4DC-28FA-F233-F6AA01B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Persona</a:t>
            </a:r>
          </a:p>
        </p:txBody>
      </p:sp>
      <p:pic>
        <p:nvPicPr>
          <p:cNvPr id="2052" name="Picture 4" descr="Software engineer avatar Images - Free Download on Freepik">
            <a:extLst>
              <a:ext uri="{FF2B5EF4-FFF2-40B4-BE49-F238E27FC236}">
                <a16:creationId xmlns:a16="http://schemas.microsoft.com/office/drawing/2014/main" id="{453AADD2-EBDF-C003-5333-38152CAFD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96" y="701363"/>
            <a:ext cx="1700809" cy="170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ftware developer avatar Vectors - Download Free High-Quality Vectors from  Freepik | Freepik">
            <a:extLst>
              <a:ext uri="{FF2B5EF4-FFF2-40B4-BE49-F238E27FC236}">
                <a16:creationId xmlns:a16="http://schemas.microsoft.com/office/drawing/2014/main" id="{B937F640-71E8-643D-3A3D-88FAD579E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76" y="836712"/>
            <a:ext cx="2088232" cy="139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37E77D-89D3-9F9A-9BBC-8F7E474CEE0E}"/>
              </a:ext>
            </a:extLst>
          </p:cNvPr>
          <p:cNvSpPr txBox="1"/>
          <p:nvPr/>
        </p:nvSpPr>
        <p:spPr>
          <a:xfrm>
            <a:off x="345105" y="2276872"/>
            <a:ext cx="272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BTP Admin (Anubhav)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D34E9-9734-7B92-C17E-A1056232C9AE}"/>
              </a:ext>
            </a:extLst>
          </p:cNvPr>
          <p:cNvSpPr txBox="1"/>
          <p:nvPr/>
        </p:nvSpPr>
        <p:spPr>
          <a:xfrm>
            <a:off x="3142084" y="2247365"/>
            <a:ext cx="272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BTP Developer (Anubhav)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F9484-EE00-17D9-8A2C-2898F8AD44B6}"/>
              </a:ext>
            </a:extLst>
          </p:cNvPr>
          <p:cNvSpPr txBox="1"/>
          <p:nvPr/>
        </p:nvSpPr>
        <p:spPr>
          <a:xfrm>
            <a:off x="-23619" y="2550351"/>
            <a:ext cx="29523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Subscribe to different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entitlements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Subscriptions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Manage Users in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Manages environment,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destinations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Landscape in CTMS</a:t>
            </a:r>
          </a:p>
          <a:p>
            <a:pPr marL="342900" indent="-342900">
              <a:buAutoNum type="arabicPeriod"/>
            </a:pPr>
            <a:r>
              <a:rPr lang="en-IN" sz="1200" b="1" dirty="0"/>
              <a:t>Configure SAP BTP Cloud Identity service and Appoints </a:t>
            </a:r>
            <a:r>
              <a:rPr lang="en-IN" sz="1200" b="1" dirty="0" err="1"/>
              <a:t>Subu</a:t>
            </a:r>
            <a:r>
              <a:rPr lang="en-IN" sz="1200" b="1" dirty="0"/>
              <a:t> as Application Admin</a:t>
            </a:r>
          </a:p>
          <a:p>
            <a:pPr marL="342900" indent="-342900">
              <a:buAutoNum type="arabicPeriod"/>
            </a:pPr>
            <a:r>
              <a:rPr lang="en-IN" sz="1200" b="1" dirty="0"/>
              <a:t>Create Trust Relation between Cloud Identity Service and BTP Sub Account </a:t>
            </a:r>
          </a:p>
          <a:p>
            <a:pPr marL="342900" indent="-342900">
              <a:buAutoNum type="arabicPeriod"/>
            </a:pPr>
            <a:r>
              <a:rPr lang="en-IN" sz="1200" b="1" dirty="0"/>
              <a:t>Subscribe to SAP Build </a:t>
            </a:r>
            <a:r>
              <a:rPr lang="en-IN" sz="1200" b="1" dirty="0" err="1"/>
              <a:t>Workzone</a:t>
            </a:r>
            <a:r>
              <a:rPr lang="en-IN" sz="1200" b="1" dirty="0"/>
              <a:t> and give access to developer and also to App Admin</a:t>
            </a:r>
          </a:p>
          <a:p>
            <a:pPr marL="342900" indent="-342900">
              <a:buAutoNum type="arabicPeriod"/>
            </a:pPr>
            <a:r>
              <a:rPr lang="en-IN" sz="1200" b="1" dirty="0"/>
              <a:t>Send email to </a:t>
            </a:r>
            <a:r>
              <a:rPr lang="en-IN" sz="1200" b="1" dirty="0" err="1"/>
              <a:t>Subu</a:t>
            </a:r>
            <a:r>
              <a:rPr lang="en-IN" sz="1200" b="1" dirty="0"/>
              <a:t> for build </a:t>
            </a:r>
            <a:r>
              <a:rPr lang="en-IN" sz="1200" b="1" dirty="0" err="1"/>
              <a:t>workzone</a:t>
            </a:r>
            <a:endParaRPr lang="en-IN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BFF91-1E83-2286-2768-E89B2B7D927B}"/>
              </a:ext>
            </a:extLst>
          </p:cNvPr>
          <p:cNvSpPr txBox="1"/>
          <p:nvPr/>
        </p:nvSpPr>
        <p:spPr>
          <a:xfrm>
            <a:off x="3070076" y="2550351"/>
            <a:ext cx="29523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BAS tool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Fiori on Cloud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CAPM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Deploy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Push code to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Backing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Testing and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tiles for Build </a:t>
            </a:r>
            <a:r>
              <a:rPr lang="en-IN" sz="1400" dirty="0" err="1"/>
              <a:t>Workzone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Already created a Fiori on Cloud Application, Will deploy this app to BTP in HTML5 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D1487-C1D3-EC83-557B-6DDA052DBEBE}"/>
              </a:ext>
            </a:extLst>
          </p:cNvPr>
          <p:cNvSpPr txBox="1"/>
          <p:nvPr/>
        </p:nvSpPr>
        <p:spPr>
          <a:xfrm>
            <a:off x="6235779" y="2276210"/>
            <a:ext cx="3098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Application Admin (Subbu)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C3465-791E-4C8E-8A9A-B1D3801A01C5}"/>
              </a:ext>
            </a:extLst>
          </p:cNvPr>
          <p:cNvSpPr txBox="1"/>
          <p:nvPr/>
        </p:nvSpPr>
        <p:spPr>
          <a:xfrm>
            <a:off x="6163771" y="2579196"/>
            <a:ext cx="30963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Admin for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Application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Role Collections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Register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Reset their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Company SSO with BTP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Grant Role Collections to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Give access to Build </a:t>
            </a:r>
            <a:r>
              <a:rPr lang="en-IN" sz="1200" dirty="0" err="1"/>
              <a:t>workzone</a:t>
            </a:r>
            <a:r>
              <a:rPr lang="en-IN" sz="1200" dirty="0"/>
              <a:t> app to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Grant Fiori App Access to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Receives email and access SAP Build Work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Login to BWZ and configure a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Fetch the apps deployed by deb to html5-repo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hlinkClick r:id="rId5" action="ppaction://hlinksldjump"/>
              </a:rPr>
              <a:t>Check slide</a:t>
            </a:r>
            <a:endParaRPr lang="en-IN" sz="1200" b="1" dirty="0"/>
          </a:p>
        </p:txBody>
      </p:sp>
      <p:pic>
        <p:nvPicPr>
          <p:cNvPr id="2060" name="Picture 12" descr="Old Man Avatar Vector Art, Icons, and Graphics for Free Download">
            <a:extLst>
              <a:ext uri="{FF2B5EF4-FFF2-40B4-BE49-F238E27FC236}">
                <a16:creationId xmlns:a16="http://schemas.microsoft.com/office/drawing/2014/main" id="{51621704-7E1F-3E04-2761-5EF9CDFE1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534" y="675304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ulti Ethnic Avatar Collection: Over 552 Royalty-Free Licensable Stock  Illustrations &amp; Drawings | Shutterstock">
            <a:extLst>
              <a:ext uri="{FF2B5EF4-FFF2-40B4-BE49-F238E27FC236}">
                <a16:creationId xmlns:a16="http://schemas.microsoft.com/office/drawing/2014/main" id="{AB361495-BCB9-1FBA-BCD8-C7D7A220C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77"/>
          <a:stretch>
            <a:fillRect/>
          </a:stretch>
        </p:blipFill>
        <p:spPr bwMode="auto">
          <a:xfrm>
            <a:off x="9334772" y="816296"/>
            <a:ext cx="2724325" cy="148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86ECF8-1354-8545-3186-B054F91F593C}"/>
              </a:ext>
            </a:extLst>
          </p:cNvPr>
          <p:cNvSpPr txBox="1"/>
          <p:nvPr/>
        </p:nvSpPr>
        <p:spPr>
          <a:xfrm>
            <a:off x="9260115" y="2276210"/>
            <a:ext cx="3098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Business users (Raj, Sonia, Rob, Sajeev, Bhagya)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08EE4-0573-80A5-4732-3D12FEFFD811}"/>
              </a:ext>
            </a:extLst>
          </p:cNvPr>
          <p:cNvSpPr txBox="1"/>
          <p:nvPr/>
        </p:nvSpPr>
        <p:spPr>
          <a:xfrm>
            <a:off x="9188107" y="2979564"/>
            <a:ext cx="29523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They are using actual apps in their respective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Sales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purchase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Service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71326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B43D-D00F-3073-A4B6-4AEE9CAE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FCB-7022-9619-A353-2270C4EF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How to configure Build </a:t>
            </a:r>
            <a:r>
              <a:rPr lang="en-US" dirty="0" err="1"/>
              <a:t>Workzone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9FCB3-7084-C29B-5E9A-276CE31A6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Receives email and access SAP Build Work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Login to BWZ and configure a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Fetch the apps deployed by developer to html5-repo from the channel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Go to content explorer&gt;HTML5 Explorer&gt; Import the app for the user in the Content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Import the app to the Content Explorer and the app is now available [</a:t>
            </a:r>
            <a:r>
              <a:rPr lang="en-IN" sz="1800" dirty="0" err="1"/>
              <a:t>ToDo</a:t>
            </a:r>
            <a:r>
              <a:rPr lang="en-IN" sz="1800" dirty="0"/>
              <a:t>: Next session Anubhav has to show our deployed html5 app instead the mock app]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</a:t>
            </a:r>
            <a:r>
              <a:rPr lang="en-IN" sz="1800" dirty="0" err="1"/>
              <a:t>catalog</a:t>
            </a:r>
            <a:r>
              <a:rPr lang="en-IN" sz="1800" dirty="0"/>
              <a:t> – Collection of tiles, Add all apps to the </a:t>
            </a:r>
            <a:r>
              <a:rPr lang="en-IN" sz="1800" dirty="0" err="1"/>
              <a:t>catalog</a:t>
            </a:r>
            <a:r>
              <a:rPr lang="en-IN" sz="1800" dirty="0"/>
              <a:t> and save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group – Providing meaningful grouping of apps for easy navigation e.g. Employee, Manager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role – once granted to our business users they can access the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Open the site settings, and perform role assignment to the site</a:t>
            </a:r>
          </a:p>
          <a:p>
            <a:r>
              <a:rPr lang="en-IN" sz="1800" dirty="0"/>
              <a:t>----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Registers the business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[BU] Receives and email and activates his/her SAP account with SAP Custom </a:t>
            </a:r>
            <a:r>
              <a:rPr lang="en-IN" sz="1800" dirty="0" err="1"/>
              <a:t>Idp</a:t>
            </a:r>
            <a:r>
              <a:rPr lang="en-IN" sz="1800" dirty="0"/>
              <a:t> (Cloud Identity Service)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Grant the business user access to our Role and Launchpad external user role so they can access our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Share the link of the business site with the user which when they open, they can consume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[BU] Goes and access the launchpad (site)</a:t>
            </a:r>
          </a:p>
          <a:p>
            <a:r>
              <a:rPr lang="en-IN" sz="1800" dirty="0">
                <a:hlinkClick r:id="rId3"/>
              </a:rPr>
              <a:t>https://help.sap.com/docs/cloud-identity-services/cloud-identity-services/configure-idp-initiated-sso</a:t>
            </a:r>
            <a:endParaRPr lang="en-IN" sz="1800" dirty="0"/>
          </a:p>
          <a:p>
            <a:r>
              <a:rPr lang="en-IN" sz="1800" dirty="0">
                <a:hlinkClick r:id="rId4"/>
              </a:rPr>
              <a:t>https://help.sap.com/docs/btp/sap-business-technology-platform/developing-with-sap-cloud-application-programming-model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69341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19C45-BE39-6D0D-142E-C9FC3E35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62020-8D71-E31A-09C9-A2797DAF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43734-243A-5AED-8E4D-06E1D66A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B0E1C5-8A08-413F-8B09-C84C12CD5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SAP Build Work Zone?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9C4F-071B-E3C7-E6AB-76054C04A9E0}"/>
              </a:ext>
            </a:extLst>
          </p:cNvPr>
          <p:cNvSpPr txBox="1"/>
          <p:nvPr/>
        </p:nvSpPr>
        <p:spPr>
          <a:xfrm>
            <a:off x="207028" y="889663"/>
            <a:ext cx="116964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72" panose="020B0503030000000003" pitchFamily="34" charset="0"/>
              </a:rPr>
              <a:t>SAP Build Work Zone, is a powerful SAP Business Technology Platform service that consists of several components to integrate cloud and on-premise applications onto a single page including site designing capabilities.</a:t>
            </a:r>
          </a:p>
          <a:p>
            <a:endParaRPr lang="en-US" sz="1600" dirty="0">
              <a:solidFill>
                <a:schemeClr val="bg1"/>
              </a:solidFill>
              <a:latin typeface="72" panose="020B05030300000000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72" panose="020B0503030000000003" pitchFamily="34" charset="0"/>
              </a:rPr>
              <a:t>SAP Launchpad Services is now called </a:t>
            </a:r>
            <a:r>
              <a:rPr lang="en-US" sz="1600" b="1" dirty="0">
                <a:solidFill>
                  <a:schemeClr val="bg1"/>
                </a:solidFill>
                <a:latin typeface="72" panose="020B0503030000000003" pitchFamily="34" charset="0"/>
              </a:rPr>
              <a:t>SAP Build Work Zone, Standard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4857FC-F584-21F5-8924-5FA2ED7AC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7"/>
          <a:stretch/>
        </p:blipFill>
        <p:spPr bwMode="auto">
          <a:xfrm>
            <a:off x="914274" y="2548199"/>
            <a:ext cx="10243245" cy="374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27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person wearing virtual reality goggles&#10;&#10;Description automatically generated">
            <a:extLst>
              <a:ext uri="{FF2B5EF4-FFF2-40B4-BE49-F238E27FC236}">
                <a16:creationId xmlns:a16="http://schemas.microsoft.com/office/drawing/2014/main" id="{D3D90AE4-C3C7-D65D-106A-847A74202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50"/>
          <a:stretch/>
        </p:blipFill>
        <p:spPr bwMode="auto">
          <a:xfrm>
            <a:off x="609441" y="1295956"/>
            <a:ext cx="10969943" cy="48295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D9D8C3-B1AE-95E5-1A88-BBCFF4EE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4515" y="6355588"/>
            <a:ext cx="3859795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/>
              <a:t>www.anubhavtrainings.com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571A3-C853-2F67-C770-C47B0ECA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441" y="6355588"/>
            <a:ext cx="2844059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B6F15528-21DE-4FAA-801E-634DDDAF4B2B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E42BD-A877-EC47-A511-B7A4C999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84942"/>
            <a:ext cx="10969943" cy="711016"/>
          </a:xfrm>
        </p:spPr>
        <p:txBody>
          <a:bodyPr>
            <a:normAutofit/>
          </a:bodyPr>
          <a:lstStyle/>
          <a:p>
            <a:r>
              <a:rPr lang="en-IN" dirty="0">
                <a:latin typeface="Cooper Black" panose="0208090404030B020404" pitchFamily="18" charset="0"/>
              </a:rPr>
              <a:t>Hands-on Setting up Build Work Zone</a:t>
            </a:r>
          </a:p>
        </p:txBody>
      </p:sp>
    </p:spTree>
    <p:extLst>
      <p:ext uri="{BB962C8B-B14F-4D97-AF65-F5344CB8AC3E}">
        <p14:creationId xmlns:p14="http://schemas.microsoft.com/office/powerpoint/2010/main" val="212568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7192-09C6-FA74-855F-3A3AE844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A302E-9B86-4630-28D7-7376FAF0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8BA6A-AB3E-281D-F2A0-664633C7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2B93EF-AD27-E981-E7A1-10F7405B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What is SAP Cloud Identity Service?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54309-BE9F-BD69-388E-833149DEC776}"/>
              </a:ext>
            </a:extLst>
          </p:cNvPr>
          <p:cNvSpPr txBox="1"/>
          <p:nvPr/>
        </p:nvSpPr>
        <p:spPr>
          <a:xfrm>
            <a:off x="203147" y="1295955"/>
            <a:ext cx="11680957" cy="2031472"/>
          </a:xfrm>
          <a:prstGeom prst="rect">
            <a:avLst/>
          </a:prstGeom>
        </p:spPr>
        <p:txBody>
          <a:bodyPr vert="horz" lIns="121888" tIns="60944" rIns="121888" bIns="60944" rtlCol="0">
            <a:normAutofit lnSpcReduction="10000"/>
          </a:bodyPr>
          <a:lstStyle/>
          <a:p>
            <a:pPr marL="0" marR="0" lvl="0" indent="0" algn="l" defTabSz="1218895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72" panose="020B0503030000000003" pitchFamily="34" charset="0"/>
                <a:ea typeface="+mn-ea"/>
                <a:cs typeface="+mn-cs"/>
              </a:rPr>
              <a:t>SAP Cloud Identity Services are a group of services of SAP Business Technology Platform (SAP BTP), which enable you to integrate identity and access management between systems. The goal is to provide a seamless single sign-on experience across systems while ensuring that system and data access are secure. SAP Cloud Identity Services include Identity Authentication, Identity Provisioning, Identity Directory and Authorization Management.</a:t>
            </a:r>
          </a:p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srgbClr val="0854A0"/>
                </a:solidFill>
                <a:effectLst/>
                <a:uLnTx/>
                <a:uFillTx/>
                <a:latin typeface="SAP-icons"/>
                <a:ea typeface="+mn-ea"/>
                <a:cs typeface="+mn-cs"/>
              </a:rPr>
            </a:br>
            <a:endParaRPr kumimoji="0" lang="en-US" sz="18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EB9557B-998B-0E71-561C-6C8DC876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176" y="2921132"/>
            <a:ext cx="8227457" cy="312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9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988236-86EB-B182-FA1F-EB4AD9DA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D17648-E4D0-C5AB-AED2-C2E40B35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F601F-ECA0-565F-15BB-8ACFEDC8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Become Admin for your Identity Service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9993EA-C9BD-F6ED-1BC9-0BFF6E5D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68" y="1295956"/>
            <a:ext cx="8113978" cy="512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25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8017</TotalTime>
  <Words>882</Words>
  <Application>Microsoft Office PowerPoint</Application>
  <PresentationFormat>Custom</PresentationFormat>
  <Paragraphs>127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72</vt:lpstr>
      <vt:lpstr>Amasis MT Pro</vt:lpstr>
      <vt:lpstr>Amasis MT Pro Black</vt:lpstr>
      <vt:lpstr>Arial</vt:lpstr>
      <vt:lpstr>Arial Black</vt:lpstr>
      <vt:lpstr>Calibri</vt:lpstr>
      <vt:lpstr>Cooper Black</vt:lpstr>
      <vt:lpstr>SAP-icons</vt:lpstr>
      <vt:lpstr>Segoe UI</vt:lpstr>
      <vt:lpstr>Segoe UI Light</vt:lpstr>
      <vt:lpstr>Office Theme</vt:lpstr>
      <vt:lpstr>1_Office Theme</vt:lpstr>
      <vt:lpstr>SAP BTP Extension Suite Training</vt:lpstr>
      <vt:lpstr>PowerPoint Presentation</vt:lpstr>
      <vt:lpstr>Agenda – Day 16</vt:lpstr>
      <vt:lpstr>SAP Cloud Identity Service</vt:lpstr>
      <vt:lpstr>Persona</vt:lpstr>
      <vt:lpstr>How to configure Build Workzone</vt:lpstr>
      <vt:lpstr>SAP Build Work Zone?</vt:lpstr>
      <vt:lpstr>Hands-on Setting up Build Work Zone</vt:lpstr>
      <vt:lpstr>What is SAP Cloud Identity Service?</vt:lpstr>
      <vt:lpstr>Become Admin for your Identity Service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310</cp:revision>
  <dcterms:created xsi:type="dcterms:W3CDTF">2013-09-12T13:05:01Z</dcterms:created>
  <dcterms:modified xsi:type="dcterms:W3CDTF">2026-08-03T02:38:01Z</dcterms:modified>
</cp:coreProperties>
</file>