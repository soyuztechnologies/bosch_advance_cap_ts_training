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6" r:id="rId2"/>
    <p:sldId id="4122" r:id="rId3"/>
    <p:sldId id="277" r:id="rId4"/>
    <p:sldId id="4762" r:id="rId5"/>
    <p:sldId id="4771" r:id="rId6"/>
    <p:sldId id="4785" r:id="rId7"/>
    <p:sldId id="4789" r:id="rId8"/>
    <p:sldId id="4763" r:id="rId9"/>
    <p:sldId id="4764" r:id="rId10"/>
    <p:sldId id="4765" r:id="rId11"/>
    <p:sldId id="4766" r:id="rId12"/>
    <p:sldId id="4802" r:id="rId13"/>
    <p:sldId id="4795" r:id="rId14"/>
    <p:sldId id="4796" r:id="rId15"/>
    <p:sldId id="4797" r:id="rId16"/>
    <p:sldId id="282" r:id="rId17"/>
    <p:sldId id="280" r:id="rId18"/>
    <p:sldId id="4711" r:id="rId19"/>
    <p:sldId id="4786" r:id="rId20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74D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14" autoAdjust="0"/>
    <p:restoredTop sz="95250" autoAdjust="0"/>
  </p:normalViewPr>
  <p:slideViewPr>
    <p:cSldViewPr>
      <p:cViewPr varScale="1">
        <p:scale>
          <a:sx n="105" d="100"/>
          <a:sy n="105" d="100"/>
        </p:scale>
        <p:origin x="544" y="6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600" units="cm"/>
          <inkml:channel name="T" type="integer" max="2.14748E9" units="dev"/>
        </inkml:traceFormat>
        <inkml:channelProperties>
          <inkml:channelProperty channel="X" name="resolution" value="74.2029" units="1/cm"/>
          <inkml:channelProperty channel="Y" name="resolution" value="74.4186" units="1/cm"/>
          <inkml:channelProperty channel="T" name="resolution" value="1" units="1/dev"/>
        </inkml:channelProperties>
      </inkml:inkSource>
      <inkml:timestamp xml:id="ts0" timeString="2026-02-19T09:30:47.70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10700 6811 0,'39'0'31,"1"0"-16,-14 0 1,41 26 0,-1-26-1,-13 14 1,26 12-16,66-26 16,358 79 15,-371-79-16,212 14 1,-106-14 15,-198 13-15,-14-13 0,173 40 15,-146-40-16,158 0 1,-39 0 15,-132 0-15,-14 0 0,1 0 30,92 0-14,-93 0-17,93 0 1,-79 0 0,92 0 15,-79 0 0,13 0 0,80 0 1,79-14-1,-159 14-31,26 0 31,-39-13 0,-40 0 16,120-53-16,-120 53 1,-13-1-1,-40-12 0,-132-1 0,80 27-31,-279-26 32,-197 26-1,171-13 0,-66 13 0,40 0 1,79 26-1,26-26 0,133 13 0,119-13-31,-66 14 32,66-1-1,53-13 0,26 0 63,291 0-78,-92 0-16,674 0 31,251 53 0,-423 53 0,-634-106 1,-133 0 14,-106 0-14,-277-27-1,-398-65 0,517 92 0,436 0 32,344 0-32,-225 0-15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600" units="cm"/>
          <inkml:channel name="T" type="integer" max="2.14748E9" units="dev"/>
        </inkml:traceFormat>
        <inkml:channelProperties>
          <inkml:channelProperty channel="X" name="resolution" value="74.2029" units="1/cm"/>
          <inkml:channelProperty channel="Y" name="resolution" value="74.4186" units="1/cm"/>
          <inkml:channelProperty channel="T" name="resolution" value="1" units="1/dev"/>
        </inkml:channelProperties>
      </inkml:inkSource>
      <inkml:timestamp xml:id="ts0" timeString="2026-02-19T09:30:55.99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12617 8147 0,'53'0'94,"106"-27"-63,-80 14-15,212-40 0,-211 53-1,263-13 1,-237 13 0,146 0-1,-173 0 1,146 0-1,-93 0 17,14-27-1,-120 27-31,80 0 31,52 0 0,-105 0-15,80 0 0,-107 0-1,14 0 1,-27 0 0,119 14 15,-13 25 0,-26-25 0,-67-14 1,-12 0 14,52 13-14,-66 0 77,0 53-78,0-53-31,-40-13 32,14 14-1,-41 12 0,-144-13 0,-107-13 1,-92 0-1,40 0 0,-93 0 0,423 0-31,-105 0 32,13 0-1,-1 0 0,14 0 0,-13 0 1,0 0-1,66 0-31,-66 0 31,105 0 0,-39 13 16,53 1 63,119 12-64,290-26-30,-237 0 0,344 0 15,118 0 0,-449 0 0,-145 0-31,118 0 32,53 0-1,-92 0 0,-26 0 0,-54-13 1,40 0-1,-13 13 0,13 0 0,0 0-31,93 0 16,-93 0 0,-53-14-1,1 1 1,12 13 31,-13-13 78,14 13-78,-27-13 31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600" units="cm"/>
          <inkml:channel name="T" type="integer" max="2.14748E9" units="dev"/>
        </inkml:traceFormat>
        <inkml:channelProperties>
          <inkml:channelProperty channel="X" name="resolution" value="74.2029" units="1/cm"/>
          <inkml:channelProperty channel="Y" name="resolution" value="74.4186" units="1/cm"/>
          <inkml:channelProperty channel="T" name="resolution" value="1" units="1/dev"/>
        </inkml:channelProperties>
      </inkml:inkSource>
      <inkml:timestamp xml:id="ts0" timeString="2026-02-19T09:31:21.41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5118 17602 0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8D726-D0BC-B240-A677-46F99704B744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  <p:sldLayoutId id="2147483671" r:id="rId10"/>
    <p:sldLayoutId id="2147483672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hyperlink" Target="https://github.com/soyuztechnologies/SAP_BTP_Training_CLD200/blob/master/Day%203/02srv/CatalogService.js" TargetMode="External"/><Relationship Id="rId7" Type="http://schemas.openxmlformats.org/officeDocument/2006/relationships/image" Target="../media/image17.png"/><Relationship Id="rId2" Type="http://schemas.openxmlformats.org/officeDocument/2006/relationships/hyperlink" Target="https://github.com/soyuztechnologies/SAP_BTP_Training_CLD200/blob/master/Day%203/02srv/CatalogService.cds" TargetMode="Externa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6.png"/><Relationship Id="rId4" Type="http://schemas.openxmlformats.org/officeDocument/2006/relationships/customXml" Target="../ink/ink1.xml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png"/><Relationship Id="rId4" Type="http://schemas.openxmlformats.org/officeDocument/2006/relationships/hyperlink" Target="http://www.dribbble.com/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jpeg"/><Relationship Id="rId7" Type="http://schemas.openxmlformats.org/officeDocument/2006/relationships/image" Target="../media/image16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tiff"/><Relationship Id="rId5" Type="http://schemas.openxmlformats.org/officeDocument/2006/relationships/image" Target="../media/image14.tiff"/><Relationship Id="rId4" Type="http://schemas.openxmlformats.org/officeDocument/2006/relationships/image" Target="../media/image13.tiff"/><Relationship Id="rId9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93" y="2601545"/>
            <a:ext cx="5086633" cy="827455"/>
          </a:xfrm>
        </p:spPr>
        <p:txBody>
          <a:bodyPr anchor="ctr"/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SAP BTP Extension Suite Training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pc="100" dirty="0"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4" name="Subtitle 736">
            <a:extLst>
              <a:ext uri="{FF2B5EF4-FFF2-40B4-BE49-F238E27FC236}">
                <a16:creationId xmlns:a16="http://schemas.microsoft.com/office/drawing/2014/main" id="{3F065217-DE63-4532-8B57-61ED049613CD}"/>
              </a:ext>
            </a:extLst>
          </p:cNvPr>
          <p:cNvSpPr txBox="1">
            <a:spLocks/>
          </p:cNvSpPr>
          <p:nvPr/>
        </p:nvSpPr>
        <p:spPr>
          <a:xfrm>
            <a:off x="3296764" y="3933056"/>
            <a:ext cx="5595296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00B0F0"/>
                </a:solidFill>
                <a:latin typeface="Amasis MT Pro Black" panose="02040A04050005020304" pitchFamily="18" charset="0"/>
              </a:rPr>
              <a:t>Anubhav Oberoy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5230316" y="4968381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Follow excellence with sheer passion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A527F-59AB-2E34-6331-8D67B5F5CA3E}"/>
              </a:ext>
            </a:extLst>
          </p:cNvPr>
          <p:cNvSpPr/>
          <p:nvPr/>
        </p:nvSpPr>
        <p:spPr>
          <a:xfrm>
            <a:off x="3530893" y="1196752"/>
            <a:ext cx="2059463" cy="64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Day 8</a:t>
            </a: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940" y="0"/>
            <a:ext cx="1173316" cy="115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Rectangle: Rounded Corners 1132">
            <a:extLst>
              <a:ext uri="{FF2B5EF4-FFF2-40B4-BE49-F238E27FC236}">
                <a16:creationId xmlns:a16="http://schemas.microsoft.com/office/drawing/2014/main" id="{47299741-729A-4FA6-A73E-373218C0B948}"/>
              </a:ext>
            </a:extLst>
          </p:cNvPr>
          <p:cNvSpPr/>
          <p:nvPr/>
        </p:nvSpPr>
        <p:spPr>
          <a:xfrm>
            <a:off x="3358108" y="1357715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4" name="Rectangle: Rounded Corners 1133">
            <a:extLst>
              <a:ext uri="{FF2B5EF4-FFF2-40B4-BE49-F238E27FC236}">
                <a16:creationId xmlns:a16="http://schemas.microsoft.com/office/drawing/2014/main" id="{E8655933-ABB5-4D15-AE7F-B0D014A5A5FB}"/>
              </a:ext>
            </a:extLst>
          </p:cNvPr>
          <p:cNvSpPr/>
          <p:nvPr/>
        </p:nvSpPr>
        <p:spPr>
          <a:xfrm>
            <a:off x="3358108" y="3113437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5" name="Rectangle: Rounded Corners 1134">
            <a:extLst>
              <a:ext uri="{FF2B5EF4-FFF2-40B4-BE49-F238E27FC236}">
                <a16:creationId xmlns:a16="http://schemas.microsoft.com/office/drawing/2014/main" id="{7ADD6B3E-784D-4B47-A705-C73AEB0275B4}"/>
              </a:ext>
            </a:extLst>
          </p:cNvPr>
          <p:cNvSpPr/>
          <p:nvPr/>
        </p:nvSpPr>
        <p:spPr>
          <a:xfrm>
            <a:off x="3358108" y="4869160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141" name="Group 1140">
            <a:extLst>
              <a:ext uri="{FF2B5EF4-FFF2-40B4-BE49-F238E27FC236}">
                <a16:creationId xmlns:a16="http://schemas.microsoft.com/office/drawing/2014/main" id="{010C7D28-B781-409B-AFDB-2EB8DCBAB471}"/>
              </a:ext>
            </a:extLst>
          </p:cNvPr>
          <p:cNvGrpSpPr/>
          <p:nvPr/>
        </p:nvGrpSpPr>
        <p:grpSpPr>
          <a:xfrm>
            <a:off x="4022793" y="1610728"/>
            <a:ext cx="4359562" cy="922336"/>
            <a:chOff x="1395616" y="871285"/>
            <a:chExt cx="3825734" cy="1064137"/>
          </a:xfrm>
        </p:grpSpPr>
        <p:sp>
          <p:nvSpPr>
            <p:cNvPr id="1142" name="TextBox 1141">
              <a:extLst>
                <a:ext uri="{FF2B5EF4-FFF2-40B4-BE49-F238E27FC236}">
                  <a16:creationId xmlns:a16="http://schemas.microsoft.com/office/drawing/2014/main" id="{3F09AA1F-FEA7-4D17-88ED-2CD603C4E9A6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OData Adapter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3" name="TextBox 1142">
              <a:extLst>
                <a:ext uri="{FF2B5EF4-FFF2-40B4-BE49-F238E27FC236}">
                  <a16:creationId xmlns:a16="http://schemas.microsoft.com/office/drawing/2014/main" id="{C88A509D-C2AF-4500-8C21-D7071BE4DE6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8A3A5AE5-D342-4BA3-9A55-5165158B260D}"/>
              </a:ext>
            </a:extLst>
          </p:cNvPr>
          <p:cNvGrpSpPr/>
          <p:nvPr/>
        </p:nvGrpSpPr>
        <p:grpSpPr>
          <a:xfrm>
            <a:off x="4022793" y="3366447"/>
            <a:ext cx="4431570" cy="922336"/>
            <a:chOff x="1395616" y="871285"/>
            <a:chExt cx="3825734" cy="1064137"/>
          </a:xfrm>
        </p:grpSpPr>
        <p:sp>
          <p:nvSpPr>
            <p:cNvPr id="1145" name="TextBox 1144">
              <a:extLst>
                <a:ext uri="{FF2B5EF4-FFF2-40B4-BE49-F238E27FC236}">
                  <a16:creationId xmlns:a16="http://schemas.microsoft.com/office/drawing/2014/main" id="{D50FB645-94BC-4B73-BC01-70A868E236E0}"/>
                </a:ext>
              </a:extLst>
            </p:cNvPr>
            <p:cNvSpPr txBox="1"/>
            <p:nvPr/>
          </p:nvSpPr>
          <p:spPr>
            <a:xfrm>
              <a:off x="2984420" y="1243562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Generic Handler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6" name="TextBox 1145">
              <a:extLst>
                <a:ext uri="{FF2B5EF4-FFF2-40B4-BE49-F238E27FC236}">
                  <a16:creationId xmlns:a16="http://schemas.microsoft.com/office/drawing/2014/main" id="{D6E845BF-0649-4FED-BF91-2541D1DCB0D6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50" name="Group 1149">
            <a:extLst>
              <a:ext uri="{FF2B5EF4-FFF2-40B4-BE49-F238E27FC236}">
                <a16:creationId xmlns:a16="http://schemas.microsoft.com/office/drawing/2014/main" id="{64D36160-176A-49B7-AEAE-FF1ECF022B7A}"/>
              </a:ext>
            </a:extLst>
          </p:cNvPr>
          <p:cNvGrpSpPr/>
          <p:nvPr/>
        </p:nvGrpSpPr>
        <p:grpSpPr>
          <a:xfrm>
            <a:off x="4022793" y="5122170"/>
            <a:ext cx="4431570" cy="922336"/>
            <a:chOff x="1395616" y="871285"/>
            <a:chExt cx="4290329" cy="1064137"/>
          </a:xfrm>
        </p:grpSpPr>
        <p:sp>
          <p:nvSpPr>
            <p:cNvPr id="1151" name="TextBox 1150">
              <a:extLst>
                <a:ext uri="{FF2B5EF4-FFF2-40B4-BE49-F238E27FC236}">
                  <a16:creationId xmlns:a16="http://schemas.microsoft.com/office/drawing/2014/main" id="{571E5D2F-CB43-41BD-B4D3-A2160034C400}"/>
                </a:ext>
              </a:extLst>
            </p:cNvPr>
            <p:cNvSpPr txBox="1"/>
            <p:nvPr/>
          </p:nvSpPr>
          <p:spPr>
            <a:xfrm>
              <a:off x="2984420" y="1243560"/>
              <a:ext cx="2701525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Validations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52" name="TextBox 1151">
              <a:extLst>
                <a:ext uri="{FF2B5EF4-FFF2-40B4-BE49-F238E27FC236}">
                  <a16:creationId xmlns:a16="http://schemas.microsoft.com/office/drawing/2014/main" id="{F2024D8F-80E0-4CDB-8B10-C1B5BD93DE8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8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1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Generic Handlers in CAP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BDE4C7-3532-C90E-5D17-E90E296EE959}"/>
              </a:ext>
            </a:extLst>
          </p:cNvPr>
          <p:cNvSpPr txBox="1"/>
          <p:nvPr/>
        </p:nvSpPr>
        <p:spPr>
          <a:xfrm>
            <a:off x="164465" y="828579"/>
            <a:ext cx="11809312" cy="20621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The CAPM framework generates most of the code to perform CURDQ operations on the entity. It does not know what validations to perform on our business data. As a developer, when we want to attach a pre-check (validations) / post-check (post processing code) on an entity operation, we can use generic handlers. All these operations are performed SYNCHRONOUSLY.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At times we want to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Take full control of our implementation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We want to add some validation before data is inserted or updated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We want to change data before insert/update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Read some extra information while GET calls</a:t>
            </a:r>
            <a:endParaRPr kumimoji="0" lang="en-IN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12BE5B-3322-EB8C-DFE3-7568C3DFF16E}"/>
              </a:ext>
            </a:extLst>
          </p:cNvPr>
          <p:cNvSpPr/>
          <p:nvPr/>
        </p:nvSpPr>
        <p:spPr>
          <a:xfrm>
            <a:off x="1665562" y="3292283"/>
            <a:ext cx="1800193" cy="50867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Fiori app</a:t>
            </a:r>
          </a:p>
        </p:txBody>
      </p:sp>
      <p:sp>
        <p:nvSpPr>
          <p:cNvPr id="5" name="Smiley Face 4">
            <a:extLst>
              <a:ext uri="{FF2B5EF4-FFF2-40B4-BE49-F238E27FC236}">
                <a16:creationId xmlns:a16="http://schemas.microsoft.com/office/drawing/2014/main" id="{86EE0801-93EB-545C-C6BF-22763A32108C}"/>
              </a:ext>
            </a:extLst>
          </p:cNvPr>
          <p:cNvSpPr/>
          <p:nvPr/>
        </p:nvSpPr>
        <p:spPr>
          <a:xfrm>
            <a:off x="405780" y="3309096"/>
            <a:ext cx="504056" cy="508672"/>
          </a:xfrm>
          <a:prstGeom prst="smileyFace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03B96A-4E1B-C4CC-1CF3-269AE3DC476D}"/>
              </a:ext>
            </a:extLst>
          </p:cNvPr>
          <p:cNvSpPr/>
          <p:nvPr/>
        </p:nvSpPr>
        <p:spPr>
          <a:xfrm>
            <a:off x="4401866" y="3283905"/>
            <a:ext cx="1800193" cy="50867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odata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63561E-7E9D-7263-1210-A86934C26C57}"/>
              </a:ext>
            </a:extLst>
          </p:cNvPr>
          <p:cNvSpPr/>
          <p:nvPr/>
        </p:nvSpPr>
        <p:spPr>
          <a:xfrm>
            <a:off x="6850139" y="3286813"/>
            <a:ext cx="1408830" cy="50867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cap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F290B8-8898-2E2F-FAE0-A22D3E6CA178}"/>
              </a:ext>
            </a:extLst>
          </p:cNvPr>
          <p:cNvSpPr/>
          <p:nvPr/>
        </p:nvSpPr>
        <p:spPr>
          <a:xfrm>
            <a:off x="10454386" y="3283905"/>
            <a:ext cx="1408829" cy="50867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database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C18D0-EA63-2E20-013F-C56242C58FCC}"/>
              </a:ext>
            </a:extLst>
          </p:cNvPr>
          <p:cNvSpPr/>
          <p:nvPr/>
        </p:nvSpPr>
        <p:spPr>
          <a:xfrm>
            <a:off x="8597834" y="3283905"/>
            <a:ext cx="1492659" cy="508672"/>
          </a:xfrm>
          <a:prstGeom prst="rect">
            <a:avLst/>
          </a:prstGeom>
          <a:solidFill>
            <a:srgbClr val="00B0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Generic handlers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E0C1784-99C1-7686-5D31-5F923A0052E7}"/>
              </a:ext>
            </a:extLst>
          </p:cNvPr>
          <p:cNvCxnSpPr>
            <a:stCxn id="4" idx="2"/>
          </p:cNvCxnSpPr>
          <p:nvPr/>
        </p:nvCxnSpPr>
        <p:spPr>
          <a:xfrm>
            <a:off x="2565659" y="3800955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76315A-A8F2-2641-4ECF-7E7D4E4293B5}"/>
              </a:ext>
            </a:extLst>
          </p:cNvPr>
          <p:cNvCxnSpPr/>
          <p:nvPr/>
        </p:nvCxnSpPr>
        <p:spPr>
          <a:xfrm>
            <a:off x="5276552" y="3809547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235C3E-7DED-6F98-B296-639F08ACA2F1}"/>
              </a:ext>
            </a:extLst>
          </p:cNvPr>
          <p:cNvCxnSpPr/>
          <p:nvPr/>
        </p:nvCxnSpPr>
        <p:spPr>
          <a:xfrm>
            <a:off x="7554554" y="3821451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02E8EC-0880-8771-6B1B-56CFACF26AD3}"/>
              </a:ext>
            </a:extLst>
          </p:cNvPr>
          <p:cNvCxnSpPr/>
          <p:nvPr/>
        </p:nvCxnSpPr>
        <p:spPr>
          <a:xfrm>
            <a:off x="9361026" y="3776774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74A22EB-9410-4FEC-E66B-1246C954DBD8}"/>
              </a:ext>
            </a:extLst>
          </p:cNvPr>
          <p:cNvCxnSpPr/>
          <p:nvPr/>
        </p:nvCxnSpPr>
        <p:spPr>
          <a:xfrm>
            <a:off x="11204084" y="3748672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2D5CB7-7599-096A-E3BB-0A43D5841299}"/>
              </a:ext>
            </a:extLst>
          </p:cNvPr>
          <p:cNvCxnSpPr/>
          <p:nvPr/>
        </p:nvCxnSpPr>
        <p:spPr>
          <a:xfrm>
            <a:off x="657808" y="3783829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80AC8B-C0E5-FEB4-3A4D-B6CCFF743934}"/>
              </a:ext>
            </a:extLst>
          </p:cNvPr>
          <p:cNvCxnSpPr/>
          <p:nvPr/>
        </p:nvCxnSpPr>
        <p:spPr>
          <a:xfrm>
            <a:off x="657808" y="4221088"/>
            <a:ext cx="190785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3B03AC-DED9-ECCD-C70D-35A5CCF6A638}"/>
              </a:ext>
            </a:extLst>
          </p:cNvPr>
          <p:cNvCxnSpPr/>
          <p:nvPr/>
        </p:nvCxnSpPr>
        <p:spPr>
          <a:xfrm>
            <a:off x="2591069" y="4509120"/>
            <a:ext cx="2685483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C894FB4-2D0F-5159-9C3E-8E24E8A37C9D}"/>
              </a:ext>
            </a:extLst>
          </p:cNvPr>
          <p:cNvCxnSpPr/>
          <p:nvPr/>
        </p:nvCxnSpPr>
        <p:spPr>
          <a:xfrm>
            <a:off x="5276552" y="4797152"/>
            <a:ext cx="2290707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30C6D12-8376-6439-8B49-FBD77F2773EF}"/>
              </a:ext>
            </a:extLst>
          </p:cNvPr>
          <p:cNvSpPr/>
          <p:nvPr/>
        </p:nvSpPr>
        <p:spPr>
          <a:xfrm>
            <a:off x="7579964" y="4797152"/>
            <a:ext cx="98624" cy="167049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4C08638-E5C0-63DD-B840-AA79A5D66F09}"/>
              </a:ext>
            </a:extLst>
          </p:cNvPr>
          <p:cNvCxnSpPr/>
          <p:nvPr/>
        </p:nvCxnSpPr>
        <p:spPr>
          <a:xfrm>
            <a:off x="7722714" y="5445224"/>
            <a:ext cx="3436086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F30A05E-28C9-B3A7-5891-3B244F8B9784}"/>
              </a:ext>
            </a:extLst>
          </p:cNvPr>
          <p:cNvSpPr/>
          <p:nvPr/>
        </p:nvSpPr>
        <p:spPr>
          <a:xfrm>
            <a:off x="11139057" y="5444250"/>
            <a:ext cx="115966" cy="43957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9E26BD-247D-D4B4-8575-E06620E01B6F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7702971" y="5883822"/>
            <a:ext cx="3494069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6E069B8-9B85-D88A-0E1D-35FE84399F1E}"/>
              </a:ext>
            </a:extLst>
          </p:cNvPr>
          <p:cNvSpPr/>
          <p:nvPr/>
        </p:nvSpPr>
        <p:spPr>
          <a:xfrm>
            <a:off x="9324791" y="4838222"/>
            <a:ext cx="115966" cy="439572"/>
          </a:xfrm>
          <a:prstGeom prst="rect">
            <a:avLst/>
          </a:prstGeom>
          <a:solidFill>
            <a:srgbClr val="38C6C6"/>
          </a:solidFill>
          <a:ln w="38100" cap="flat" cmpd="sng" algn="ctr">
            <a:solidFill>
              <a:schemeClr val="bg1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D2C6849-E233-4551-8044-3F3FA038B633}"/>
              </a:ext>
            </a:extLst>
          </p:cNvPr>
          <p:cNvCxnSpPr/>
          <p:nvPr/>
        </p:nvCxnSpPr>
        <p:spPr>
          <a:xfrm>
            <a:off x="7722714" y="4866921"/>
            <a:ext cx="154005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467B26D-2C8F-7B81-5CB3-F06EAB12B7B6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7722714" y="5277794"/>
            <a:ext cx="166006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1640B9B-16E8-D1FD-717B-FA6272B4D311}"/>
              </a:ext>
            </a:extLst>
          </p:cNvPr>
          <p:cNvSpPr txBox="1"/>
          <p:nvPr/>
        </p:nvSpPr>
        <p:spPr>
          <a:xfrm>
            <a:off x="9550796" y="4797152"/>
            <a:ext cx="89841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before</a:t>
            </a:r>
          </a:p>
        </p:txBody>
      </p:sp>
      <p:sp>
        <p:nvSpPr>
          <p:cNvPr id="27" name="Explosion: 8 Points 26">
            <a:extLst>
              <a:ext uri="{FF2B5EF4-FFF2-40B4-BE49-F238E27FC236}">
                <a16:creationId xmlns:a16="http://schemas.microsoft.com/office/drawing/2014/main" id="{F4557CA1-B54E-1CBF-9337-533A0361AD25}"/>
              </a:ext>
            </a:extLst>
          </p:cNvPr>
          <p:cNvSpPr/>
          <p:nvPr/>
        </p:nvSpPr>
        <p:spPr>
          <a:xfrm>
            <a:off x="7246540" y="5085184"/>
            <a:ext cx="472512" cy="439571"/>
          </a:xfrm>
          <a:prstGeom prst="irregularSeal1">
            <a:avLst/>
          </a:prstGeom>
          <a:gradFill rotWithShape="1">
            <a:gsLst>
              <a:gs pos="0">
                <a:srgbClr val="38C6C6">
                  <a:tint val="50000"/>
                  <a:satMod val="300000"/>
                </a:srgbClr>
              </a:gs>
              <a:gs pos="35000">
                <a:srgbClr val="38C6C6">
                  <a:tint val="37000"/>
                  <a:satMod val="300000"/>
                </a:srgbClr>
              </a:gs>
              <a:gs pos="100000">
                <a:srgbClr val="38C6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chemeClr val="bg1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F6B9E1B-73FD-08C3-673B-DDBF88941E4C}"/>
              </a:ext>
            </a:extLst>
          </p:cNvPr>
          <p:cNvCxnSpPr>
            <a:stCxn id="27" idx="1"/>
          </p:cNvCxnSpPr>
          <p:nvPr/>
        </p:nvCxnSpPr>
        <p:spPr>
          <a:xfrm flipH="1">
            <a:off x="2605524" y="5260504"/>
            <a:ext cx="4641016" cy="724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D14DC12-03B7-6ECF-C6DC-C7203929F777}"/>
              </a:ext>
            </a:extLst>
          </p:cNvPr>
          <p:cNvSpPr txBox="1"/>
          <p:nvPr/>
        </p:nvSpPr>
        <p:spPr>
          <a:xfrm>
            <a:off x="9861282" y="5492825"/>
            <a:ext cx="89841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80DC0A-543B-5045-AAEA-41134C6D68DB}"/>
              </a:ext>
            </a:extLst>
          </p:cNvPr>
          <p:cNvSpPr/>
          <p:nvPr/>
        </p:nvSpPr>
        <p:spPr>
          <a:xfrm>
            <a:off x="9303043" y="6006355"/>
            <a:ext cx="115966" cy="439572"/>
          </a:xfrm>
          <a:prstGeom prst="rect">
            <a:avLst/>
          </a:prstGeom>
          <a:solidFill>
            <a:srgbClr val="38C6C6"/>
          </a:solidFill>
          <a:ln w="38100" cap="flat" cmpd="sng" algn="ctr">
            <a:solidFill>
              <a:schemeClr val="bg1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158C953-5198-3209-5161-7FEE368655A7}"/>
              </a:ext>
            </a:extLst>
          </p:cNvPr>
          <p:cNvCxnSpPr/>
          <p:nvPr/>
        </p:nvCxnSpPr>
        <p:spPr>
          <a:xfrm>
            <a:off x="7700966" y="6035054"/>
            <a:ext cx="154005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2BED05D-DEA1-C7F5-FA19-4F0CCE208130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7700966" y="6445927"/>
            <a:ext cx="166006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DC0B4DD-0442-4940-243C-1038A310EF6A}"/>
              </a:ext>
            </a:extLst>
          </p:cNvPr>
          <p:cNvSpPr txBox="1"/>
          <p:nvPr/>
        </p:nvSpPr>
        <p:spPr>
          <a:xfrm>
            <a:off x="9505017" y="6084704"/>
            <a:ext cx="89841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1517719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9" grpId="0" animBg="1"/>
      <p:bldP spid="21" grpId="0" animBg="1"/>
      <p:bldP spid="23" grpId="0" animBg="1"/>
      <p:bldP spid="26" grpId="0"/>
      <p:bldP spid="27" grpId="0" animBg="1"/>
      <p:bldP spid="29" grpId="0"/>
      <p:bldP spid="30" grpId="0" animBg="1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A1A0E-FA70-41AA-D8FE-BD95E24E2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on: Generic Handlers</a:t>
            </a:r>
          </a:p>
        </p:txBody>
      </p:sp>
      <p:pic>
        <p:nvPicPr>
          <p:cNvPr id="5122" name="Picture 2" descr="Making All Rooms Reachable in a JavaScript Roguelike | JavaScript in Plain  English">
            <a:extLst>
              <a:ext uri="{FF2B5EF4-FFF2-40B4-BE49-F238E27FC236}">
                <a16:creationId xmlns:a16="http://schemas.microsoft.com/office/drawing/2014/main" id="{91C913A6-FFC2-CAC0-EDED-C039FD2E4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020" y="1637799"/>
            <a:ext cx="6765768" cy="450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2778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A071B6-F82A-8B0F-F954-2EF2FD04BE2E}"/>
              </a:ext>
            </a:extLst>
          </p:cNvPr>
          <p:cNvSpPr txBox="1"/>
          <p:nvPr/>
        </p:nvSpPr>
        <p:spPr>
          <a:xfrm>
            <a:off x="477788" y="1268760"/>
            <a:ext cx="95050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this.when</a:t>
            </a:r>
            <a:r>
              <a:rPr lang="en-US" dirty="0">
                <a:solidFill>
                  <a:srgbClr val="FF0000"/>
                </a:solidFill>
              </a:rPr>
              <a:t>(‘WHICH’, what, () =&gt; {</a:t>
            </a:r>
          </a:p>
          <a:p>
            <a:r>
              <a:rPr lang="en-US" dirty="0">
                <a:solidFill>
                  <a:srgbClr val="FF0000"/>
                </a:solidFill>
              </a:rPr>
              <a:t>	code.</a:t>
            </a:r>
          </a:p>
          <a:p>
            <a:r>
              <a:rPr lang="en-US" dirty="0">
                <a:solidFill>
                  <a:srgbClr val="FF0000"/>
                </a:solidFill>
              </a:rPr>
              <a:t>})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when – before, after, on</a:t>
            </a:r>
          </a:p>
          <a:p>
            <a:r>
              <a:rPr lang="en-US" dirty="0">
                <a:solidFill>
                  <a:srgbClr val="FF0000"/>
                </a:solidFill>
              </a:rPr>
              <a:t>Which – CREATE, UPDATE, DELETE, READ</a:t>
            </a:r>
          </a:p>
          <a:p>
            <a:r>
              <a:rPr lang="en-US" dirty="0">
                <a:solidFill>
                  <a:srgbClr val="FF0000"/>
                </a:solidFill>
              </a:rPr>
              <a:t>What – Entity (Employee, Pos, …)</a:t>
            </a:r>
          </a:p>
        </p:txBody>
      </p:sp>
    </p:spTree>
    <p:extLst>
      <p:ext uri="{BB962C8B-B14F-4D97-AF65-F5344CB8AC3E}">
        <p14:creationId xmlns:p14="http://schemas.microsoft.com/office/powerpoint/2010/main" val="187642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Actions and Functions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BDE4C7-3532-C90E-5D17-E90E296EE959}"/>
              </a:ext>
            </a:extLst>
          </p:cNvPr>
          <p:cNvSpPr txBox="1"/>
          <p:nvPr/>
        </p:nvSpPr>
        <p:spPr>
          <a:xfrm>
            <a:off x="164465" y="828579"/>
            <a:ext cx="11809312" cy="25545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In addition to common CRUD operations, you can declare domain-specific custom operations as shown below. These custom operations always need custom implementations in corresponding events handlers.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Actions vs Functions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The differentiation between Actions and Functions stems from the OData specifications and in essence is as follows: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Actions are meant for operations, which add or modify data in the server; they are called through POST request with the arguments passed in application/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json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bodies.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Functions are meant for operations, which only retrieve data from the server; they are called through GET requests with the arguments passed in the URL path.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3FAD8FD-47CF-2DDD-59E9-DBEA7E6B66F9}"/>
              </a:ext>
            </a:extLst>
          </p:cNvPr>
          <p:cNvSpPr/>
          <p:nvPr/>
        </p:nvSpPr>
        <p:spPr>
          <a:xfrm>
            <a:off x="189882" y="3717032"/>
            <a:ext cx="11449272" cy="2201916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Exercise:</a:t>
            </a:r>
          </a:p>
          <a:p>
            <a:r>
              <a:rPr lang="en-US" dirty="0">
                <a:hlinkClick r:id="rId2"/>
              </a:rPr>
              <a:t>https://github.com/soyuztechnologies/SAP_BTP_Training_CLD200/blob/master/Day%203/02srv/CatalogService.cds</a:t>
            </a:r>
            <a:endParaRPr lang="en-US" dirty="0"/>
          </a:p>
          <a:p>
            <a:r>
              <a:rPr lang="en-US" dirty="0">
                <a:hlinkClick r:id="rId3"/>
              </a:rPr>
              <a:t>https://github.com/soyuztechnologies/SAP_BTP_Training_CLD200/blob/master/Day%203/02srv/CatalogService.js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2B39878-A277-C419-646D-2D11EC9E7392}"/>
                  </a:ext>
                </a:extLst>
              </p14:cNvPr>
              <p14:cNvContentPartPr/>
              <p14:nvPr/>
            </p14:nvContentPartPr>
            <p14:xfrm>
              <a:off x="3852000" y="2447280"/>
              <a:ext cx="1376280" cy="81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2B39878-A277-C419-646D-2D11EC9E739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36160" y="2383920"/>
                <a:ext cx="140760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980C288-4D9E-545F-0AEF-EB1CA18AEC4F}"/>
                  </a:ext>
                </a:extLst>
              </p14:cNvPr>
              <p14:cNvContentPartPr/>
              <p14:nvPr/>
            </p14:nvContentPartPr>
            <p14:xfrm>
              <a:off x="4509000" y="2885040"/>
              <a:ext cx="1119240" cy="100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980C288-4D9E-545F-0AEF-EB1CA18AEC4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93160" y="2821680"/>
                <a:ext cx="115056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F8B5D3B-3EC4-ECE4-DEAA-F89818A596FA}"/>
                  </a:ext>
                </a:extLst>
              </p14:cNvPr>
              <p14:cNvContentPartPr/>
              <p14:nvPr/>
            </p14:nvContentPartPr>
            <p14:xfrm>
              <a:off x="1842480" y="6336720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F8B5D3B-3EC4-ECE4-DEAA-F89818A596F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26640" y="6273360"/>
                <a:ext cx="31680" cy="12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9876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692696"/>
            <a:ext cx="10969943" cy="711081"/>
          </a:xfrm>
        </p:spPr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SAP Fiori elements boosts SAP Fiori development efficiency</a:t>
            </a:r>
            <a:br>
              <a:rPr lang="en-US" sz="3600" dirty="0">
                <a:latin typeface="Cooper Black" panose="0208090404030B020404" pitchFamily="18" charset="0"/>
              </a:rPr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5EF6AB-0B4F-0C0E-ADD1-58A4A2E88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53" y="1415190"/>
            <a:ext cx="11558318" cy="532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808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188640"/>
            <a:ext cx="10969943" cy="711081"/>
          </a:xfrm>
        </p:spPr>
        <p:txBody>
          <a:bodyPr/>
          <a:lstStyle/>
          <a:p>
            <a:r>
              <a:rPr lang="en-US" sz="2800" dirty="0">
                <a:latin typeface="Cooper Black" panose="0208090404030B020404" pitchFamily="18" charset="0"/>
              </a:rPr>
              <a:t>SAP Fiori elements provides enterprise-ready apps out of the box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6917B0-ED00-185A-4D26-8C3196EB4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709" y="1059591"/>
            <a:ext cx="10201407" cy="502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651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48" y="188640"/>
            <a:ext cx="10969943" cy="711081"/>
          </a:xfrm>
        </p:spPr>
        <p:txBody>
          <a:bodyPr/>
          <a:lstStyle/>
          <a:p>
            <a:r>
              <a:rPr lang="en-US" sz="3200" dirty="0">
                <a:latin typeface="Cooper Black" panose="0208090404030B020404" pitchFamily="18" charset="0"/>
              </a:rPr>
              <a:t>SAP Fiori elements application architecture provides flexibility</a:t>
            </a:r>
            <a:endParaRPr lang="en-US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F17BDA-EA53-ABAB-BE6A-D9F94C5B9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234" y="1223394"/>
            <a:ext cx="10262357" cy="441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15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476672"/>
            <a:ext cx="10969943" cy="711081"/>
          </a:xfrm>
        </p:spPr>
        <p:txBody>
          <a:bodyPr/>
          <a:lstStyle/>
          <a:p>
            <a:r>
              <a:rPr lang="en-US" sz="3200" dirty="0">
                <a:latin typeface="Cooper Black" panose="0208090404030B020404" pitchFamily="18" charset="0"/>
              </a:rPr>
              <a:t>SAP Fiori elements prioritizes efficiency over flexibility</a:t>
            </a:r>
            <a:br>
              <a:rPr lang="en-US" sz="3200" dirty="0">
                <a:latin typeface="Cooper Black" panose="0208090404030B020404" pitchFamily="18" charset="0"/>
              </a:rPr>
            </a:br>
            <a:endParaRPr lang="en-US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E32852-A140-A7FC-63E9-0A4E6DB8F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924" y="1199452"/>
            <a:ext cx="9099643" cy="524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463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C61E9-6D13-2889-D9F2-B0E864018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: Fiori App</a:t>
            </a:r>
          </a:p>
        </p:txBody>
      </p:sp>
      <p:pic>
        <p:nvPicPr>
          <p:cNvPr id="3074" name="Picture 2" descr="img.freepik.com/free-vector/app-development-illust...">
            <a:extLst>
              <a:ext uri="{FF2B5EF4-FFF2-40B4-BE49-F238E27FC236}">
                <a16:creationId xmlns:a16="http://schemas.microsoft.com/office/drawing/2014/main" id="{3736F10E-A3DF-EEBD-A236-0BAD43666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088" y="1443038"/>
            <a:ext cx="5962650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6310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66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76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53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r="10185"/>
          <a:stretch>
            <a:fillRect/>
          </a:stretch>
        </p:blipFill>
        <p:spPr/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chemeClr val="accent3"/>
                </a:solidFill>
                <a:effectLst/>
              </a:rPr>
              <a:t>What We</a:t>
            </a:r>
            <a:r>
              <a:rPr lang="en-IN" sz="4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4000" b="1" i="0" dirty="0">
                <a:solidFill>
                  <a:schemeClr val="accent2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15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chemeClr val="bg1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Day 4</a:t>
            </a:r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pic>
        <p:nvPicPr>
          <p:cNvPr id="1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59E8070B-51C3-4A5F-B241-A7744B4F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8" y="6398156"/>
            <a:ext cx="1432658" cy="27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913943">
              <a:defRPr/>
            </a:pPr>
            <a:r>
              <a:rPr lang="en-US" sz="179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IN" sz="1200" spc="5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1200" spc="50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250+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50,000+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25000+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799" b="1" dirty="0" err="1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FutureReady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>
              <a:defRPr/>
            </a:pPr>
            <a:r>
              <a:rPr lang="en-US" sz="1999" b="1" spc="100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914126">
              <a:defRPr/>
            </a:pPr>
            <a:r>
              <a:rPr lang="en-US" sz="16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79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CCC398-65A7-46D8-A239-10DEF44C09D8}"/>
              </a:ext>
            </a:extLst>
          </p:cNvPr>
          <p:cNvSpPr/>
          <p:nvPr/>
        </p:nvSpPr>
        <p:spPr>
          <a:xfrm>
            <a:off x="581024" y="1338826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DD83FDAB-84C0-4E56-A834-5F4759E4D1B1}"/>
              </a:ext>
            </a:extLst>
          </p:cNvPr>
          <p:cNvSpPr/>
          <p:nvPr/>
        </p:nvSpPr>
        <p:spPr>
          <a:xfrm>
            <a:off x="581024" y="309454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6" name="Rectangle: Rounded Corners 1125">
            <a:extLst>
              <a:ext uri="{FF2B5EF4-FFF2-40B4-BE49-F238E27FC236}">
                <a16:creationId xmlns:a16="http://schemas.microsoft.com/office/drawing/2014/main" id="{FED1BB6A-A9A9-4E0A-A8CD-EEFB5750C983}"/>
              </a:ext>
            </a:extLst>
          </p:cNvPr>
          <p:cNvSpPr/>
          <p:nvPr/>
        </p:nvSpPr>
        <p:spPr>
          <a:xfrm>
            <a:off x="581024" y="4850271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3" name="Rectangle: Rounded Corners 1132">
            <a:extLst>
              <a:ext uri="{FF2B5EF4-FFF2-40B4-BE49-F238E27FC236}">
                <a16:creationId xmlns:a16="http://schemas.microsoft.com/office/drawing/2014/main" id="{47299741-729A-4FA6-A73E-373218C0B948}"/>
              </a:ext>
            </a:extLst>
          </p:cNvPr>
          <p:cNvSpPr/>
          <p:nvPr/>
        </p:nvSpPr>
        <p:spPr>
          <a:xfrm>
            <a:off x="6326749" y="1338826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4" name="Rectangle: Rounded Corners 1133">
            <a:extLst>
              <a:ext uri="{FF2B5EF4-FFF2-40B4-BE49-F238E27FC236}">
                <a16:creationId xmlns:a16="http://schemas.microsoft.com/office/drawing/2014/main" id="{E8655933-ABB5-4D15-AE7F-B0D014A5A5FB}"/>
              </a:ext>
            </a:extLst>
          </p:cNvPr>
          <p:cNvSpPr/>
          <p:nvPr/>
        </p:nvSpPr>
        <p:spPr>
          <a:xfrm>
            <a:off x="6326749" y="309454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5" name="Rectangle: Rounded Corners 1134">
            <a:extLst>
              <a:ext uri="{FF2B5EF4-FFF2-40B4-BE49-F238E27FC236}">
                <a16:creationId xmlns:a16="http://schemas.microsoft.com/office/drawing/2014/main" id="{7ADD6B3E-784D-4B47-A705-C73AEB0275B4}"/>
              </a:ext>
            </a:extLst>
          </p:cNvPr>
          <p:cNvSpPr/>
          <p:nvPr/>
        </p:nvSpPr>
        <p:spPr>
          <a:xfrm>
            <a:off x="6326749" y="4850271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E75565-DE97-493A-B6B7-3FEC1D7EC345}"/>
              </a:ext>
            </a:extLst>
          </p:cNvPr>
          <p:cNvGrpSpPr/>
          <p:nvPr/>
        </p:nvGrpSpPr>
        <p:grpSpPr>
          <a:xfrm>
            <a:off x="1245710" y="1591839"/>
            <a:ext cx="3951680" cy="922336"/>
            <a:chOff x="1395616" y="871285"/>
            <a:chExt cx="3825734" cy="1064137"/>
          </a:xfrm>
        </p:grpSpPr>
        <p:sp>
          <p:nvSpPr>
            <p:cNvPr id="1136" name="TextBox 1135">
              <a:extLst>
                <a:ext uri="{FF2B5EF4-FFF2-40B4-BE49-F238E27FC236}">
                  <a16:creationId xmlns:a16="http://schemas.microsoft.com/office/drawing/2014/main" id="{19597974-6BD9-4F46-93D5-8E798AE68BD9}"/>
                </a:ext>
              </a:extLst>
            </p:cNvPr>
            <p:cNvSpPr txBox="1"/>
            <p:nvPr/>
          </p:nvSpPr>
          <p:spPr>
            <a:xfrm>
              <a:off x="2984420" y="1083772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Introduction to HANA Cloud</a:t>
              </a:r>
            </a:p>
          </p:txBody>
        </p:sp>
        <p:sp>
          <p:nvSpPr>
            <p:cNvPr id="1137" name="TextBox 1136">
              <a:extLst>
                <a:ext uri="{FF2B5EF4-FFF2-40B4-BE49-F238E27FC236}">
                  <a16:creationId xmlns:a16="http://schemas.microsoft.com/office/drawing/2014/main" id="{F9DA7F84-AF3C-4C6B-8FBC-ADC07F02F13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38" name="Group 1137">
            <a:extLst>
              <a:ext uri="{FF2B5EF4-FFF2-40B4-BE49-F238E27FC236}">
                <a16:creationId xmlns:a16="http://schemas.microsoft.com/office/drawing/2014/main" id="{1689CC76-F5C8-4D9A-940D-D0E9511DAD27}"/>
              </a:ext>
            </a:extLst>
          </p:cNvPr>
          <p:cNvGrpSpPr/>
          <p:nvPr/>
        </p:nvGrpSpPr>
        <p:grpSpPr>
          <a:xfrm>
            <a:off x="1245710" y="3347558"/>
            <a:ext cx="3951680" cy="922336"/>
            <a:chOff x="1395616" y="871285"/>
            <a:chExt cx="3825734" cy="1064137"/>
          </a:xfrm>
        </p:grpSpPr>
        <p:sp>
          <p:nvSpPr>
            <p:cNvPr id="1139" name="TextBox 1138">
              <a:extLst>
                <a:ext uri="{FF2B5EF4-FFF2-40B4-BE49-F238E27FC236}">
                  <a16:creationId xmlns:a16="http://schemas.microsoft.com/office/drawing/2014/main" id="{0EC594F9-42AA-48F0-91E3-A523A590A6A2}"/>
                </a:ext>
              </a:extLst>
            </p:cNvPr>
            <p:cNvSpPr txBox="1"/>
            <p:nvPr/>
          </p:nvSpPr>
          <p:spPr>
            <a:xfrm>
              <a:off x="2984420" y="1083772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Connecting to HANA Cloud Instance</a:t>
              </a:r>
            </a:p>
          </p:txBody>
        </p:sp>
        <p:sp>
          <p:nvSpPr>
            <p:cNvPr id="1140" name="TextBox 1139">
              <a:extLst>
                <a:ext uri="{FF2B5EF4-FFF2-40B4-BE49-F238E27FC236}">
                  <a16:creationId xmlns:a16="http://schemas.microsoft.com/office/drawing/2014/main" id="{958156DC-3EA6-4EBE-BADE-2321E29D81D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1" name="Group 1140">
            <a:extLst>
              <a:ext uri="{FF2B5EF4-FFF2-40B4-BE49-F238E27FC236}">
                <a16:creationId xmlns:a16="http://schemas.microsoft.com/office/drawing/2014/main" id="{010C7D28-B781-409B-AFDB-2EB8DCBAB471}"/>
              </a:ext>
            </a:extLst>
          </p:cNvPr>
          <p:cNvGrpSpPr/>
          <p:nvPr/>
        </p:nvGrpSpPr>
        <p:grpSpPr>
          <a:xfrm>
            <a:off x="6991434" y="1591839"/>
            <a:ext cx="4359562" cy="922336"/>
            <a:chOff x="1395616" y="871285"/>
            <a:chExt cx="3825734" cy="1064137"/>
          </a:xfrm>
        </p:grpSpPr>
        <p:sp>
          <p:nvSpPr>
            <p:cNvPr id="1142" name="TextBox 1141">
              <a:extLst>
                <a:ext uri="{FF2B5EF4-FFF2-40B4-BE49-F238E27FC236}">
                  <a16:creationId xmlns:a16="http://schemas.microsoft.com/office/drawing/2014/main" id="{3F09AA1F-FEA7-4D17-88ED-2CD603C4E9A6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Identity Provider</a:t>
              </a:r>
            </a:p>
          </p:txBody>
        </p:sp>
        <p:sp>
          <p:nvSpPr>
            <p:cNvPr id="1143" name="TextBox 1142">
              <a:extLst>
                <a:ext uri="{FF2B5EF4-FFF2-40B4-BE49-F238E27FC236}">
                  <a16:creationId xmlns:a16="http://schemas.microsoft.com/office/drawing/2014/main" id="{C88A509D-C2AF-4500-8C21-D7071BE4DE6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04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8A3A5AE5-D342-4BA3-9A55-5165158B260D}"/>
              </a:ext>
            </a:extLst>
          </p:cNvPr>
          <p:cNvGrpSpPr/>
          <p:nvPr/>
        </p:nvGrpSpPr>
        <p:grpSpPr>
          <a:xfrm>
            <a:off x="6991434" y="3347558"/>
            <a:ext cx="4431570" cy="922336"/>
            <a:chOff x="1395616" y="871285"/>
            <a:chExt cx="3825734" cy="1064137"/>
          </a:xfrm>
        </p:grpSpPr>
        <p:sp>
          <p:nvSpPr>
            <p:cNvPr id="1145" name="TextBox 1144">
              <a:extLst>
                <a:ext uri="{FF2B5EF4-FFF2-40B4-BE49-F238E27FC236}">
                  <a16:creationId xmlns:a16="http://schemas.microsoft.com/office/drawing/2014/main" id="{D50FB645-94BC-4B73-BC01-70A868E236E0}"/>
                </a:ext>
              </a:extLst>
            </p:cNvPr>
            <p:cNvSpPr txBox="1"/>
            <p:nvPr/>
          </p:nvSpPr>
          <p:spPr>
            <a:xfrm>
              <a:off x="2984420" y="1083770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JWT Token and Application Router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6" name="TextBox 1145">
              <a:extLst>
                <a:ext uri="{FF2B5EF4-FFF2-40B4-BE49-F238E27FC236}">
                  <a16:creationId xmlns:a16="http://schemas.microsoft.com/office/drawing/2014/main" id="{D6E845BF-0649-4FED-BF91-2541D1DCB0D6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05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7" name="Group 1146">
            <a:extLst>
              <a:ext uri="{FF2B5EF4-FFF2-40B4-BE49-F238E27FC236}">
                <a16:creationId xmlns:a16="http://schemas.microsoft.com/office/drawing/2014/main" id="{17C38255-E89D-4911-9EAA-F048C7DFE484}"/>
              </a:ext>
            </a:extLst>
          </p:cNvPr>
          <p:cNvGrpSpPr/>
          <p:nvPr/>
        </p:nvGrpSpPr>
        <p:grpSpPr>
          <a:xfrm>
            <a:off x="1245710" y="5103281"/>
            <a:ext cx="3951680" cy="922336"/>
            <a:chOff x="1395616" y="871285"/>
            <a:chExt cx="3825734" cy="1064137"/>
          </a:xfrm>
        </p:grpSpPr>
        <p:sp>
          <p:nvSpPr>
            <p:cNvPr id="1148" name="TextBox 1147">
              <a:extLst>
                <a:ext uri="{FF2B5EF4-FFF2-40B4-BE49-F238E27FC236}">
                  <a16:creationId xmlns:a16="http://schemas.microsoft.com/office/drawing/2014/main" id="{E50F2C64-4496-4A40-ACCB-C5159AEC70D5}"/>
                </a:ext>
              </a:extLst>
            </p:cNvPr>
            <p:cNvSpPr txBox="1"/>
            <p:nvPr/>
          </p:nvSpPr>
          <p:spPr>
            <a:xfrm>
              <a:off x="2984420" y="1083771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Authentication v/s Authorization</a:t>
              </a:r>
            </a:p>
          </p:txBody>
        </p:sp>
        <p:sp>
          <p:nvSpPr>
            <p:cNvPr id="1149" name="TextBox 1148">
              <a:extLst>
                <a:ext uri="{FF2B5EF4-FFF2-40B4-BE49-F238E27FC236}">
                  <a16:creationId xmlns:a16="http://schemas.microsoft.com/office/drawing/2014/main" id="{0B9CA9D5-F695-4802-BE21-8B05D2B7590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50" name="Group 1149">
            <a:extLst>
              <a:ext uri="{FF2B5EF4-FFF2-40B4-BE49-F238E27FC236}">
                <a16:creationId xmlns:a16="http://schemas.microsoft.com/office/drawing/2014/main" id="{64D36160-176A-49B7-AEAE-FF1ECF022B7A}"/>
              </a:ext>
            </a:extLst>
          </p:cNvPr>
          <p:cNvGrpSpPr/>
          <p:nvPr/>
        </p:nvGrpSpPr>
        <p:grpSpPr>
          <a:xfrm>
            <a:off x="6991434" y="5103281"/>
            <a:ext cx="4431570" cy="922336"/>
            <a:chOff x="1395616" y="871285"/>
            <a:chExt cx="4290329" cy="1064137"/>
          </a:xfrm>
        </p:grpSpPr>
        <p:sp>
          <p:nvSpPr>
            <p:cNvPr id="1151" name="TextBox 1150">
              <a:extLst>
                <a:ext uri="{FF2B5EF4-FFF2-40B4-BE49-F238E27FC236}">
                  <a16:creationId xmlns:a16="http://schemas.microsoft.com/office/drawing/2014/main" id="{571E5D2F-CB43-41BD-B4D3-A2160034C400}"/>
                </a:ext>
              </a:extLst>
            </p:cNvPr>
            <p:cNvSpPr txBox="1"/>
            <p:nvPr/>
          </p:nvSpPr>
          <p:spPr>
            <a:xfrm>
              <a:off x="2984420" y="1243560"/>
              <a:ext cx="2701525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Deploy App to CF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52" name="TextBox 1151">
              <a:extLst>
                <a:ext uri="{FF2B5EF4-FFF2-40B4-BE49-F238E27FC236}">
                  <a16:creationId xmlns:a16="http://schemas.microsoft.com/office/drawing/2014/main" id="{F2024D8F-80E0-4CDB-8B10-C1B5BD93DE8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06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4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005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7790</TotalTime>
  <Words>551</Words>
  <Application>Microsoft Office PowerPoint</Application>
  <PresentationFormat>Custom</PresentationFormat>
  <Paragraphs>90</Paragraphs>
  <Slides>19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Amasis MT Pro Black</vt:lpstr>
      <vt:lpstr>Arial</vt:lpstr>
      <vt:lpstr>Arial Black</vt:lpstr>
      <vt:lpstr>Calibri</vt:lpstr>
      <vt:lpstr>Cooper Black</vt:lpstr>
      <vt:lpstr>Segoe UI</vt:lpstr>
      <vt:lpstr>Segoe UI Light</vt:lpstr>
      <vt:lpstr>Office Theme</vt:lpstr>
      <vt:lpstr>SAP BTP Extension Suite Training</vt:lpstr>
      <vt:lpstr>PowerPoint Presentation</vt:lpstr>
      <vt:lpstr>Agenda – Day 8</vt:lpstr>
      <vt:lpstr>Generic Handlers in CAP</vt:lpstr>
      <vt:lpstr>Hands on: Generic Handlers</vt:lpstr>
      <vt:lpstr>Syntax</vt:lpstr>
      <vt:lpstr>Actions and Functions</vt:lpstr>
      <vt:lpstr>SAP Fiori elements boosts SAP Fiori development efficiency </vt:lpstr>
      <vt:lpstr>SAP Fiori elements provides enterprise-ready apps out of the box</vt:lpstr>
      <vt:lpstr>SAP Fiori elements application architecture provides flexibility</vt:lpstr>
      <vt:lpstr>SAP Fiori elements prioritizes efficiency over flexibility </vt:lpstr>
      <vt:lpstr>Hands on : Fiori App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 – Day 4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Anubhav Oberoy</cp:lastModifiedBy>
  <cp:revision>278</cp:revision>
  <dcterms:created xsi:type="dcterms:W3CDTF">2013-09-12T13:05:01Z</dcterms:created>
  <dcterms:modified xsi:type="dcterms:W3CDTF">2026-07-13T06:39:44Z</dcterms:modified>
</cp:coreProperties>
</file>