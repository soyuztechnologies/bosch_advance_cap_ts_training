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4122" r:id="rId3"/>
    <p:sldId id="277" r:id="rId4"/>
    <p:sldId id="4811" r:id="rId5"/>
    <p:sldId id="4806" r:id="rId6"/>
    <p:sldId id="4808" r:id="rId7"/>
    <p:sldId id="4772" r:id="rId8"/>
    <p:sldId id="4791" r:id="rId9"/>
    <p:sldId id="4804" r:id="rId10"/>
    <p:sldId id="4805" r:id="rId11"/>
    <p:sldId id="4802" r:id="rId12"/>
    <p:sldId id="4773" r:id="rId13"/>
    <p:sldId id="4774" r:id="rId14"/>
    <p:sldId id="4775" r:id="rId15"/>
    <p:sldId id="4776" r:id="rId16"/>
    <p:sldId id="4754" r:id="rId17"/>
    <p:sldId id="282" r:id="rId18"/>
    <p:sldId id="280" r:id="rId19"/>
    <p:sldId id="4711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95250" autoAdjust="0"/>
  </p:normalViewPr>
  <p:slideViewPr>
    <p:cSldViewPr>
      <p:cViewPr varScale="1">
        <p:scale>
          <a:sx n="105" d="100"/>
          <a:sy n="105" d="100"/>
        </p:scale>
        <p:origin x="508" y="6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8:56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 24575,'-1'0'0,"1"0"0,0 0 0,0 0 0,-1 1 0,1-1 0,0 0 0,0 0 0,-1 0 0,1 0 0,0 0 0,-1 0 0,1 0 0,0 0 0,0 0 0,-1 0 0,1 0 0,0 0 0,0 0 0,-1 0 0,1 0 0,0 0 0,-1 0 0,1 0 0,0-1 0,0 1 0,-1 0 0,1 0 0,0 0 0,0 0 0,-1-1 0,1 1 0,0 0 0,0 0 0,0 0 0,0-1 0,-1 1 0,1 0 0,0 0 0,0-1 0,0 1 0,0 0 0,0 0 0,0-1 0,-1 1 0,1 0 0,0 0 0,0-1 0,0 1 0,0 0 0,0-1 0,0 1 0,0 0 0,0 0 0,0-1 0,1 1 0,-1 0 0,0-1 0,0 1 0,0 0 0,0 0 0,0-1 0,0 1 0,1 0 0,0-2 0,0 1 0,0 0 0,0 0 0,0 0 0,0 0 0,0 1 0,0-1 0,0 0 0,1 0 0,-1 1 0,0-1 0,3 0 0,23-3 0,0 0 0,0 2 0,54 4 0,-30-1 0,463 0-1365,-471-1-5461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24575,'5'0'0,"6"0"0,6 0 0,9 0 0,5 0 0,6 0 0,7 0 0,4-5 0,9-1 0,3 0 0,6 1 0,1 2 0,-2 1 0,-7 1 0,-13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3" Type="http://schemas.openxmlformats.org/officeDocument/2006/relationships/image" Target="../media/image132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3.xml"/><Relationship Id="rId31" Type="http://schemas.openxmlformats.org/officeDocument/2006/relationships/image" Target="../media/image13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hyperlink" Target="http://www.dribbble.com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tiff"/><Relationship Id="rId5" Type="http://schemas.openxmlformats.org/officeDocument/2006/relationships/image" Target="../media/image19.tiff"/><Relationship Id="rId4" Type="http://schemas.openxmlformats.org/officeDocument/2006/relationships/image" Target="../media/image18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10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453886" y="134076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453886" y="309649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453886" y="485221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4118572" y="1593781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Fiori Apps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4118572" y="3349500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Annotations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4118572" y="5105223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Integrate Actions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10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9E8C-444D-5436-F3E1-CBE9D1CC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24D81-42F2-E18B-71E0-01570C899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2" y="784925"/>
            <a:ext cx="10558909" cy="54497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393B5E-8459-2FA4-34B0-FB69B196BC1C}"/>
              </a:ext>
            </a:extLst>
          </p:cNvPr>
          <p:cNvSpPr/>
          <p:nvPr/>
        </p:nvSpPr>
        <p:spPr>
          <a:xfrm>
            <a:off x="549796" y="1900673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Additional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9C88F-E434-61BF-6983-D7A6A50713C3}"/>
              </a:ext>
            </a:extLst>
          </p:cNvPr>
          <p:cNvSpPr/>
          <p:nvPr/>
        </p:nvSpPr>
        <p:spPr>
          <a:xfrm>
            <a:off x="2926060" y="1900673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Items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3B152BD-8207-F565-E21B-CDC86B8187E6}"/>
              </a:ext>
            </a:extLst>
          </p:cNvPr>
          <p:cNvSpPr/>
          <p:nvPr/>
        </p:nvSpPr>
        <p:spPr>
          <a:xfrm>
            <a:off x="5086300" y="1700808"/>
            <a:ext cx="576064" cy="5599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B8EC4-E833-4246-AB23-FAD41FAFDDAB}"/>
              </a:ext>
            </a:extLst>
          </p:cNvPr>
          <p:cNvSpPr txBox="1"/>
          <p:nvPr/>
        </p:nvSpPr>
        <p:spPr>
          <a:xfrm>
            <a:off x="5734372" y="170080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1DB03-E6EC-66D7-82F5-DFBE23E2880F}"/>
              </a:ext>
            </a:extLst>
          </p:cNvPr>
          <p:cNvSpPr/>
          <p:nvPr/>
        </p:nvSpPr>
        <p:spPr>
          <a:xfrm>
            <a:off x="549796" y="2452392"/>
            <a:ext cx="10225136" cy="2274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 Facets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5C74ED-4AE5-5BFF-EE37-52D961A8D36E}"/>
              </a:ext>
            </a:extLst>
          </p:cNvPr>
          <p:cNvSpPr/>
          <p:nvPr/>
        </p:nvSpPr>
        <p:spPr>
          <a:xfrm>
            <a:off x="621804" y="2924944"/>
            <a:ext cx="3240360" cy="16265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Identification</a:t>
            </a:r>
          </a:p>
          <a:p>
            <a:pPr algn="ctr"/>
            <a:r>
              <a:rPr lang="en-IN" dirty="0"/>
              <a:t>(only 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88168-5234-6F3F-166C-F6A055531DDC}"/>
              </a:ext>
            </a:extLst>
          </p:cNvPr>
          <p:cNvSpPr/>
          <p:nvPr/>
        </p:nvSpPr>
        <p:spPr>
          <a:xfrm>
            <a:off x="4006180" y="2996952"/>
            <a:ext cx="3240360" cy="15121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Field Group</a:t>
            </a:r>
          </a:p>
          <a:p>
            <a:pPr algn="ctr"/>
            <a:r>
              <a:rPr lang="en-IN" dirty="0"/>
              <a:t>Spiderman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F1B4E-0886-AFB7-5AE7-B7790FC12961}"/>
              </a:ext>
            </a:extLst>
          </p:cNvPr>
          <p:cNvSpPr/>
          <p:nvPr/>
        </p:nvSpPr>
        <p:spPr>
          <a:xfrm>
            <a:off x="7398868" y="3021861"/>
            <a:ext cx="3240360" cy="15121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Field Group</a:t>
            </a:r>
          </a:p>
          <a:p>
            <a:pPr algn="ctr"/>
            <a:r>
              <a:rPr lang="en-IN" dirty="0"/>
              <a:t>Superman</a:t>
            </a:r>
          </a:p>
        </p:txBody>
      </p:sp>
    </p:spTree>
    <p:extLst>
      <p:ext uri="{BB962C8B-B14F-4D97-AF65-F5344CB8AC3E}">
        <p14:creationId xmlns:p14="http://schemas.microsoft.com/office/powerpoint/2010/main" val="369143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14:cNvPr>
              <p14:cNvContentPartPr/>
              <p14:nvPr/>
            </p14:nvContentPartPr>
            <p14:xfrm>
              <a:off x="1216914" y="318487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914" y="316723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04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share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99F7A-7987-2B1D-E6E7-B3874C0B6EC8}"/>
              </a:ext>
            </a:extLst>
          </p:cNvPr>
          <p:cNvSpPr txBox="1"/>
          <p:nvPr/>
        </p:nvSpPr>
        <p:spPr>
          <a:xfrm>
            <a:off x="189756" y="908720"/>
            <a:ext cx="118093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</a:rPr>
              <a:t>Till now Anubhav is sharing zip file of project code with all of you, imagine in a team of 40 developers and at end of day if every developer share a zip file, who can merge all code.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</a:rPr>
              <a:t>When someone go on holiday or left team, how can we make sure that we have latest code available for successor to manage it.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Anubhav last evening my code was stable, this morning I came to office and made 40-50 changes which has disrupted everything, I pray to god to go back to last night state. Basically, we need version management.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</a:rPr>
              <a:t>In a team, one developer using BAS another using VS code another using </a:t>
            </a:r>
            <a:r>
              <a:rPr lang="en-IN" sz="1800" dirty="0" err="1">
                <a:solidFill>
                  <a:schemeClr val="bg1"/>
                </a:solidFill>
              </a:rPr>
              <a:t>WebIDE</a:t>
            </a:r>
            <a:r>
              <a:rPr lang="en-IN" sz="1800" dirty="0">
                <a:solidFill>
                  <a:schemeClr val="bg1"/>
                </a:solidFill>
              </a:rPr>
              <a:t>, how can we easily move code from one dev tool to another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</a:rPr>
              <a:t>When something cause production issues, we want to know which change was made by who last time that caused the issue.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bg1"/>
                </a:solidFill>
              </a:rPr>
              <a:t>How to share our code effectively between multiple team members as best practice from industry. And how to merge conflicts also.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Git and </a:t>
            </a:r>
            <a:r>
              <a:rPr lang="en-IN" sz="1800" dirty="0" err="1">
                <a:solidFill>
                  <a:schemeClr val="bg1"/>
                </a:solidFill>
              </a:rPr>
              <a:t>Github</a:t>
            </a:r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Git is a de-central repository management system for managing any kind of source code. And git hub is a central repository where everyone sync their changes (internet).</a:t>
            </a:r>
          </a:p>
          <a:p>
            <a:r>
              <a:rPr lang="en-IN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93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 HUB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6007C54-3524-9466-6672-46E876D5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7" y="980728"/>
            <a:ext cx="10969943" cy="55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3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HANA Cloud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1B822-FD1F-30ED-76E7-5E494D6E61DA}"/>
              </a:ext>
            </a:extLst>
          </p:cNvPr>
          <p:cNvSpPr txBox="1"/>
          <p:nvPr/>
        </p:nvSpPr>
        <p:spPr>
          <a:xfrm>
            <a:off x="405781" y="974164"/>
            <a:ext cx="11161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is a fully managed, in-memory, cloud database as a service (DBaaS). It is the cloud-based data foundation for SAP Business Technology Platform. With SAP HANA Cloud you can create, run, and extend new and existing applications.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includes a number of software components. The core component is SAP HANA Database, but other components can be added at any time, such as a data lake.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E0C3-2785-33E1-C2AE-1D0F297AB256}"/>
              </a:ext>
            </a:extLst>
          </p:cNvPr>
          <p:cNvSpPr txBox="1"/>
          <p:nvPr/>
        </p:nvSpPr>
        <p:spPr>
          <a:xfrm>
            <a:off x="405780" y="2451492"/>
            <a:ext cx="58342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Key Components of SAP HANA Cloud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There are four key components of SAP HANA Cloud: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SAP HANA Database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In-memory database with built-in advanced analytics (spatial, graph, text, etc.)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data lake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Store and query large data sets and most file types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Support for extreme –performance transactional applications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 replication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Bi-directional real time data replication across databases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110644-46D4-5748-42EC-748B8BEA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6" r="15934"/>
          <a:stretch/>
        </p:blipFill>
        <p:spPr bwMode="auto">
          <a:xfrm>
            <a:off x="6454452" y="2252115"/>
            <a:ext cx="5212531" cy="43087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23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A0C-49FC-7BA3-CF59-A7C15038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HANA Cloud v/s On-premise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C22E48-21CE-5727-AE45-AAC559F4D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r="4389"/>
          <a:stretch/>
        </p:blipFill>
        <p:spPr bwMode="auto">
          <a:xfrm>
            <a:off x="163242" y="2276872"/>
            <a:ext cx="6278151" cy="360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D2028-068C-7296-D417-1CF7F3B9981E}"/>
              </a:ext>
            </a:extLst>
          </p:cNvPr>
          <p:cNvSpPr txBox="1"/>
          <p:nvPr/>
        </p:nvSpPr>
        <p:spPr>
          <a:xfrm>
            <a:off x="6653380" y="1076543"/>
            <a:ext cx="5390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Feature Differences</a:t>
            </a:r>
          </a:p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compares very closely with SAP HANA on-premise in terms of features but there are some differences.</a:t>
            </a:r>
            <a:endParaRPr lang="en-US" sz="18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2A828B7-B381-42D5-A741-CD7079B2E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" r="2147"/>
          <a:stretch/>
        </p:blipFill>
        <p:spPr bwMode="auto">
          <a:xfrm>
            <a:off x="6753498" y="2276872"/>
            <a:ext cx="5190086" cy="383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CD8-99C5-715D-47B1-B722AF07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Schema in HANA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3BFF-9905-49BA-CDA8-491A130A9728}"/>
              </a:ext>
            </a:extLst>
          </p:cNvPr>
          <p:cNvSpPr txBox="1"/>
          <p:nvPr/>
        </p:nvSpPr>
        <p:spPr>
          <a:xfrm>
            <a:off x="338571" y="884478"/>
            <a:ext cx="11850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Schema – Is a mandatory database object of database which stores other database objects. 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It’s a logical separation of database objects.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 is home of all the runtime object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Security</a:t>
            </a: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DF3AC68-4734-9C09-3F5B-A68E318F20A5}"/>
              </a:ext>
            </a:extLst>
          </p:cNvPr>
          <p:cNvSpPr/>
          <p:nvPr/>
        </p:nvSpPr>
        <p:spPr>
          <a:xfrm>
            <a:off x="3251200" y="4572000"/>
            <a:ext cx="8432800" cy="1985818"/>
          </a:xfrm>
          <a:prstGeom prst="flowChartMagneticDisk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HANA  600GB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8302C-9592-6298-CC80-D07CD85A71B4}"/>
              </a:ext>
            </a:extLst>
          </p:cNvPr>
          <p:cNvSpPr/>
          <p:nvPr/>
        </p:nvSpPr>
        <p:spPr>
          <a:xfrm>
            <a:off x="3860800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D573D-9479-5606-E379-F344204ADF77}"/>
              </a:ext>
            </a:extLst>
          </p:cNvPr>
          <p:cNvSpPr/>
          <p:nvPr/>
        </p:nvSpPr>
        <p:spPr>
          <a:xfrm>
            <a:off x="6400799" y="3224645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5E973-27E9-815C-F666-ABA22AE46148}"/>
              </a:ext>
            </a:extLst>
          </p:cNvPr>
          <p:cNvSpPr/>
          <p:nvPr/>
        </p:nvSpPr>
        <p:spPr>
          <a:xfrm>
            <a:off x="8811491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S/4HANA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456D9-F5B2-364F-8358-081A37CF0A32}"/>
              </a:ext>
            </a:extLst>
          </p:cNvPr>
          <p:cNvCxnSpPr>
            <a:stCxn id="5" idx="2"/>
          </p:cNvCxnSpPr>
          <p:nvPr/>
        </p:nvCxnSpPr>
        <p:spPr>
          <a:xfrm flipH="1">
            <a:off x="4793673" y="3971636"/>
            <a:ext cx="4618" cy="692728"/>
          </a:xfrm>
          <a:prstGeom prst="straightConnector1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C2FA129-2D8A-4A91-6B3B-CC328101A3FE}"/>
              </a:ext>
            </a:extLst>
          </p:cNvPr>
          <p:cNvCxnSpPr>
            <a:cxnSpLocks/>
          </p:cNvCxnSpPr>
          <p:nvPr/>
        </p:nvCxnSpPr>
        <p:spPr>
          <a:xfrm>
            <a:off x="2004292" y="4828309"/>
            <a:ext cx="1246908" cy="510309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E5E059E-EB61-7991-66E4-B76378D45CC9}"/>
              </a:ext>
            </a:extLst>
          </p:cNvPr>
          <p:cNvSpPr/>
          <p:nvPr/>
        </p:nvSpPr>
        <p:spPr>
          <a:xfrm>
            <a:off x="4544291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A8368-9E25-7960-31FA-777489354C47}"/>
              </a:ext>
            </a:extLst>
          </p:cNvPr>
          <p:cNvSpPr/>
          <p:nvPr/>
        </p:nvSpPr>
        <p:spPr>
          <a:xfrm>
            <a:off x="6638636" y="4846781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ECC001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A8DE3-3559-C1BD-D746-6D5AF1FBAE8C}"/>
              </a:ext>
            </a:extLst>
          </p:cNvPr>
          <p:cNvSpPr/>
          <p:nvPr/>
        </p:nvSpPr>
        <p:spPr>
          <a:xfrm>
            <a:off x="9172863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SAPS4C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8CA6B91-6F24-F3A1-5739-8970D1C15756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6892058" y="4400548"/>
            <a:ext cx="892464" cy="1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729AECB-71DB-3B69-271E-9D8C01DDF96F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16200000" flipH="1">
            <a:off x="9382414" y="4338204"/>
            <a:ext cx="856673" cy="123536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7D824-B767-6D55-ACC8-B8B9FE76895A}"/>
              </a:ext>
            </a:extLst>
          </p:cNvPr>
          <p:cNvSpPr/>
          <p:nvPr/>
        </p:nvSpPr>
        <p:spPr>
          <a:xfrm>
            <a:off x="4544290" y="5837382"/>
            <a:ext cx="1399309" cy="517451"/>
          </a:xfrm>
          <a:prstGeom prst="rect">
            <a:avLst/>
          </a:prstGeom>
          <a:solidFill>
            <a:srgbClr val="F14124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6C57-7745-1FE5-9227-E054E963BBC9}"/>
              </a:ext>
            </a:extLst>
          </p:cNvPr>
          <p:cNvSpPr/>
          <p:nvPr/>
        </p:nvSpPr>
        <p:spPr>
          <a:xfrm>
            <a:off x="3251200" y="5082309"/>
            <a:ext cx="997527" cy="68118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9A7B03-0E45-C520-605C-FF4A229EC65B}"/>
              </a:ext>
            </a:extLst>
          </p:cNvPr>
          <p:cNvGrpSpPr/>
          <p:nvPr/>
        </p:nvGrpSpPr>
        <p:grpSpPr>
          <a:xfrm>
            <a:off x="7134383" y="5573524"/>
            <a:ext cx="284400" cy="60480"/>
            <a:chOff x="7134383" y="5573524"/>
            <a:chExt cx="284400" cy="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8FDB6C-5815-0A00-C001-BB777DFA20C5}"/>
                    </a:ext>
                  </a:extLst>
                </p14:cNvPr>
                <p14:cNvContentPartPr/>
                <p14:nvPr/>
              </p14:nvContentPartPr>
              <p14:xfrm>
                <a:off x="7134383" y="5573524"/>
                <a:ext cx="28440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F3F907-6AC8-9E5B-18A3-0322772232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5383" y="5564524"/>
                  <a:ext cx="302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E8E2BB-AF00-7485-B4FF-D8C379630C01}"/>
                    </a:ext>
                  </a:extLst>
                </p14:cNvPr>
                <p14:cNvContentPartPr/>
                <p14:nvPr/>
              </p14:nvContentPartPr>
              <p14:xfrm>
                <a:off x="7157423" y="5623564"/>
                <a:ext cx="229680" cy="1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9170FC-C85B-7048-08A3-6118F66FD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48783" y="5614564"/>
                  <a:ext cx="247320" cy="2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C1E59-BF40-61BD-2778-D1F7EEACDEDE}"/>
              </a:ext>
            </a:extLst>
          </p:cNvPr>
          <p:cNvSpPr/>
          <p:nvPr/>
        </p:nvSpPr>
        <p:spPr>
          <a:xfrm>
            <a:off x="693812" y="4365104"/>
            <a:ext cx="1422470" cy="717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Non-SAP</a:t>
            </a:r>
          </a:p>
        </p:txBody>
      </p:sp>
    </p:spTree>
    <p:extLst>
      <p:ext uri="{BB962C8B-B14F-4D97-AF65-F5344CB8AC3E}">
        <p14:creationId xmlns:p14="http://schemas.microsoft.com/office/powerpoint/2010/main" val="198813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555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848172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 – HANA Cloud Integration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33051-A262-4738-BE23-009A377F6D2B}"/>
              </a:ext>
            </a:extLst>
          </p:cNvPr>
          <p:cNvSpPr txBox="1"/>
          <p:nvPr/>
        </p:nvSpPr>
        <p:spPr>
          <a:xfrm>
            <a:off x="189756" y="908720"/>
            <a:ext cx="1180931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Pre-requisites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Check the version of CDS (which must be &gt; 2.0)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–v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Start a HANA cloud instance in SAP BTP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Main steps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configuration to our app, which tell cap framework that the default </a:t>
            </a:r>
            <a:r>
              <a:rPr lang="en-US" sz="1800" dirty="0" err="1">
                <a:solidFill>
                  <a:schemeClr val="bg1"/>
                </a:solidFill>
              </a:rPr>
              <a:t>db</a:t>
            </a:r>
            <a:r>
              <a:rPr lang="en-US" sz="1800" dirty="0">
                <a:solidFill>
                  <a:schemeClr val="bg1"/>
                </a:solidFill>
              </a:rPr>
              <a:t> is now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–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add </a:t>
            </a:r>
            <a:r>
              <a:rPr lang="en-US" sz="1800" b="1" dirty="0" err="1">
                <a:solidFill>
                  <a:schemeClr val="bg1"/>
                </a:solidFill>
              </a:rPr>
              <a:t>hana</a:t>
            </a:r>
            <a:endParaRPr lang="en-US" sz="18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2.   Add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deployment format name to our project under </a:t>
            </a:r>
            <a:r>
              <a:rPr lang="en-IN" sz="1600" dirty="0" err="1">
                <a:solidFill>
                  <a:schemeClr val="bg1"/>
                </a:solidFill>
              </a:rPr>
              <a:t>cds</a:t>
            </a:r>
            <a:r>
              <a:rPr lang="en-IN" sz="1600" dirty="0">
                <a:solidFill>
                  <a:schemeClr val="bg1"/>
                </a:solidFill>
              </a:rPr>
              <a:t> section as below inside </a:t>
            </a:r>
            <a:r>
              <a:rPr lang="en-IN" sz="1600" dirty="0" err="1">
                <a:solidFill>
                  <a:schemeClr val="bg1"/>
                </a:solidFill>
              </a:rPr>
              <a:t>package.json</a:t>
            </a:r>
            <a:r>
              <a:rPr lang="en-IN" sz="1600" dirty="0">
                <a:solidFill>
                  <a:schemeClr val="bg1"/>
                </a:solidFill>
              </a:rPr>
              <a:t> file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hana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":{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"deploy-format":"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hdbtable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3. Since the first step added the </a:t>
            </a:r>
            <a:r>
              <a:rPr lang="en-IN" sz="1600" dirty="0" err="1">
                <a:solidFill>
                  <a:schemeClr val="bg1"/>
                </a:solidFill>
              </a:rPr>
              <a:t>hdb</a:t>
            </a:r>
            <a:r>
              <a:rPr lang="en-IN" sz="1600" dirty="0">
                <a:solidFill>
                  <a:schemeClr val="bg1"/>
                </a:solidFill>
              </a:rPr>
              <a:t> node module, we need to install it. Run </a:t>
            </a:r>
            <a:r>
              <a:rPr lang="en-IN" sz="1600" b="1" dirty="0" err="1">
                <a:solidFill>
                  <a:schemeClr val="bg1"/>
                </a:solidFill>
              </a:rPr>
              <a:t>npm</a:t>
            </a:r>
            <a:r>
              <a:rPr lang="en-IN" sz="1600" b="1" dirty="0">
                <a:solidFill>
                  <a:schemeClr val="bg1"/>
                </a:solidFill>
              </a:rPr>
              <a:t> install</a:t>
            </a:r>
          </a:p>
          <a:p>
            <a:r>
              <a:rPr lang="en-IN" sz="1600" dirty="0">
                <a:solidFill>
                  <a:schemeClr val="bg1"/>
                </a:solidFill>
              </a:rPr>
              <a:t>4. We need to perform a build, which will create all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files which will be deployed to HANA cloud.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build --production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5. We need to login to cloud foundry from BAS – </a:t>
            </a:r>
            <a:r>
              <a:rPr lang="en-IN" sz="1600" b="1" dirty="0" err="1">
                <a:solidFill>
                  <a:schemeClr val="bg1"/>
                </a:solidFill>
              </a:rPr>
              <a:t>cf</a:t>
            </a:r>
            <a:r>
              <a:rPr lang="en-IN" sz="1600" b="1" dirty="0">
                <a:solidFill>
                  <a:schemeClr val="bg1"/>
                </a:solidFill>
              </a:rPr>
              <a:t> login</a:t>
            </a:r>
          </a:p>
          <a:p>
            <a:r>
              <a:rPr lang="en-IN" sz="1600" dirty="0">
                <a:solidFill>
                  <a:schemeClr val="bg1"/>
                </a:solidFill>
              </a:rPr>
              <a:t>6. Finally we need to deploy the DB and everything to SAP HANA Cloud –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deploy --to </a:t>
            </a:r>
            <a:r>
              <a:rPr lang="en-IN" sz="1600" b="1" dirty="0" err="1">
                <a:solidFill>
                  <a:schemeClr val="bg1"/>
                </a:solidFill>
              </a:rPr>
              <a:t>hana:batman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7. We fixed issues related to excel format of HANA and changed the size of field </a:t>
            </a:r>
            <a:r>
              <a:rPr lang="en-IN" sz="1600" dirty="0" err="1">
                <a:solidFill>
                  <a:schemeClr val="bg1"/>
                </a:solidFill>
              </a:rPr>
              <a:t>bankid</a:t>
            </a:r>
            <a:r>
              <a:rPr lang="en-IN" sz="1600" dirty="0">
                <a:solidFill>
                  <a:schemeClr val="bg1"/>
                </a:solidFill>
              </a:rPr>
              <a:t> for employee, redo the build and deploy</a:t>
            </a:r>
          </a:p>
          <a:p>
            <a:r>
              <a:rPr lang="en-IN" sz="1600" dirty="0">
                <a:solidFill>
                  <a:schemeClr val="bg1"/>
                </a:solidFill>
              </a:rPr>
              <a:t>8. If deployment worked, a new file </a:t>
            </a:r>
            <a:r>
              <a:rPr lang="en-IN" sz="1600" b="1" dirty="0" err="1">
                <a:solidFill>
                  <a:schemeClr val="bg1"/>
                </a:solidFill>
              </a:rPr>
              <a:t>cdsrc-private.json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gets created automatically, this file contain the information about which container in SAP BTP HANA Cloud to connect to. And the private key is stored in this file.</a:t>
            </a:r>
          </a:p>
          <a:p>
            <a:r>
              <a:rPr lang="en-IN" sz="1600" dirty="0">
                <a:solidFill>
                  <a:schemeClr val="bg1"/>
                </a:solidFill>
              </a:rPr>
              <a:t>9. Provide the credentials which will be used to connect database, start using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watch --profile hybrid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"credentials": 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"database": "batman-key"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7798</TotalTime>
  <Words>1257</Words>
  <Application>Microsoft Office PowerPoint</Application>
  <PresentationFormat>Custom</PresentationFormat>
  <Paragraphs>149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Amasis MT Pro Black</vt:lpstr>
      <vt:lpstr>Arial</vt:lpstr>
      <vt:lpstr>Arial Black</vt:lpstr>
      <vt:lpstr>Calibri</vt:lpstr>
      <vt:lpstr>Consolas</vt:lpstr>
      <vt:lpstr>Cooper Black</vt:lpstr>
      <vt:lpstr>Segoe UI</vt:lpstr>
      <vt:lpstr>Segoe UI Light</vt:lpstr>
      <vt:lpstr>Wingdings</vt:lpstr>
      <vt:lpstr>Office Theme</vt:lpstr>
      <vt:lpstr>SAP BTP Extension Suite Training</vt:lpstr>
      <vt:lpstr>PowerPoint Presentation</vt:lpstr>
      <vt:lpstr>Agenda – Day 10</vt:lpstr>
      <vt:lpstr>Object page</vt:lpstr>
      <vt:lpstr>Create Fiori App using Annotation</vt:lpstr>
      <vt:lpstr>Hands on: Create &amp; F4 Enablement for app</vt:lpstr>
      <vt:lpstr>Hands on : Fiori App</vt:lpstr>
      <vt:lpstr>Create Fiori App using Annotation</vt:lpstr>
      <vt:lpstr>Challenges to share code</vt:lpstr>
      <vt:lpstr>Git and Git HUB</vt:lpstr>
      <vt:lpstr>Introduction to HANA Cloud</vt:lpstr>
      <vt:lpstr>HANA Cloud v/s On-premise</vt:lpstr>
      <vt:lpstr>What is Schema in HANA</vt:lpstr>
      <vt:lpstr>HDI Container</vt:lpstr>
      <vt:lpstr>Hands on - Create HANA Cloud Instance</vt:lpstr>
      <vt:lpstr>Hands on – HANA Cloud Integration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279</cp:revision>
  <dcterms:created xsi:type="dcterms:W3CDTF">2013-09-12T13:05:01Z</dcterms:created>
  <dcterms:modified xsi:type="dcterms:W3CDTF">2026-07-21T10:00:44Z</dcterms:modified>
</cp:coreProperties>
</file>