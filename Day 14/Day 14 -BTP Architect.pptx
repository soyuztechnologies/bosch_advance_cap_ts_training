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76" r:id="rId2"/>
    <p:sldId id="4122" r:id="rId3"/>
    <p:sldId id="277" r:id="rId4"/>
    <p:sldId id="4781" r:id="rId5"/>
    <p:sldId id="4782" r:id="rId6"/>
    <p:sldId id="4783" r:id="rId7"/>
    <p:sldId id="4784" r:id="rId8"/>
    <p:sldId id="4823" r:id="rId9"/>
    <p:sldId id="4819" r:id="rId10"/>
    <p:sldId id="4820" r:id="rId11"/>
    <p:sldId id="4821" r:id="rId12"/>
    <p:sldId id="4822" r:id="rId13"/>
    <p:sldId id="282" r:id="rId14"/>
    <p:sldId id="280" r:id="rId15"/>
    <p:sldId id="4711" r:id="rId16"/>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40" autoAdjust="0"/>
    <p:restoredTop sz="95033" autoAdjust="0"/>
  </p:normalViewPr>
  <p:slideViewPr>
    <p:cSldViewPr>
      <p:cViewPr varScale="1">
        <p:scale>
          <a:sx n="110" d="100"/>
          <a:sy n="110" d="100"/>
        </p:scale>
        <p:origin x="320" y="76"/>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A4736C-EEFE-4E3B-BD96-98959AD8A52A}"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IN"/>
        </a:p>
      </dgm:t>
    </dgm:pt>
    <dgm:pt modelId="{2E5BE1B8-5DE9-439C-ADFB-58C24975FC16}">
      <dgm:prSet phldrT="[Text]" phldr="0"/>
      <dgm:spPr/>
      <dgm:t>
        <a:bodyPr/>
        <a:lstStyle/>
        <a:p>
          <a:r>
            <a:rPr lang="en-IN" dirty="0"/>
            <a:t>download</a:t>
          </a:r>
        </a:p>
      </dgm:t>
    </dgm:pt>
    <dgm:pt modelId="{37BFE66C-B5B6-49CD-B00F-6E8A2F81D216}" type="parTrans" cxnId="{405BCD89-6D5A-4A41-9FB5-A2E9E64ED284}">
      <dgm:prSet/>
      <dgm:spPr/>
      <dgm:t>
        <a:bodyPr/>
        <a:lstStyle/>
        <a:p>
          <a:endParaRPr lang="en-IN"/>
        </a:p>
      </dgm:t>
    </dgm:pt>
    <dgm:pt modelId="{2F7CDB71-C16C-4C09-95CA-5607B67E9787}" type="sibTrans" cxnId="{405BCD89-6D5A-4A41-9FB5-A2E9E64ED284}">
      <dgm:prSet/>
      <dgm:spPr/>
      <dgm:t>
        <a:bodyPr/>
        <a:lstStyle/>
        <a:p>
          <a:endParaRPr lang="en-IN"/>
        </a:p>
      </dgm:t>
    </dgm:pt>
    <dgm:pt modelId="{B19F762A-E401-46A6-BA00-9C061CFCB415}">
      <dgm:prSet phldrT="[Text]" phldr="0"/>
      <dgm:spPr/>
      <dgm:t>
        <a:bodyPr/>
        <a:lstStyle/>
        <a:p>
          <a:r>
            <a:rPr lang="en-IN" dirty="0"/>
            <a:t>build</a:t>
          </a:r>
        </a:p>
      </dgm:t>
    </dgm:pt>
    <dgm:pt modelId="{AE532E0A-20CD-46C4-A083-2C47A281E6D7}" type="parTrans" cxnId="{DE1EC316-B8F7-446A-9409-1572B3B7F82A}">
      <dgm:prSet/>
      <dgm:spPr/>
      <dgm:t>
        <a:bodyPr/>
        <a:lstStyle/>
        <a:p>
          <a:endParaRPr lang="en-IN"/>
        </a:p>
      </dgm:t>
    </dgm:pt>
    <dgm:pt modelId="{872E6321-6D8B-43C3-AA47-FE0062FF909B}" type="sibTrans" cxnId="{DE1EC316-B8F7-446A-9409-1572B3B7F82A}">
      <dgm:prSet/>
      <dgm:spPr/>
      <dgm:t>
        <a:bodyPr/>
        <a:lstStyle/>
        <a:p>
          <a:endParaRPr lang="en-IN"/>
        </a:p>
      </dgm:t>
    </dgm:pt>
    <dgm:pt modelId="{601633F3-4843-4C83-AC7A-91D95F9700FA}">
      <dgm:prSet phldrT="[Text]" phldr="0"/>
      <dgm:spPr/>
      <dgm:t>
        <a:bodyPr/>
        <a:lstStyle/>
        <a:p>
          <a:r>
            <a:rPr lang="en-IN" dirty="0"/>
            <a:t>Deploy</a:t>
          </a:r>
        </a:p>
      </dgm:t>
    </dgm:pt>
    <dgm:pt modelId="{168A1B7A-A602-4A40-95CB-FA3278D98646}" type="parTrans" cxnId="{74F9B23B-BE6B-4FA4-9DC2-E4644B74E14A}">
      <dgm:prSet/>
      <dgm:spPr/>
      <dgm:t>
        <a:bodyPr/>
        <a:lstStyle/>
        <a:p>
          <a:endParaRPr lang="en-IN"/>
        </a:p>
      </dgm:t>
    </dgm:pt>
    <dgm:pt modelId="{2F51CD4E-B215-4EAC-8290-88707587F670}" type="sibTrans" cxnId="{74F9B23B-BE6B-4FA4-9DC2-E4644B74E14A}">
      <dgm:prSet/>
      <dgm:spPr/>
      <dgm:t>
        <a:bodyPr/>
        <a:lstStyle/>
        <a:p>
          <a:endParaRPr lang="en-IN"/>
        </a:p>
      </dgm:t>
    </dgm:pt>
    <dgm:pt modelId="{B48AE2D7-855C-4365-BA83-C296871CCF4C}">
      <dgm:prSet phldrT="[Text]" phldr="0"/>
      <dgm:spPr/>
      <dgm:t>
        <a:bodyPr/>
        <a:lstStyle/>
        <a:p>
          <a:r>
            <a:rPr lang="en-IN" dirty="0"/>
            <a:t>Release</a:t>
          </a:r>
        </a:p>
      </dgm:t>
    </dgm:pt>
    <dgm:pt modelId="{54F16295-0950-4C3A-AFC9-784D1353053C}" type="parTrans" cxnId="{BA0B4708-C496-440C-8044-44A70E0282BD}">
      <dgm:prSet/>
      <dgm:spPr/>
      <dgm:t>
        <a:bodyPr/>
        <a:lstStyle/>
        <a:p>
          <a:endParaRPr lang="en-IN"/>
        </a:p>
      </dgm:t>
    </dgm:pt>
    <dgm:pt modelId="{44718B98-D03E-47D4-AA4D-680E9D2931C8}" type="sibTrans" cxnId="{BA0B4708-C496-440C-8044-44A70E0282BD}">
      <dgm:prSet/>
      <dgm:spPr/>
      <dgm:t>
        <a:bodyPr/>
        <a:lstStyle/>
        <a:p>
          <a:endParaRPr lang="en-IN"/>
        </a:p>
      </dgm:t>
    </dgm:pt>
    <dgm:pt modelId="{1BBD3072-877A-42C5-B8DB-F337280C865A}" type="pres">
      <dgm:prSet presAssocID="{F7A4736C-EEFE-4E3B-BD96-98959AD8A52A}" presName="linearFlow" presStyleCnt="0">
        <dgm:presLayoutVars>
          <dgm:resizeHandles val="exact"/>
        </dgm:presLayoutVars>
      </dgm:prSet>
      <dgm:spPr/>
    </dgm:pt>
    <dgm:pt modelId="{4F9D4866-EE6C-4B63-8E6C-BB206D5CAEC0}" type="pres">
      <dgm:prSet presAssocID="{2E5BE1B8-5DE9-439C-ADFB-58C24975FC16}" presName="node" presStyleLbl="node1" presStyleIdx="0" presStyleCnt="4">
        <dgm:presLayoutVars>
          <dgm:bulletEnabled val="1"/>
        </dgm:presLayoutVars>
      </dgm:prSet>
      <dgm:spPr/>
    </dgm:pt>
    <dgm:pt modelId="{9A0BE376-855A-4BD4-A8B9-3D7407C5AD2B}" type="pres">
      <dgm:prSet presAssocID="{2F7CDB71-C16C-4C09-95CA-5607B67E9787}" presName="sibTrans" presStyleLbl="sibTrans2D1" presStyleIdx="0" presStyleCnt="3"/>
      <dgm:spPr/>
    </dgm:pt>
    <dgm:pt modelId="{9163F8D3-5179-4944-AB14-F1B98E1664E7}" type="pres">
      <dgm:prSet presAssocID="{2F7CDB71-C16C-4C09-95CA-5607B67E9787}" presName="connectorText" presStyleLbl="sibTrans2D1" presStyleIdx="0" presStyleCnt="3"/>
      <dgm:spPr/>
    </dgm:pt>
    <dgm:pt modelId="{33D81BF3-5008-4224-A76A-0E65069A60DE}" type="pres">
      <dgm:prSet presAssocID="{B19F762A-E401-46A6-BA00-9C061CFCB415}" presName="node" presStyleLbl="node1" presStyleIdx="1" presStyleCnt="4">
        <dgm:presLayoutVars>
          <dgm:bulletEnabled val="1"/>
        </dgm:presLayoutVars>
      </dgm:prSet>
      <dgm:spPr/>
    </dgm:pt>
    <dgm:pt modelId="{144BE267-0814-48D5-A888-7094625F42E4}" type="pres">
      <dgm:prSet presAssocID="{872E6321-6D8B-43C3-AA47-FE0062FF909B}" presName="sibTrans" presStyleLbl="sibTrans2D1" presStyleIdx="1" presStyleCnt="3"/>
      <dgm:spPr/>
    </dgm:pt>
    <dgm:pt modelId="{D98FFD79-DEF3-4B2C-BE74-7DE8019D6B20}" type="pres">
      <dgm:prSet presAssocID="{872E6321-6D8B-43C3-AA47-FE0062FF909B}" presName="connectorText" presStyleLbl="sibTrans2D1" presStyleIdx="1" presStyleCnt="3"/>
      <dgm:spPr/>
    </dgm:pt>
    <dgm:pt modelId="{BED75607-6183-4039-8915-EDB324E08FA1}" type="pres">
      <dgm:prSet presAssocID="{601633F3-4843-4C83-AC7A-91D95F9700FA}" presName="node" presStyleLbl="node1" presStyleIdx="2" presStyleCnt="4">
        <dgm:presLayoutVars>
          <dgm:bulletEnabled val="1"/>
        </dgm:presLayoutVars>
      </dgm:prSet>
      <dgm:spPr/>
    </dgm:pt>
    <dgm:pt modelId="{35347735-FB75-4FB2-9C28-851F0D6B7F22}" type="pres">
      <dgm:prSet presAssocID="{2F51CD4E-B215-4EAC-8290-88707587F670}" presName="sibTrans" presStyleLbl="sibTrans2D1" presStyleIdx="2" presStyleCnt="3"/>
      <dgm:spPr/>
    </dgm:pt>
    <dgm:pt modelId="{3E3C0FE6-E4B9-4E8B-8E37-480924CBDBB0}" type="pres">
      <dgm:prSet presAssocID="{2F51CD4E-B215-4EAC-8290-88707587F670}" presName="connectorText" presStyleLbl="sibTrans2D1" presStyleIdx="2" presStyleCnt="3"/>
      <dgm:spPr/>
    </dgm:pt>
    <dgm:pt modelId="{E4AD97B1-8289-4688-8560-E94F7723943F}" type="pres">
      <dgm:prSet presAssocID="{B48AE2D7-855C-4365-BA83-C296871CCF4C}" presName="node" presStyleLbl="node1" presStyleIdx="3" presStyleCnt="4">
        <dgm:presLayoutVars>
          <dgm:bulletEnabled val="1"/>
        </dgm:presLayoutVars>
      </dgm:prSet>
      <dgm:spPr/>
    </dgm:pt>
  </dgm:ptLst>
  <dgm:cxnLst>
    <dgm:cxn modelId="{BA0B4708-C496-440C-8044-44A70E0282BD}" srcId="{F7A4736C-EEFE-4E3B-BD96-98959AD8A52A}" destId="{B48AE2D7-855C-4365-BA83-C296871CCF4C}" srcOrd="3" destOrd="0" parTransId="{54F16295-0950-4C3A-AFC9-784D1353053C}" sibTransId="{44718B98-D03E-47D4-AA4D-680E9D2931C8}"/>
    <dgm:cxn modelId="{DE1EC316-B8F7-446A-9409-1572B3B7F82A}" srcId="{F7A4736C-EEFE-4E3B-BD96-98959AD8A52A}" destId="{B19F762A-E401-46A6-BA00-9C061CFCB415}" srcOrd="1" destOrd="0" parTransId="{AE532E0A-20CD-46C4-A083-2C47A281E6D7}" sibTransId="{872E6321-6D8B-43C3-AA47-FE0062FF909B}"/>
    <dgm:cxn modelId="{63941317-0357-4FCC-BCAD-55F484D13AB5}" type="presOf" srcId="{2E5BE1B8-5DE9-439C-ADFB-58C24975FC16}" destId="{4F9D4866-EE6C-4B63-8E6C-BB206D5CAEC0}" srcOrd="0" destOrd="0" presId="urn:microsoft.com/office/officeart/2005/8/layout/process2"/>
    <dgm:cxn modelId="{A175A32B-99F6-4FF3-BDB5-8E898161EE6E}" type="presOf" srcId="{872E6321-6D8B-43C3-AA47-FE0062FF909B}" destId="{D98FFD79-DEF3-4B2C-BE74-7DE8019D6B20}" srcOrd="1" destOrd="0" presId="urn:microsoft.com/office/officeart/2005/8/layout/process2"/>
    <dgm:cxn modelId="{74F9B23B-BE6B-4FA4-9DC2-E4644B74E14A}" srcId="{F7A4736C-EEFE-4E3B-BD96-98959AD8A52A}" destId="{601633F3-4843-4C83-AC7A-91D95F9700FA}" srcOrd="2" destOrd="0" parTransId="{168A1B7A-A602-4A40-95CB-FA3278D98646}" sibTransId="{2F51CD4E-B215-4EAC-8290-88707587F670}"/>
    <dgm:cxn modelId="{8A47F848-09CD-4E28-A251-CEBB4FCE24AB}" type="presOf" srcId="{2F7CDB71-C16C-4C09-95CA-5607B67E9787}" destId="{9A0BE376-855A-4BD4-A8B9-3D7407C5AD2B}" srcOrd="0" destOrd="0" presId="urn:microsoft.com/office/officeart/2005/8/layout/process2"/>
    <dgm:cxn modelId="{2D10DD71-305D-4C6E-BA6B-3D0248B2FBB4}" type="presOf" srcId="{2F51CD4E-B215-4EAC-8290-88707587F670}" destId="{3E3C0FE6-E4B9-4E8B-8E37-480924CBDBB0}" srcOrd="1" destOrd="0" presId="urn:microsoft.com/office/officeart/2005/8/layout/process2"/>
    <dgm:cxn modelId="{8E01E272-0EF1-4E19-BE6C-52A857100841}" type="presOf" srcId="{601633F3-4843-4C83-AC7A-91D95F9700FA}" destId="{BED75607-6183-4039-8915-EDB324E08FA1}" srcOrd="0" destOrd="0" presId="urn:microsoft.com/office/officeart/2005/8/layout/process2"/>
    <dgm:cxn modelId="{FD5C0F89-160D-4314-829D-8E2AD3A67460}" type="presOf" srcId="{2F51CD4E-B215-4EAC-8290-88707587F670}" destId="{35347735-FB75-4FB2-9C28-851F0D6B7F22}" srcOrd="0" destOrd="0" presId="urn:microsoft.com/office/officeart/2005/8/layout/process2"/>
    <dgm:cxn modelId="{405BCD89-6D5A-4A41-9FB5-A2E9E64ED284}" srcId="{F7A4736C-EEFE-4E3B-BD96-98959AD8A52A}" destId="{2E5BE1B8-5DE9-439C-ADFB-58C24975FC16}" srcOrd="0" destOrd="0" parTransId="{37BFE66C-B5B6-49CD-B00F-6E8A2F81D216}" sibTransId="{2F7CDB71-C16C-4C09-95CA-5607B67E9787}"/>
    <dgm:cxn modelId="{D9C1838F-A091-451E-9FC3-8BD576042A56}" type="presOf" srcId="{F7A4736C-EEFE-4E3B-BD96-98959AD8A52A}" destId="{1BBD3072-877A-42C5-B8DB-F337280C865A}" srcOrd="0" destOrd="0" presId="urn:microsoft.com/office/officeart/2005/8/layout/process2"/>
    <dgm:cxn modelId="{5E2BFAC1-A7C2-4ED8-B694-A2D03DED5E1A}" type="presOf" srcId="{872E6321-6D8B-43C3-AA47-FE0062FF909B}" destId="{144BE267-0814-48D5-A888-7094625F42E4}" srcOrd="0" destOrd="0" presId="urn:microsoft.com/office/officeart/2005/8/layout/process2"/>
    <dgm:cxn modelId="{941556C5-B587-4221-AA67-8ADB5E79005B}" type="presOf" srcId="{B19F762A-E401-46A6-BA00-9C061CFCB415}" destId="{33D81BF3-5008-4224-A76A-0E65069A60DE}" srcOrd="0" destOrd="0" presId="urn:microsoft.com/office/officeart/2005/8/layout/process2"/>
    <dgm:cxn modelId="{847BAED6-A919-4C2F-82AD-FEB3D9049BE8}" type="presOf" srcId="{B48AE2D7-855C-4365-BA83-C296871CCF4C}" destId="{E4AD97B1-8289-4688-8560-E94F7723943F}" srcOrd="0" destOrd="0" presId="urn:microsoft.com/office/officeart/2005/8/layout/process2"/>
    <dgm:cxn modelId="{611C6CE7-FB0B-4D88-9E89-10BD73C9DA02}" type="presOf" srcId="{2F7CDB71-C16C-4C09-95CA-5607B67E9787}" destId="{9163F8D3-5179-4944-AB14-F1B98E1664E7}" srcOrd="1" destOrd="0" presId="urn:microsoft.com/office/officeart/2005/8/layout/process2"/>
    <dgm:cxn modelId="{C93EF0FE-A929-4F71-BBC0-8D862CBE8234}" type="presParOf" srcId="{1BBD3072-877A-42C5-B8DB-F337280C865A}" destId="{4F9D4866-EE6C-4B63-8E6C-BB206D5CAEC0}" srcOrd="0" destOrd="0" presId="urn:microsoft.com/office/officeart/2005/8/layout/process2"/>
    <dgm:cxn modelId="{EF47FBC4-F27A-4F35-BC34-6C6946D81063}" type="presParOf" srcId="{1BBD3072-877A-42C5-B8DB-F337280C865A}" destId="{9A0BE376-855A-4BD4-A8B9-3D7407C5AD2B}" srcOrd="1" destOrd="0" presId="urn:microsoft.com/office/officeart/2005/8/layout/process2"/>
    <dgm:cxn modelId="{5128787C-C14A-4C2A-802E-E793FE3C27DC}" type="presParOf" srcId="{9A0BE376-855A-4BD4-A8B9-3D7407C5AD2B}" destId="{9163F8D3-5179-4944-AB14-F1B98E1664E7}" srcOrd="0" destOrd="0" presId="urn:microsoft.com/office/officeart/2005/8/layout/process2"/>
    <dgm:cxn modelId="{0292572D-09CD-4630-B0AC-DBCDE0D74AFB}" type="presParOf" srcId="{1BBD3072-877A-42C5-B8DB-F337280C865A}" destId="{33D81BF3-5008-4224-A76A-0E65069A60DE}" srcOrd="2" destOrd="0" presId="urn:microsoft.com/office/officeart/2005/8/layout/process2"/>
    <dgm:cxn modelId="{8B3E7501-A47D-43CF-AF50-07501C5A7607}" type="presParOf" srcId="{1BBD3072-877A-42C5-B8DB-F337280C865A}" destId="{144BE267-0814-48D5-A888-7094625F42E4}" srcOrd="3" destOrd="0" presId="urn:microsoft.com/office/officeart/2005/8/layout/process2"/>
    <dgm:cxn modelId="{C1D306E6-E43D-48CA-BC0D-D240ED9C3BDE}" type="presParOf" srcId="{144BE267-0814-48D5-A888-7094625F42E4}" destId="{D98FFD79-DEF3-4B2C-BE74-7DE8019D6B20}" srcOrd="0" destOrd="0" presId="urn:microsoft.com/office/officeart/2005/8/layout/process2"/>
    <dgm:cxn modelId="{15B357A0-B9D1-40A2-B9DB-019AD1601C37}" type="presParOf" srcId="{1BBD3072-877A-42C5-B8DB-F337280C865A}" destId="{BED75607-6183-4039-8915-EDB324E08FA1}" srcOrd="4" destOrd="0" presId="urn:microsoft.com/office/officeart/2005/8/layout/process2"/>
    <dgm:cxn modelId="{72573C6C-7589-4721-85A2-F4E99BD4EFB1}" type="presParOf" srcId="{1BBD3072-877A-42C5-B8DB-F337280C865A}" destId="{35347735-FB75-4FB2-9C28-851F0D6B7F22}" srcOrd="5" destOrd="0" presId="urn:microsoft.com/office/officeart/2005/8/layout/process2"/>
    <dgm:cxn modelId="{D9AE466B-B218-4846-A1FD-8492912CBAB8}" type="presParOf" srcId="{35347735-FB75-4FB2-9C28-851F0D6B7F22}" destId="{3E3C0FE6-E4B9-4E8B-8E37-480924CBDBB0}" srcOrd="0" destOrd="0" presId="urn:microsoft.com/office/officeart/2005/8/layout/process2"/>
    <dgm:cxn modelId="{B8B6F666-EB77-42D0-A2DD-BBCEB19EA165}" type="presParOf" srcId="{1BBD3072-877A-42C5-B8DB-F337280C865A}" destId="{E4AD97B1-8289-4688-8560-E94F7723943F}"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7/27/2026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7/27/2026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7/27/2026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10.png"/><Relationship Id="rId4" Type="http://schemas.openxmlformats.org/officeDocument/2006/relationships/hyperlink" Target="http://www.dribbble.com/"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jpeg"/><Relationship Id="rId7" Type="http://schemas.openxmlformats.org/officeDocument/2006/relationships/image" Target="../media/image15.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14.tiff"/><Relationship Id="rId5" Type="http://schemas.openxmlformats.org/officeDocument/2006/relationships/image" Target="../media/image13.tiff"/><Relationship Id="rId4" Type="http://schemas.openxmlformats.org/officeDocument/2006/relationships/image" Target="../media/image12.tiff"/><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14</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14</a:t>
            </a:r>
            <a:endParaRPr lang="en-IN" dirty="0">
              <a:solidFill>
                <a:schemeClr val="bg1"/>
              </a:solidFill>
              <a:latin typeface="Cooper Black" panose="0208090404030B020404" pitchFamily="18" charset="0"/>
            </a:endParaRPr>
          </a:p>
        </p:txBody>
      </p:sp>
      <p:sp>
        <p:nvSpPr>
          <p:cNvPr id="5" name="Rectangle: Rounded Corners 4">
            <a:extLst>
              <a:ext uri="{FF2B5EF4-FFF2-40B4-BE49-F238E27FC236}">
                <a16:creationId xmlns:a16="http://schemas.microsoft.com/office/drawing/2014/main" id="{8EE791A1-2958-78B0-ECDD-F89DDE02F4B6}"/>
              </a:ext>
            </a:extLst>
          </p:cNvPr>
          <p:cNvSpPr/>
          <p:nvPr/>
        </p:nvSpPr>
        <p:spPr>
          <a:xfrm>
            <a:off x="3453886" y="131323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B89E801-E285-EBED-06F5-7E2B1B8E1E7A}"/>
              </a:ext>
            </a:extLst>
          </p:cNvPr>
          <p:cNvSpPr/>
          <p:nvPr/>
        </p:nvSpPr>
        <p:spPr>
          <a:xfrm>
            <a:off x="3453886" y="3068960"/>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ABAB72EB-5FE6-B5CA-C654-D15CE54000E9}"/>
              </a:ext>
            </a:extLst>
          </p:cNvPr>
          <p:cNvSpPr/>
          <p:nvPr/>
        </p:nvSpPr>
        <p:spPr>
          <a:xfrm>
            <a:off x="3453886" y="4824683"/>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1A27EE0E-9853-D0E9-E5A8-87BE731920EA}"/>
              </a:ext>
            </a:extLst>
          </p:cNvPr>
          <p:cNvGrpSpPr/>
          <p:nvPr/>
        </p:nvGrpSpPr>
        <p:grpSpPr>
          <a:xfrm>
            <a:off x="4118571" y="1566251"/>
            <a:ext cx="4359562" cy="922336"/>
            <a:chOff x="1395616" y="871285"/>
            <a:chExt cx="3825734" cy="1064137"/>
          </a:xfrm>
        </p:grpSpPr>
        <p:sp>
          <p:nvSpPr>
            <p:cNvPr id="9" name="TextBox 8">
              <a:extLst>
                <a:ext uri="{FF2B5EF4-FFF2-40B4-BE49-F238E27FC236}">
                  <a16:creationId xmlns:a16="http://schemas.microsoft.com/office/drawing/2014/main" id="{8B429D3B-7C38-B33E-067B-835764291C87}"/>
                </a:ext>
              </a:extLst>
            </p:cNvPr>
            <p:cNvSpPr txBox="1"/>
            <p:nvPr/>
          </p:nvSpPr>
          <p:spPr>
            <a:xfrm>
              <a:off x="2984420" y="1243566"/>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Test JWT Token</a:t>
              </a:r>
            </a:p>
          </p:txBody>
        </p:sp>
        <p:sp>
          <p:nvSpPr>
            <p:cNvPr id="10" name="TextBox 9">
              <a:extLst>
                <a:ext uri="{FF2B5EF4-FFF2-40B4-BE49-F238E27FC236}">
                  <a16:creationId xmlns:a16="http://schemas.microsoft.com/office/drawing/2014/main" id="{118C39A3-CA2B-146F-D772-D14998B4D672}"/>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 name="Group 10">
            <a:extLst>
              <a:ext uri="{FF2B5EF4-FFF2-40B4-BE49-F238E27FC236}">
                <a16:creationId xmlns:a16="http://schemas.microsoft.com/office/drawing/2014/main" id="{F7773B0C-4C36-F5CF-6049-15A22D3353B9}"/>
              </a:ext>
            </a:extLst>
          </p:cNvPr>
          <p:cNvGrpSpPr/>
          <p:nvPr/>
        </p:nvGrpSpPr>
        <p:grpSpPr>
          <a:xfrm>
            <a:off x="4118571" y="3321970"/>
            <a:ext cx="4431570" cy="922336"/>
            <a:chOff x="1395616" y="871285"/>
            <a:chExt cx="3825734" cy="1064137"/>
          </a:xfrm>
        </p:grpSpPr>
        <p:sp>
          <p:nvSpPr>
            <p:cNvPr id="12" name="TextBox 11">
              <a:extLst>
                <a:ext uri="{FF2B5EF4-FFF2-40B4-BE49-F238E27FC236}">
                  <a16:creationId xmlns:a16="http://schemas.microsoft.com/office/drawing/2014/main" id="{58BB80F5-BF50-C0D2-25DF-59F695C70420}"/>
                </a:ext>
              </a:extLst>
            </p:cNvPr>
            <p:cNvSpPr txBox="1"/>
            <p:nvPr/>
          </p:nvSpPr>
          <p:spPr>
            <a:xfrm>
              <a:off x="2984420" y="1243562"/>
              <a:ext cx="2236930" cy="319585"/>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Adding App Router</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3" name="TextBox 12">
              <a:extLst>
                <a:ext uri="{FF2B5EF4-FFF2-40B4-BE49-F238E27FC236}">
                  <a16:creationId xmlns:a16="http://schemas.microsoft.com/office/drawing/2014/main" id="{6824D9CE-F522-A342-1387-CC55E9C4494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4" name="Group 13">
            <a:extLst>
              <a:ext uri="{FF2B5EF4-FFF2-40B4-BE49-F238E27FC236}">
                <a16:creationId xmlns:a16="http://schemas.microsoft.com/office/drawing/2014/main" id="{51BD1B35-A18B-68D7-E07B-1A1A9AD2E859}"/>
              </a:ext>
            </a:extLst>
          </p:cNvPr>
          <p:cNvGrpSpPr/>
          <p:nvPr/>
        </p:nvGrpSpPr>
        <p:grpSpPr>
          <a:xfrm>
            <a:off x="4118571" y="5077693"/>
            <a:ext cx="4431570" cy="922336"/>
            <a:chOff x="1395616" y="871285"/>
            <a:chExt cx="4290329" cy="1064137"/>
          </a:xfrm>
        </p:grpSpPr>
        <p:sp>
          <p:nvSpPr>
            <p:cNvPr id="15" name="TextBox 14">
              <a:extLst>
                <a:ext uri="{FF2B5EF4-FFF2-40B4-BE49-F238E27FC236}">
                  <a16:creationId xmlns:a16="http://schemas.microsoft.com/office/drawing/2014/main" id="{2BEC2032-A77D-A0B0-E149-A23467DC1CAA}"/>
                </a:ext>
              </a:extLst>
            </p:cNvPr>
            <p:cNvSpPr txBox="1"/>
            <p:nvPr/>
          </p:nvSpPr>
          <p:spPr>
            <a:xfrm>
              <a:off x="2984420" y="1243560"/>
              <a:ext cx="2701525" cy="31958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Deploy App</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6" name="TextBox 15">
              <a:extLst>
                <a:ext uri="{FF2B5EF4-FFF2-40B4-BE49-F238E27FC236}">
                  <a16:creationId xmlns:a16="http://schemas.microsoft.com/office/drawing/2014/main" id="{C60195D9-2B81-A5CA-17AA-E418FAD1D320}"/>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Continuous Integration and Delivery (CI/CD)</a:t>
            </a:r>
          </a:p>
        </p:txBody>
      </p:sp>
      <p:sp>
        <p:nvSpPr>
          <p:cNvPr id="4" name="TextBox 3">
            <a:extLst>
              <a:ext uri="{FF2B5EF4-FFF2-40B4-BE49-F238E27FC236}">
                <a16:creationId xmlns:a16="http://schemas.microsoft.com/office/drawing/2014/main" id="{10127278-5988-7FC2-1C3A-90AA0B5C8EDA}"/>
              </a:ext>
            </a:extLst>
          </p:cNvPr>
          <p:cNvSpPr txBox="1"/>
          <p:nvPr/>
        </p:nvSpPr>
        <p:spPr>
          <a:xfrm>
            <a:off x="96441" y="909376"/>
            <a:ext cx="7941682" cy="4800064"/>
          </a:xfrm>
          <a:prstGeom prst="rect">
            <a:avLst/>
          </a:prstGeom>
          <a:noFill/>
        </p:spPr>
        <p:txBody>
          <a:bodyPr wrap="square">
            <a:spAutoFit/>
          </a:bodyPr>
          <a:lstStyle/>
          <a:p>
            <a:pPr marL="0" marR="0" lvl="0" indent="0" algn="l" defTabSz="1218621"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prstClr val="white"/>
                </a:solidFill>
                <a:effectLst/>
                <a:uLnTx/>
                <a:uFillTx/>
                <a:latin typeface="72" panose="020B0503030000000003" pitchFamily="34" charset="0"/>
                <a:ea typeface="+mn-ea"/>
                <a:cs typeface="+mn-cs"/>
              </a:rPr>
              <a:t>Configure and run predefined continuous integration and delivery (CI/CD) pipelines that automatically build, test, and deploy your code changes to speed up your development and delivery cycles.</a:t>
            </a:r>
          </a:p>
          <a:p>
            <a:pPr marL="0" marR="0" lvl="0" indent="0" algn="l" defTabSz="121862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prstClr val="white"/>
              </a:solidFill>
              <a:effectLst/>
              <a:uLnTx/>
              <a:uFillTx/>
              <a:latin typeface="72" panose="020B0503030000000003" pitchFamily="34" charset="0"/>
              <a:ea typeface="+mn-ea"/>
              <a:cs typeface="+mn-cs"/>
            </a:endParaRPr>
          </a:p>
          <a:p>
            <a:pPr marL="0" marR="0" lvl="0" indent="0" algn="l" defTabSz="1218621"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prstClr val="white"/>
                </a:solidFill>
                <a:effectLst/>
                <a:uLnTx/>
                <a:uFillTx/>
                <a:latin typeface="72" panose="020B0503030000000003" pitchFamily="34" charset="0"/>
                <a:ea typeface="+mn-ea"/>
                <a:cs typeface="+mn-cs"/>
              </a:rPr>
              <a:t>Continuous integration (CI)</a:t>
            </a:r>
            <a:r>
              <a:rPr kumimoji="0" lang="en-US" sz="1799" b="0" i="0" u="none" strike="noStrike" kern="1200" cap="none" spc="0" normalizeH="0" baseline="0" noProof="0" dirty="0">
                <a:ln>
                  <a:noFill/>
                </a:ln>
                <a:solidFill>
                  <a:prstClr val="white"/>
                </a:solidFill>
                <a:effectLst/>
                <a:uLnTx/>
                <a:uFillTx/>
                <a:latin typeface="72" panose="020B0503030000000003" pitchFamily="34" charset="0"/>
                <a:ea typeface="+mn-ea"/>
                <a:cs typeface="+mn-cs"/>
              </a:rPr>
              <a:t> describes a software development process, in which various team members integrate their contributions frequently into a single main line. Before each integration, the changes are verified through builds and automated testing. Thereby, you can detect errors as quickly as possible and prevent integration problems before completing the development.</a:t>
            </a:r>
          </a:p>
          <a:p>
            <a:pPr marL="0" marR="0" lvl="0" indent="0" algn="l" defTabSz="121862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prstClr val="white"/>
              </a:solidFill>
              <a:effectLst/>
              <a:uLnTx/>
              <a:uFillTx/>
              <a:latin typeface="72" panose="020B0503030000000003" pitchFamily="34" charset="0"/>
              <a:ea typeface="+mn-ea"/>
              <a:cs typeface="+mn-cs"/>
            </a:endParaRPr>
          </a:p>
          <a:p>
            <a:pPr marL="0" marR="0" lvl="0" indent="0" algn="l" defTabSz="1218621"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prstClr val="white"/>
                </a:solidFill>
                <a:effectLst/>
                <a:uLnTx/>
                <a:uFillTx/>
                <a:latin typeface="72" panose="020B0503030000000003" pitchFamily="34" charset="0"/>
                <a:ea typeface="+mn-ea"/>
                <a:cs typeface="+mn-cs"/>
              </a:rPr>
              <a:t>The </a:t>
            </a:r>
            <a:r>
              <a:rPr kumimoji="0" lang="en-US" sz="1799" b="1" i="0" u="none" strike="noStrike" kern="1200" cap="none" spc="0" normalizeH="0" baseline="0" noProof="0" dirty="0">
                <a:ln>
                  <a:noFill/>
                </a:ln>
                <a:solidFill>
                  <a:prstClr val="white"/>
                </a:solidFill>
                <a:effectLst/>
                <a:uLnTx/>
                <a:uFillTx/>
                <a:latin typeface="72" panose="020B0503030000000003" pitchFamily="34" charset="0"/>
                <a:ea typeface="+mn-ea"/>
                <a:cs typeface="+mn-cs"/>
              </a:rPr>
              <a:t>continuous delivery (CD)</a:t>
            </a:r>
            <a:r>
              <a:rPr kumimoji="0" lang="en-US" sz="1799" b="0" i="0" u="none" strike="noStrike" kern="1200" cap="none" spc="0" normalizeH="0" baseline="0" noProof="0" dirty="0">
                <a:ln>
                  <a:noFill/>
                </a:ln>
                <a:solidFill>
                  <a:prstClr val="white"/>
                </a:solidFill>
                <a:effectLst/>
                <a:uLnTx/>
                <a:uFillTx/>
                <a:latin typeface="72" panose="020B0503030000000003" pitchFamily="34" charset="0"/>
                <a:ea typeface="+mn-ea"/>
                <a:cs typeface="+mn-cs"/>
              </a:rPr>
              <a:t> concept expands on the one of continuous integration. It adds the aspect that any change that has successfully passed the tests is immediately ready to be deployed to production, both from a technical and a qualitative point of view.</a:t>
            </a:r>
          </a:p>
          <a:p>
            <a:pPr marL="0" marR="0" lvl="0" indent="0" algn="l" defTabSz="1218621" rtl="0" eaLnBrk="1" fontAlgn="auto" latinLnBrk="0" hangingPunct="1">
              <a:lnSpc>
                <a:spcPct val="100000"/>
              </a:lnSpc>
              <a:spcBef>
                <a:spcPts val="0"/>
              </a:spcBef>
              <a:spcAft>
                <a:spcPts val="0"/>
              </a:spcAft>
              <a:buClrTx/>
              <a:buSzTx/>
              <a:buFontTx/>
              <a:buNone/>
              <a:tabLst/>
              <a:defRPr/>
            </a:pPr>
            <a:br>
              <a:rPr kumimoji="0" lang="en-US" sz="1799" b="0" i="0" u="none" strike="noStrike" kern="1200" cap="none" spc="0" normalizeH="0" baseline="0" noProof="0" dirty="0">
                <a:ln>
                  <a:noFill/>
                </a:ln>
                <a:solidFill>
                  <a:prstClr val="white"/>
                </a:solidFill>
                <a:effectLst/>
                <a:uLnTx/>
                <a:uFillTx/>
                <a:latin typeface="72" panose="020B0503030000000003" pitchFamily="34" charset="0"/>
                <a:ea typeface="+mn-ea"/>
                <a:cs typeface="+mn-cs"/>
              </a:rPr>
            </a:br>
            <a:endParaRPr kumimoji="0" lang="en-US" sz="1799" b="0" i="0" u="none" strike="noStrike" kern="1200" cap="none" spc="0" normalizeH="0" baseline="0" noProof="0" dirty="0">
              <a:ln>
                <a:noFill/>
              </a:ln>
              <a:solidFill>
                <a:prstClr val="white"/>
              </a:solidFill>
              <a:effectLst/>
              <a:uLnTx/>
              <a:uFillTx/>
              <a:latin typeface="Segoe UI"/>
              <a:ea typeface="+mn-ea"/>
              <a:cs typeface="+mn-cs"/>
            </a:endParaRPr>
          </a:p>
        </p:txBody>
      </p:sp>
      <p:pic>
        <p:nvPicPr>
          <p:cNvPr id="1026" name="Picture 2">
            <a:extLst>
              <a:ext uri="{FF2B5EF4-FFF2-40B4-BE49-F238E27FC236}">
                <a16:creationId xmlns:a16="http://schemas.microsoft.com/office/drawing/2014/main" id="{1432B8B0-C4F3-D10A-CAA9-08ECBBAE0C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4089" y="1466621"/>
            <a:ext cx="3454892" cy="3924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6070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1000"/>
                                        <p:tgtEl>
                                          <p:spTgt spid="4">
                                            <p:txEl>
                                              <p:pRg st="4" end="4"/>
                                            </p:txEl>
                                          </p:spTgt>
                                        </p:tgtEl>
                                      </p:cBhvr>
                                    </p:animEffect>
                                    <p:anim calcmode="lin" valueType="num">
                                      <p:cBhvr>
                                        <p:cTn id="2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Hands on: Continuous Integration</a:t>
            </a:r>
          </a:p>
        </p:txBody>
      </p:sp>
      <p:pic>
        <p:nvPicPr>
          <p:cNvPr id="3076" name="Picture 4" descr="What is CI/CD?">
            <a:extLst>
              <a:ext uri="{FF2B5EF4-FFF2-40B4-BE49-F238E27FC236}">
                <a16:creationId xmlns:a16="http://schemas.microsoft.com/office/drawing/2014/main" id="{B6624A5E-659B-6300-D3F6-A8B2C02FC8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9143" y="1485290"/>
            <a:ext cx="9486881" cy="4540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8164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BTP Cloud Transport Management</a:t>
            </a:r>
          </a:p>
        </p:txBody>
      </p:sp>
      <p:sp>
        <p:nvSpPr>
          <p:cNvPr id="4" name="TextBox 3">
            <a:extLst>
              <a:ext uri="{FF2B5EF4-FFF2-40B4-BE49-F238E27FC236}">
                <a16:creationId xmlns:a16="http://schemas.microsoft.com/office/drawing/2014/main" id="{0FB489AD-CEEC-BC34-2ACB-E705A5DF5CF8}"/>
              </a:ext>
            </a:extLst>
          </p:cNvPr>
          <p:cNvSpPr txBox="1"/>
          <p:nvPr/>
        </p:nvSpPr>
        <p:spPr>
          <a:xfrm>
            <a:off x="160869" y="909378"/>
            <a:ext cx="11734248" cy="2584650"/>
          </a:xfrm>
          <a:prstGeom prst="rect">
            <a:avLst/>
          </a:prstGeom>
          <a:noFill/>
        </p:spPr>
        <p:txBody>
          <a:bodyPr wrap="square">
            <a:spAutoFit/>
          </a:bodyPr>
          <a:lstStyle/>
          <a:p>
            <a:pPr marL="0" marR="0" lvl="0" indent="0" algn="l" defTabSz="1218621"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prstClr val="white"/>
                </a:solidFill>
                <a:effectLst/>
                <a:uLnTx/>
                <a:uFillTx/>
                <a:latin typeface="72" panose="020B0503030000000003" pitchFamily="34" charset="0"/>
                <a:ea typeface="+mn-ea"/>
                <a:cs typeface="+mn-cs"/>
              </a:rPr>
              <a:t>SAP Cloud Transport Management service lets you manage software deliverables between accounts of different environments (such as Neo and Cloud Foundry), by transporting them across various runtimes. This includes application artifacts as well as their respective application-specific content.</a:t>
            </a:r>
          </a:p>
          <a:p>
            <a:pPr marL="0" marR="0" lvl="0" indent="0" algn="l" defTabSz="121862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prstClr val="white"/>
              </a:solidFill>
              <a:effectLst/>
              <a:uLnTx/>
              <a:uFillTx/>
              <a:latin typeface="72" panose="020B0503030000000003" pitchFamily="34" charset="0"/>
              <a:ea typeface="+mn-ea"/>
              <a:cs typeface="+mn-cs"/>
            </a:endParaRPr>
          </a:p>
          <a:p>
            <a:pPr marL="0" marR="0" lvl="0" indent="0" algn="l" defTabSz="1218621"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prstClr val="white"/>
                </a:solidFill>
                <a:effectLst/>
                <a:uLnTx/>
                <a:uFillTx/>
                <a:latin typeface="72" panose="020B0503030000000003" pitchFamily="34" charset="0"/>
                <a:ea typeface="+mn-ea"/>
                <a:cs typeface="+mn-cs"/>
              </a:rPr>
              <a:t>SAP Cloud Transport Management service adds transparency to the audit trail of changes so that you get information about who performed which changes in your production environment, and when they did it. At the same time, the service enables a separation of concerns: For example, a developer of an application or of SAP Cloud content artifacts can trigger the transport of changes in a development subaccount, while the resulting import into the test, and production subaccount is handled by a central operations team.</a:t>
            </a:r>
          </a:p>
        </p:txBody>
      </p:sp>
      <p:pic>
        <p:nvPicPr>
          <p:cNvPr id="2050" name="Picture 2">
            <a:extLst>
              <a:ext uri="{FF2B5EF4-FFF2-40B4-BE49-F238E27FC236}">
                <a16:creationId xmlns:a16="http://schemas.microsoft.com/office/drawing/2014/main" id="{8BE2A52D-ABCC-621B-75E1-4E49BDC937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4842" y="3760957"/>
            <a:ext cx="5385393" cy="2756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7393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Hands on SAP BTP Cloud Transport</a:t>
            </a:r>
          </a:p>
        </p:txBody>
      </p:sp>
      <p:pic>
        <p:nvPicPr>
          <p:cNvPr id="4098" name="Picture 2" descr="Moving Freight into the Future: Cloud-Based TMS Systems">
            <a:extLst>
              <a:ext uri="{FF2B5EF4-FFF2-40B4-BE49-F238E27FC236}">
                <a16:creationId xmlns:a16="http://schemas.microsoft.com/office/drawing/2014/main" id="{C4B91D97-475C-72AE-FC63-629B325B95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8822" y="1125344"/>
            <a:ext cx="5233890" cy="522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8492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93ADFAEA-950D-F3C3-376B-4E61C87B4933}"/>
              </a:ext>
            </a:extLst>
          </p:cNvPr>
          <p:cNvSpPr/>
          <p:nvPr/>
        </p:nvSpPr>
        <p:spPr>
          <a:xfrm>
            <a:off x="405780" y="3933056"/>
            <a:ext cx="3096344" cy="1728192"/>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white"/>
                </a:solidFill>
                <a:effectLst/>
                <a:uLnTx/>
                <a:uFillTx/>
                <a:latin typeface="Segoe UI"/>
                <a:ea typeface="+mn-ea"/>
                <a:cs typeface="+mn-cs"/>
              </a:rPr>
              <a:t>Cloud Transport Management</a:t>
            </a:r>
          </a:p>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white"/>
              </a:solidFill>
              <a:effectLst/>
              <a:uLnTx/>
              <a:uFillTx/>
              <a:latin typeface="Segoe UI"/>
              <a:ea typeface="+mn-ea"/>
              <a:cs typeface="+mn-cs"/>
            </a:endParaRPr>
          </a:p>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white"/>
              </a:solidFill>
              <a:effectLst/>
              <a:uLnTx/>
              <a:uFillTx/>
              <a:latin typeface="Segoe UI"/>
              <a:ea typeface="+mn-ea"/>
              <a:cs typeface="+mn-cs"/>
            </a:endParaRPr>
          </a:p>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13B469A4-C44A-E50D-C6AE-C5A543EB776F}"/>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0F445F9D-1412-CED0-DA4C-38E85D5FC1EA}"/>
              </a:ext>
            </a:extLst>
          </p:cNvPr>
          <p:cNvPicPr>
            <a:picLocks noChangeAspect="1"/>
          </p:cNvPicPr>
          <p:nvPr/>
        </p:nvPicPr>
        <p:blipFill>
          <a:blip r:embed="rId2"/>
          <a:stretch>
            <a:fillRect/>
          </a:stretch>
        </p:blipFill>
        <p:spPr>
          <a:xfrm>
            <a:off x="1197868" y="4797152"/>
            <a:ext cx="1567458" cy="661413"/>
          </a:xfrm>
          <a:prstGeom prst="rect">
            <a:avLst/>
          </a:prstGeom>
        </p:spPr>
      </p:pic>
      <p:sp>
        <p:nvSpPr>
          <p:cNvPr id="5" name="Rectangle 4">
            <a:extLst>
              <a:ext uri="{FF2B5EF4-FFF2-40B4-BE49-F238E27FC236}">
                <a16:creationId xmlns:a16="http://schemas.microsoft.com/office/drawing/2014/main" id="{07E3D0FF-E4A8-93FB-DA5A-D681A959EE87}"/>
              </a:ext>
            </a:extLst>
          </p:cNvPr>
          <p:cNvSpPr/>
          <p:nvPr/>
        </p:nvSpPr>
        <p:spPr>
          <a:xfrm>
            <a:off x="405780" y="5661248"/>
            <a:ext cx="11449272" cy="66141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Segoe UI"/>
                <a:ea typeface="+mn-ea"/>
                <a:cs typeface="+mn-cs"/>
              </a:rPr>
              <a:t>BTP Sub-account</a:t>
            </a:r>
          </a:p>
        </p:txBody>
      </p:sp>
      <p:sp>
        <p:nvSpPr>
          <p:cNvPr id="7" name="Flowchart: Preparation 6">
            <a:extLst>
              <a:ext uri="{FF2B5EF4-FFF2-40B4-BE49-F238E27FC236}">
                <a16:creationId xmlns:a16="http://schemas.microsoft.com/office/drawing/2014/main" id="{128641EC-0BDB-C498-5F06-A19B87B31806}"/>
              </a:ext>
            </a:extLst>
          </p:cNvPr>
          <p:cNvSpPr/>
          <p:nvPr/>
        </p:nvSpPr>
        <p:spPr>
          <a:xfrm>
            <a:off x="657808" y="2794269"/>
            <a:ext cx="2592288" cy="792088"/>
          </a:xfrm>
          <a:prstGeom prst="flowChartPreparation">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err="1">
                <a:ln>
                  <a:noFill/>
                </a:ln>
                <a:solidFill>
                  <a:prstClr val="white"/>
                </a:solidFill>
                <a:effectLst/>
                <a:uLnTx/>
                <a:uFillTx/>
                <a:latin typeface="Segoe UI"/>
                <a:ea typeface="+mn-ea"/>
                <a:cs typeface="+mn-cs"/>
              </a:rPr>
              <a:t>Ctms-ms</a:t>
            </a:r>
            <a:endParaRPr kumimoji="0" lang="en-IN" sz="2400" b="0" i="0" u="none" strike="noStrike" kern="1200" cap="none" spc="0" normalizeH="0" baseline="0" noProof="0" dirty="0">
              <a:ln>
                <a:noFill/>
              </a:ln>
              <a:solidFill>
                <a:prstClr val="white"/>
              </a:solidFill>
              <a:effectLst/>
              <a:uLnTx/>
              <a:uFillTx/>
              <a:latin typeface="Segoe UI"/>
              <a:ea typeface="+mn-ea"/>
              <a:cs typeface="+mn-cs"/>
            </a:endParaRPr>
          </a:p>
        </p:txBody>
      </p:sp>
      <p:cxnSp>
        <p:nvCxnSpPr>
          <p:cNvPr id="9" name="Straight Arrow Connector 8">
            <a:extLst>
              <a:ext uri="{FF2B5EF4-FFF2-40B4-BE49-F238E27FC236}">
                <a16:creationId xmlns:a16="http://schemas.microsoft.com/office/drawing/2014/main" id="{CE9C742D-DE0F-685F-4F56-2C74F9AC56B6}"/>
              </a:ext>
            </a:extLst>
          </p:cNvPr>
          <p:cNvCxnSpPr>
            <a:stCxn id="7" idx="2"/>
            <a:endCxn id="6" idx="0"/>
          </p:cNvCxnSpPr>
          <p:nvPr/>
        </p:nvCxnSpPr>
        <p:spPr>
          <a:xfrm>
            <a:off x="1953952" y="3586357"/>
            <a:ext cx="0" cy="346699"/>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 name="Oval 9">
            <a:extLst>
              <a:ext uri="{FF2B5EF4-FFF2-40B4-BE49-F238E27FC236}">
                <a16:creationId xmlns:a16="http://schemas.microsoft.com/office/drawing/2014/main" id="{F502ACBA-43D7-DDF9-932D-1BB43155BA22}"/>
              </a:ext>
            </a:extLst>
          </p:cNvPr>
          <p:cNvSpPr/>
          <p:nvPr/>
        </p:nvSpPr>
        <p:spPr>
          <a:xfrm>
            <a:off x="3142084" y="3861048"/>
            <a:ext cx="576062" cy="5040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Segoe UI"/>
                <a:ea typeface="+mn-ea"/>
                <a:cs typeface="+mn-cs"/>
              </a:rPr>
              <a:t>1</a:t>
            </a:r>
          </a:p>
        </p:txBody>
      </p:sp>
      <p:sp>
        <p:nvSpPr>
          <p:cNvPr id="11" name="Oval 10">
            <a:extLst>
              <a:ext uri="{FF2B5EF4-FFF2-40B4-BE49-F238E27FC236}">
                <a16:creationId xmlns:a16="http://schemas.microsoft.com/office/drawing/2014/main" id="{6E9650CB-F0D5-0C8C-911D-C6BF3B925FC0}"/>
              </a:ext>
            </a:extLst>
          </p:cNvPr>
          <p:cNvSpPr/>
          <p:nvPr/>
        </p:nvSpPr>
        <p:spPr>
          <a:xfrm>
            <a:off x="2764918" y="2591586"/>
            <a:ext cx="576062" cy="5040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Segoe UI"/>
                <a:ea typeface="+mn-ea"/>
                <a:cs typeface="+mn-cs"/>
              </a:rPr>
              <a:t>3</a:t>
            </a:r>
          </a:p>
        </p:txBody>
      </p:sp>
      <p:sp>
        <p:nvSpPr>
          <p:cNvPr id="12" name="Oval 11">
            <a:extLst>
              <a:ext uri="{FF2B5EF4-FFF2-40B4-BE49-F238E27FC236}">
                <a16:creationId xmlns:a16="http://schemas.microsoft.com/office/drawing/2014/main" id="{F612775C-7800-135A-2191-501B4DB5425E}"/>
              </a:ext>
            </a:extLst>
          </p:cNvPr>
          <p:cNvSpPr/>
          <p:nvPr/>
        </p:nvSpPr>
        <p:spPr>
          <a:xfrm>
            <a:off x="2097972" y="2506237"/>
            <a:ext cx="576062" cy="504056"/>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Segoe UI"/>
                <a:ea typeface="+mn-ea"/>
                <a:cs typeface="+mn-cs"/>
              </a:rPr>
              <a:t>2</a:t>
            </a:r>
          </a:p>
        </p:txBody>
      </p:sp>
      <p:sp>
        <p:nvSpPr>
          <p:cNvPr id="13" name="Rectangle: Rounded Corners 12">
            <a:extLst>
              <a:ext uri="{FF2B5EF4-FFF2-40B4-BE49-F238E27FC236}">
                <a16:creationId xmlns:a16="http://schemas.microsoft.com/office/drawing/2014/main" id="{516CF22D-0513-B4B1-9F4C-B652060923BC}"/>
              </a:ext>
            </a:extLst>
          </p:cNvPr>
          <p:cNvSpPr/>
          <p:nvPr/>
        </p:nvSpPr>
        <p:spPr>
          <a:xfrm>
            <a:off x="8830715" y="1671474"/>
            <a:ext cx="3096344" cy="3456384"/>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white"/>
                </a:solidFill>
                <a:effectLst/>
                <a:uLnTx/>
                <a:uFillTx/>
                <a:latin typeface="Segoe UI"/>
                <a:ea typeface="+mn-ea"/>
                <a:cs typeface="+mn-cs"/>
              </a:rPr>
              <a:t>CI/CD Service</a:t>
            </a:r>
          </a:p>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white"/>
              </a:solidFill>
              <a:effectLst/>
              <a:uLnTx/>
              <a:uFillTx/>
              <a:latin typeface="Segoe UI"/>
              <a:ea typeface="+mn-ea"/>
              <a:cs typeface="+mn-cs"/>
            </a:endParaRPr>
          </a:p>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white"/>
              </a:solidFill>
              <a:effectLst/>
              <a:uLnTx/>
              <a:uFillTx/>
              <a:latin typeface="Segoe UI"/>
              <a:ea typeface="+mn-ea"/>
              <a:cs typeface="+mn-cs"/>
            </a:endParaRPr>
          </a:p>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white"/>
              </a:solidFill>
              <a:effectLst/>
              <a:uLnTx/>
              <a:uFillTx/>
              <a:latin typeface="Segoe UI"/>
              <a:ea typeface="+mn-ea"/>
              <a:cs typeface="+mn-cs"/>
            </a:endParaRPr>
          </a:p>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white"/>
              </a:solidFill>
              <a:effectLst/>
              <a:uLnTx/>
              <a:uFillTx/>
              <a:latin typeface="Segoe UI"/>
              <a:ea typeface="+mn-ea"/>
              <a:cs typeface="+mn-cs"/>
            </a:endParaRPr>
          </a:p>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white"/>
              </a:solidFill>
              <a:effectLst/>
              <a:uLnTx/>
              <a:uFillTx/>
              <a:latin typeface="Segoe UI"/>
              <a:ea typeface="+mn-ea"/>
              <a:cs typeface="+mn-cs"/>
            </a:endParaRPr>
          </a:p>
        </p:txBody>
      </p:sp>
      <p:graphicFrame>
        <p:nvGraphicFramePr>
          <p:cNvPr id="14" name="Diagram 13">
            <a:extLst>
              <a:ext uri="{FF2B5EF4-FFF2-40B4-BE49-F238E27FC236}">
                <a16:creationId xmlns:a16="http://schemas.microsoft.com/office/drawing/2014/main" id="{8005A4A1-F745-43A4-DD06-87BC4644C2FA}"/>
              </a:ext>
            </a:extLst>
          </p:cNvPr>
          <p:cNvGraphicFramePr/>
          <p:nvPr/>
        </p:nvGraphicFramePr>
        <p:xfrm>
          <a:off x="8275408" y="2938782"/>
          <a:ext cx="4206957" cy="19885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Rectangle 14">
            <a:extLst>
              <a:ext uri="{FF2B5EF4-FFF2-40B4-BE49-F238E27FC236}">
                <a16:creationId xmlns:a16="http://schemas.microsoft.com/office/drawing/2014/main" id="{8E241B43-37F9-AA48-E8B9-2BFEC8EB3603}"/>
              </a:ext>
            </a:extLst>
          </p:cNvPr>
          <p:cNvSpPr/>
          <p:nvPr/>
        </p:nvSpPr>
        <p:spPr>
          <a:xfrm>
            <a:off x="3250096" y="5805264"/>
            <a:ext cx="1404156" cy="3665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Segoe UI"/>
                <a:ea typeface="+mn-ea"/>
                <a:cs typeface="+mn-cs"/>
              </a:rPr>
              <a:t>dev</a:t>
            </a:r>
          </a:p>
        </p:txBody>
      </p:sp>
      <p:cxnSp>
        <p:nvCxnSpPr>
          <p:cNvPr id="17" name="Straight Arrow Connector 16">
            <a:extLst>
              <a:ext uri="{FF2B5EF4-FFF2-40B4-BE49-F238E27FC236}">
                <a16:creationId xmlns:a16="http://schemas.microsoft.com/office/drawing/2014/main" id="{0DCECED0-3963-39B4-D141-1E56907CEDE3}"/>
              </a:ext>
            </a:extLst>
          </p:cNvPr>
          <p:cNvCxnSpPr/>
          <p:nvPr/>
        </p:nvCxnSpPr>
        <p:spPr>
          <a:xfrm flipH="1">
            <a:off x="4510236" y="4221088"/>
            <a:ext cx="5472608" cy="1584176"/>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8" name="Rectangle 17">
            <a:extLst>
              <a:ext uri="{FF2B5EF4-FFF2-40B4-BE49-F238E27FC236}">
                <a16:creationId xmlns:a16="http://schemas.microsoft.com/office/drawing/2014/main" id="{6B93702D-1BEE-A354-F908-D268A3CB92C3}"/>
              </a:ext>
            </a:extLst>
          </p:cNvPr>
          <p:cNvSpPr/>
          <p:nvPr/>
        </p:nvSpPr>
        <p:spPr>
          <a:xfrm>
            <a:off x="6886500" y="4725144"/>
            <a:ext cx="1080120" cy="4027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err="1">
                <a:ln>
                  <a:noFill/>
                </a:ln>
                <a:solidFill>
                  <a:prstClr val="white"/>
                </a:solidFill>
                <a:effectLst>
                  <a:outerShdw blurRad="38100" dist="38100" dir="2700000" algn="tl">
                    <a:srgbClr val="000000">
                      <a:alpha val="43137"/>
                    </a:srgbClr>
                  </a:outerShdw>
                </a:effectLst>
                <a:uLnTx/>
                <a:uFillTx/>
                <a:latin typeface="Segoe UI"/>
                <a:ea typeface="+mn-ea"/>
                <a:cs typeface="+mn-cs"/>
              </a:rPr>
              <a:t>Btp</a:t>
            </a:r>
            <a:r>
              <a:rPr kumimoji="0" lang="en-IN" sz="1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Segoe UI"/>
                <a:ea typeface="+mn-ea"/>
                <a:cs typeface="+mn-cs"/>
              </a:rPr>
              <a:t>-cred</a:t>
            </a:r>
          </a:p>
        </p:txBody>
      </p:sp>
      <p:cxnSp>
        <p:nvCxnSpPr>
          <p:cNvPr id="19" name="Straight Arrow Connector 18">
            <a:extLst>
              <a:ext uri="{FF2B5EF4-FFF2-40B4-BE49-F238E27FC236}">
                <a16:creationId xmlns:a16="http://schemas.microsoft.com/office/drawing/2014/main" id="{38193B5E-DF3A-6B49-A63C-22A61CE98BAF}"/>
              </a:ext>
            </a:extLst>
          </p:cNvPr>
          <p:cNvCxnSpPr>
            <a:cxnSpLocks/>
            <a:endCxn id="7" idx="3"/>
          </p:cNvCxnSpPr>
          <p:nvPr/>
        </p:nvCxnSpPr>
        <p:spPr>
          <a:xfrm flipH="1" flipV="1">
            <a:off x="3250096" y="3190313"/>
            <a:ext cx="6732748" cy="1549676"/>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Smiley Face 21">
            <a:extLst>
              <a:ext uri="{FF2B5EF4-FFF2-40B4-BE49-F238E27FC236}">
                <a16:creationId xmlns:a16="http://schemas.microsoft.com/office/drawing/2014/main" id="{E575D521-93D0-F6AE-31ED-BF582A2A04D8}"/>
              </a:ext>
            </a:extLst>
          </p:cNvPr>
          <p:cNvSpPr/>
          <p:nvPr/>
        </p:nvSpPr>
        <p:spPr>
          <a:xfrm>
            <a:off x="2566020" y="980728"/>
            <a:ext cx="684076" cy="538115"/>
          </a:xfrm>
          <a:prstGeom prst="smileyFac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23" name="Smiley Face 22">
            <a:extLst>
              <a:ext uri="{FF2B5EF4-FFF2-40B4-BE49-F238E27FC236}">
                <a16:creationId xmlns:a16="http://schemas.microsoft.com/office/drawing/2014/main" id="{8D7E843A-204D-9173-6D20-3DA3FB657BAC}"/>
              </a:ext>
            </a:extLst>
          </p:cNvPr>
          <p:cNvSpPr/>
          <p:nvPr/>
        </p:nvSpPr>
        <p:spPr>
          <a:xfrm>
            <a:off x="2843673" y="1212178"/>
            <a:ext cx="684076" cy="538115"/>
          </a:xfrm>
          <a:prstGeom prst="smileyFac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24" name="Smiley Face 23">
            <a:extLst>
              <a:ext uri="{FF2B5EF4-FFF2-40B4-BE49-F238E27FC236}">
                <a16:creationId xmlns:a16="http://schemas.microsoft.com/office/drawing/2014/main" id="{29E51592-7655-154D-0662-0FAE14F6F017}"/>
              </a:ext>
            </a:extLst>
          </p:cNvPr>
          <p:cNvSpPr/>
          <p:nvPr/>
        </p:nvSpPr>
        <p:spPr>
          <a:xfrm>
            <a:off x="2251129" y="1199202"/>
            <a:ext cx="684076" cy="538115"/>
          </a:xfrm>
          <a:prstGeom prst="smileyFac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25" name="Rectangle 24">
            <a:extLst>
              <a:ext uri="{FF2B5EF4-FFF2-40B4-BE49-F238E27FC236}">
                <a16:creationId xmlns:a16="http://schemas.microsoft.com/office/drawing/2014/main" id="{483419BC-AA1F-464B-5A47-0D308D48865C}"/>
              </a:ext>
            </a:extLst>
          </p:cNvPr>
          <p:cNvSpPr/>
          <p:nvPr/>
        </p:nvSpPr>
        <p:spPr>
          <a:xfrm>
            <a:off x="5518348" y="908720"/>
            <a:ext cx="2448272" cy="100811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err="1">
                <a:ln>
                  <a:noFill/>
                </a:ln>
                <a:solidFill>
                  <a:prstClr val="white"/>
                </a:solidFill>
                <a:effectLst/>
                <a:uLnTx/>
                <a:uFillTx/>
                <a:latin typeface="Segoe UI"/>
                <a:ea typeface="+mn-ea"/>
                <a:cs typeface="+mn-cs"/>
              </a:rPr>
              <a:t>GitHUB</a:t>
            </a:r>
            <a:endParaRPr kumimoji="0" lang="en-IN" sz="2400" b="0" i="0" u="none" strike="noStrike" kern="1200" cap="none" spc="0" normalizeH="0" baseline="0" noProof="0" dirty="0">
              <a:ln>
                <a:noFill/>
              </a:ln>
              <a:solidFill>
                <a:prstClr val="white"/>
              </a:solidFill>
              <a:effectLst/>
              <a:uLnTx/>
              <a:uFillTx/>
              <a:latin typeface="Segoe UI"/>
              <a:ea typeface="+mn-ea"/>
              <a:cs typeface="+mn-cs"/>
            </a:endParaRPr>
          </a:p>
        </p:txBody>
      </p:sp>
      <p:cxnSp>
        <p:nvCxnSpPr>
          <p:cNvPr id="27" name="Straight Arrow Connector 26">
            <a:extLst>
              <a:ext uri="{FF2B5EF4-FFF2-40B4-BE49-F238E27FC236}">
                <a16:creationId xmlns:a16="http://schemas.microsoft.com/office/drawing/2014/main" id="{8E17D5B9-1213-A927-44A7-180C656D1778}"/>
              </a:ext>
            </a:extLst>
          </p:cNvPr>
          <p:cNvCxnSpPr>
            <a:stCxn id="23" idx="6"/>
            <a:endCxn id="25" idx="1"/>
          </p:cNvCxnSpPr>
          <p:nvPr/>
        </p:nvCxnSpPr>
        <p:spPr>
          <a:xfrm flipV="1">
            <a:off x="3527749" y="1412776"/>
            <a:ext cx="1990599" cy="6846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28" name="Arrow: Pentagon 27">
            <a:extLst>
              <a:ext uri="{FF2B5EF4-FFF2-40B4-BE49-F238E27FC236}">
                <a16:creationId xmlns:a16="http://schemas.microsoft.com/office/drawing/2014/main" id="{1C4738FE-C0DC-1C7C-E585-5B8B3C8D91E5}"/>
              </a:ext>
            </a:extLst>
          </p:cNvPr>
          <p:cNvSpPr/>
          <p:nvPr/>
        </p:nvSpPr>
        <p:spPr>
          <a:xfrm>
            <a:off x="7246540" y="907499"/>
            <a:ext cx="1728192" cy="505277"/>
          </a:xfrm>
          <a:prstGeom prst="homePlat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Segoe UI"/>
                <a:ea typeface="+mn-ea"/>
                <a:cs typeface="+mn-cs"/>
              </a:rPr>
              <a:t>webhook</a:t>
            </a:r>
          </a:p>
        </p:txBody>
      </p:sp>
      <p:cxnSp>
        <p:nvCxnSpPr>
          <p:cNvPr id="30" name="Connector: Elbow 29">
            <a:extLst>
              <a:ext uri="{FF2B5EF4-FFF2-40B4-BE49-F238E27FC236}">
                <a16:creationId xmlns:a16="http://schemas.microsoft.com/office/drawing/2014/main" id="{1D8D3AD0-387F-87A5-0705-83938C7A33E6}"/>
              </a:ext>
            </a:extLst>
          </p:cNvPr>
          <p:cNvCxnSpPr>
            <a:stCxn id="28" idx="3"/>
            <a:endCxn id="13" idx="0"/>
          </p:cNvCxnSpPr>
          <p:nvPr/>
        </p:nvCxnSpPr>
        <p:spPr>
          <a:xfrm>
            <a:off x="8974732" y="1160138"/>
            <a:ext cx="1404155" cy="511336"/>
          </a:xfrm>
          <a:prstGeom prst="bentConnector2">
            <a:avLst/>
          </a:prstGeom>
          <a:ln>
            <a:headEnd type="triangle"/>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9311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9A4-C44A-E50D-C6AE-C5A543EB776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020643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9A4-C44A-E50D-C6AE-C5A543EB776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933873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9A4-C44A-E50D-C6AE-C5A543EB776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942786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9A4-C44A-E50D-C6AE-C5A543EB776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258185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6</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7913</TotalTime>
  <Words>464</Words>
  <Application>Microsoft Office PowerPoint</Application>
  <PresentationFormat>Custom</PresentationFormat>
  <Paragraphs>67</Paragraphs>
  <Slides>15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72</vt:lpstr>
      <vt:lpstr>Amasis MT Pro Black</vt:lpstr>
      <vt:lpstr>Arial</vt:lpstr>
      <vt:lpstr>Arial Black</vt:lpstr>
      <vt:lpstr>Calibri</vt:lpstr>
      <vt:lpstr>Cooper Black</vt:lpstr>
      <vt:lpstr>Segoe UI</vt:lpstr>
      <vt:lpstr>Segoe UI Light</vt:lpstr>
      <vt:lpstr>Office Theme</vt:lpstr>
      <vt:lpstr>SAP BTP Extension Suite Training</vt:lpstr>
      <vt:lpstr>PowerPoint Presentation</vt:lpstr>
      <vt:lpstr>Agenda – Day 14</vt:lpstr>
      <vt:lpstr>Continuous Integration and Delivery (CI/CD)</vt:lpstr>
      <vt:lpstr>Hands on: Continuous Integration</vt:lpstr>
      <vt:lpstr>BTP Cloud Transport Management</vt:lpstr>
      <vt:lpstr>Hands on SAP BTP Cloud Transport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287</cp:revision>
  <dcterms:created xsi:type="dcterms:W3CDTF">2013-09-12T13:05:01Z</dcterms:created>
  <dcterms:modified xsi:type="dcterms:W3CDTF">2026-07-27T02:52:46Z</dcterms:modified>
</cp:coreProperties>
</file>